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9"/>
  </p:notesMasterIdLst>
  <p:sldIdLst>
    <p:sldId id="256" r:id="rId3"/>
    <p:sldId id="257" r:id="rId4"/>
    <p:sldId id="259" r:id="rId5"/>
    <p:sldId id="260" r:id="rId6"/>
    <p:sldId id="258" r:id="rId7"/>
    <p:sldId id="261" r:id="rId8"/>
    <p:sldId id="301" r:id="rId9"/>
    <p:sldId id="304" r:id="rId10"/>
    <p:sldId id="319" r:id="rId11"/>
    <p:sldId id="303" r:id="rId12"/>
    <p:sldId id="305" r:id="rId13"/>
    <p:sldId id="302" r:id="rId14"/>
    <p:sldId id="291" r:id="rId15"/>
    <p:sldId id="292" r:id="rId16"/>
    <p:sldId id="293" r:id="rId17"/>
    <p:sldId id="295" r:id="rId18"/>
    <p:sldId id="296" r:id="rId19"/>
    <p:sldId id="297" r:id="rId20"/>
    <p:sldId id="298" r:id="rId21"/>
    <p:sldId id="299" r:id="rId22"/>
    <p:sldId id="300" r:id="rId23"/>
    <p:sldId id="320" r:id="rId24"/>
    <p:sldId id="294" r:id="rId25"/>
    <p:sldId id="321" r:id="rId26"/>
    <p:sldId id="322" r:id="rId27"/>
    <p:sldId id="323" r:id="rId28"/>
    <p:sldId id="324" r:id="rId29"/>
    <p:sldId id="325" r:id="rId30"/>
    <p:sldId id="326" r:id="rId31"/>
    <p:sldId id="327" r:id="rId32"/>
    <p:sldId id="328" r:id="rId33"/>
    <p:sldId id="329" r:id="rId34"/>
    <p:sldId id="330" r:id="rId35"/>
    <p:sldId id="331" r:id="rId36"/>
    <p:sldId id="306" r:id="rId37"/>
    <p:sldId id="332"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17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630B4A-556F-4D02-9D41-61F44F08B410}" type="datetimeFigureOut">
              <a:rPr lang="en-US" smtClean="0"/>
              <a:t>8/3/2026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685D6B-B68A-4006-B3DA-3AE77A8D8FDF}" type="slidenum">
              <a:rPr lang="en-US" smtClean="0"/>
              <a:t>‹#›</a:t>
            </a:fld>
            <a:endParaRPr lang="en-US"/>
          </a:p>
        </p:txBody>
      </p:sp>
    </p:spTree>
    <p:extLst>
      <p:ext uri="{BB962C8B-B14F-4D97-AF65-F5344CB8AC3E}">
        <p14:creationId xmlns:p14="http://schemas.microsoft.com/office/powerpoint/2010/main" val="1784676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0162623-E72D-40B6-9749-4D35CCC12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7.</a:t>
            </a:r>
            <a:fld id="{D54215CB-7709-4A62-8AFA-7043C663E5F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18435" name="Rectangle 2">
            <a:extLst>
              <a:ext uri="{FF2B5EF4-FFF2-40B4-BE49-F238E27FC236}">
                <a16:creationId xmlns:a16="http://schemas.microsoft.com/office/drawing/2014/main" id="{8CF3ABA7-F84B-4288-881B-38A01F85AB29}"/>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1568D68-5784-4E3E-9826-BC32A191D0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Section 8.1</a:t>
            </a:r>
          </a:p>
        </p:txBody>
      </p:sp>
    </p:spTree>
    <p:extLst>
      <p:ext uri="{BB962C8B-B14F-4D97-AF65-F5344CB8AC3E}">
        <p14:creationId xmlns:p14="http://schemas.microsoft.com/office/powerpoint/2010/main" val="1328099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0162623-E72D-40B6-9749-4D35CCC12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7.</a:t>
            </a:r>
            <a:fld id="{D54215CB-7709-4A62-8AFA-7043C663E5F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18435" name="Rectangle 2">
            <a:extLst>
              <a:ext uri="{FF2B5EF4-FFF2-40B4-BE49-F238E27FC236}">
                <a16:creationId xmlns:a16="http://schemas.microsoft.com/office/drawing/2014/main" id="{8CF3ABA7-F84B-4288-881B-38A01F85AB29}"/>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1568D68-5784-4E3E-9826-BC32A191D0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Section 8.1</a:t>
            </a:r>
          </a:p>
          <a:p>
            <a:pPr eaLnBrk="1" hangingPunct="1"/>
            <a:endParaRPr lang="en-US" altLang="en-US" dirty="0"/>
          </a:p>
          <a:p>
            <a:pPr eaLnBrk="1" hangingPunct="1"/>
            <a:r>
              <a:rPr lang="en-US" sz="1800" b="0" i="0" u="none" strike="noStrike" baseline="0" dirty="0">
                <a:solidFill>
                  <a:srgbClr val="221E1F"/>
                </a:solidFill>
                <a:latin typeface="STIX MathJax Main"/>
              </a:rPr>
              <a:t>$64 is the value you would assign to the stock today. </a:t>
            </a:r>
            <a:endParaRPr lang="en-US" altLang="en-US" dirty="0"/>
          </a:p>
        </p:txBody>
      </p:sp>
    </p:spTree>
    <p:extLst>
      <p:ext uri="{BB962C8B-B14F-4D97-AF65-F5344CB8AC3E}">
        <p14:creationId xmlns:p14="http://schemas.microsoft.com/office/powerpoint/2010/main" val="3108463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0162623-E72D-40B6-9749-4D35CCC12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7.</a:t>
            </a:r>
            <a:fld id="{D54215CB-7709-4A62-8AFA-7043C663E5F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18435" name="Rectangle 2">
            <a:extLst>
              <a:ext uri="{FF2B5EF4-FFF2-40B4-BE49-F238E27FC236}">
                <a16:creationId xmlns:a16="http://schemas.microsoft.com/office/drawing/2014/main" id="{8CF3ABA7-F84B-4288-881B-38A01F85AB29}"/>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1568D68-5784-4E3E-9826-BC32A191D0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1800" b="0" i="0" u="none" strike="noStrike" baseline="0" dirty="0">
                <a:solidFill>
                  <a:srgbClr val="221E1F"/>
                </a:solidFill>
                <a:latin typeface="STIX MathJax Main"/>
              </a:rPr>
              <a:t>We can push the problem of coming up with the stock price off into the future forever. Note that no matter what the stock price is, the present value is essentially zero if we push the sale of the stock far enough away. What we are eventually left with is the result that the current price of the stock can be written as the present value of the dividends beginning in one period and extending out forever.</a:t>
            </a:r>
            <a:endParaRPr lang="en-US" altLang="en-US" dirty="0"/>
          </a:p>
        </p:txBody>
      </p:sp>
    </p:spTree>
    <p:extLst>
      <p:ext uri="{BB962C8B-B14F-4D97-AF65-F5344CB8AC3E}">
        <p14:creationId xmlns:p14="http://schemas.microsoft.com/office/powerpoint/2010/main" val="2678584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0162623-E72D-40B6-9749-4D35CCC12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7.</a:t>
            </a:r>
            <a:fld id="{D54215CB-7709-4A62-8AFA-7043C663E5F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18435" name="Rectangle 2">
            <a:extLst>
              <a:ext uri="{FF2B5EF4-FFF2-40B4-BE49-F238E27FC236}">
                <a16:creationId xmlns:a16="http://schemas.microsoft.com/office/drawing/2014/main" id="{8CF3ABA7-F84B-4288-881B-38A01F85AB29}"/>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1568D68-5784-4E3E-9826-BC32A191D0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299094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0162623-E72D-40B6-9749-4D35CCC12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7.</a:t>
            </a:r>
            <a:fld id="{D54215CB-7709-4A62-8AFA-7043C663E5F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18435" name="Rectangle 2">
            <a:extLst>
              <a:ext uri="{FF2B5EF4-FFF2-40B4-BE49-F238E27FC236}">
                <a16:creationId xmlns:a16="http://schemas.microsoft.com/office/drawing/2014/main" id="{8CF3ABA7-F84B-4288-881B-38A01F85AB29}"/>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1568D68-5784-4E3E-9826-BC32A191D0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1800" b="0" i="0" u="none" strike="noStrike" baseline="0" dirty="0">
                <a:solidFill>
                  <a:srgbClr val="221E1F"/>
                </a:solidFill>
                <a:latin typeface="STIX MathJax Main"/>
              </a:rPr>
              <a:t>The assumption of steady dividend growth might strike you as peculiar. Why would the dividend grow at a constant rate? The reason is that, for many companies, steady growth in dividends is an explicit goal. </a:t>
            </a:r>
            <a:endParaRPr lang="en-US" altLang="en-US" dirty="0"/>
          </a:p>
        </p:txBody>
      </p:sp>
    </p:spTree>
    <p:extLst>
      <p:ext uri="{BB962C8B-B14F-4D97-AF65-F5344CB8AC3E}">
        <p14:creationId xmlns:p14="http://schemas.microsoft.com/office/powerpoint/2010/main" val="1103674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0162623-E72D-40B6-9749-4D35CCC12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7.</a:t>
            </a:r>
            <a:fld id="{D54215CB-7709-4A62-8AFA-7043C663E5F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18435" name="Rectangle 2">
            <a:extLst>
              <a:ext uri="{FF2B5EF4-FFF2-40B4-BE49-F238E27FC236}">
                <a16:creationId xmlns:a16="http://schemas.microsoft.com/office/drawing/2014/main" id="{8CF3ABA7-F84B-4288-881B-38A01F85AB29}"/>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1568D68-5784-4E3E-9826-BC32A191D0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582551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0162623-E72D-40B6-9749-4D35CCC12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7.</a:t>
            </a:r>
            <a:fld id="{D54215CB-7709-4A62-8AFA-7043C663E5F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18435" name="Rectangle 2">
            <a:extLst>
              <a:ext uri="{FF2B5EF4-FFF2-40B4-BE49-F238E27FC236}">
                <a16:creationId xmlns:a16="http://schemas.microsoft.com/office/drawing/2014/main" id="{8CF3ABA7-F84B-4288-881B-38A01F85AB29}"/>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1568D68-5784-4E3E-9826-BC32A191D0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877465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0162623-E72D-40B6-9749-4D35CCC12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7.</a:t>
            </a:r>
            <a:fld id="{D54215CB-7709-4A62-8AFA-7043C663E5F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18435" name="Rectangle 2">
            <a:extLst>
              <a:ext uri="{FF2B5EF4-FFF2-40B4-BE49-F238E27FC236}">
                <a16:creationId xmlns:a16="http://schemas.microsoft.com/office/drawing/2014/main" id="{8CF3ABA7-F84B-4288-881B-38A01F85AB29}"/>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1568D68-5784-4E3E-9826-BC32A191D0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1800" b="0" i="0" u="none" strike="noStrike" baseline="0" dirty="0">
                <a:solidFill>
                  <a:srgbClr val="221E1F"/>
                </a:solidFill>
                <a:latin typeface="STIX MathJax Main"/>
              </a:rPr>
              <a:t>The problem of nonconstant growth is only slightly more complicated if the dividends are not zero for the first several years. </a:t>
            </a:r>
          </a:p>
          <a:p>
            <a:pPr eaLnBrk="1" hangingPunct="1"/>
            <a:endParaRPr lang="en-US" altLang="en-US" sz="1800" b="0" i="0" u="none" strike="noStrike" baseline="0" dirty="0">
              <a:solidFill>
                <a:srgbClr val="221E1F"/>
              </a:solidFill>
              <a:latin typeface="STIX MathJax Main"/>
            </a:endParaRPr>
          </a:p>
          <a:p>
            <a:pPr eaLnBrk="1" hangingPunct="1"/>
            <a:r>
              <a:rPr lang="en-US" sz="1800" b="0" i="0" u="none" strike="noStrike" baseline="0" dirty="0">
                <a:solidFill>
                  <a:srgbClr val="221E1F"/>
                </a:solidFill>
                <a:latin typeface="STIX MathJax Main"/>
              </a:rPr>
              <a:t>The important thing to notice is when constant growth starts. As we’ve shown, for this problem, constant growth starts at Time 3. By far the most common mistake in this situation is to incorrectly identify the start of the constant growth phase and, as a result, calculate the future stock price at the wrong time. </a:t>
            </a:r>
            <a:endParaRPr lang="en-US" altLang="en-US" dirty="0"/>
          </a:p>
        </p:txBody>
      </p:sp>
    </p:spTree>
    <p:extLst>
      <p:ext uri="{BB962C8B-B14F-4D97-AF65-F5344CB8AC3E}">
        <p14:creationId xmlns:p14="http://schemas.microsoft.com/office/powerpoint/2010/main" val="578639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0162623-E72D-40B6-9749-4D35CCC12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7.</a:t>
            </a:r>
            <a:fld id="{D54215CB-7709-4A62-8AFA-7043C663E5F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18435" name="Rectangle 2">
            <a:extLst>
              <a:ext uri="{FF2B5EF4-FFF2-40B4-BE49-F238E27FC236}">
                <a16:creationId xmlns:a16="http://schemas.microsoft.com/office/drawing/2014/main" id="{8CF3ABA7-F84B-4288-881B-38A01F85AB29}"/>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1568D68-5784-4E3E-9826-BC32A191D0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1800" b="0" i="0" u="none" strike="noStrike" baseline="0" dirty="0">
                <a:solidFill>
                  <a:srgbClr val="221E1F"/>
                </a:solidFill>
                <a:latin typeface="STIX MathJax Main"/>
              </a:rPr>
              <a:t>The value of the stock today is thus $43.88. </a:t>
            </a:r>
            <a:endParaRPr lang="en-US" altLang="en-US" dirty="0"/>
          </a:p>
        </p:txBody>
      </p:sp>
    </p:spTree>
    <p:extLst>
      <p:ext uri="{BB962C8B-B14F-4D97-AF65-F5344CB8AC3E}">
        <p14:creationId xmlns:p14="http://schemas.microsoft.com/office/powerpoint/2010/main" val="495564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FA85A-1617-8C39-DC9E-7BFD85D82ABD}"/>
            </a:ext>
          </a:extLst>
        </p:cNvPr>
        <p:cNvGrpSpPr/>
        <p:nvPr/>
      </p:nvGrpSpPr>
      <p:grpSpPr>
        <a:xfrm>
          <a:off x="0" y="0"/>
          <a:ext cx="0" cy="0"/>
          <a:chOff x="0" y="0"/>
          <a:chExt cx="0" cy="0"/>
        </a:xfrm>
      </p:grpSpPr>
      <p:sp>
        <p:nvSpPr>
          <p:cNvPr id="18434" name="Rectangle 7">
            <a:extLst>
              <a:ext uri="{FF2B5EF4-FFF2-40B4-BE49-F238E27FC236}">
                <a16:creationId xmlns:a16="http://schemas.microsoft.com/office/drawing/2014/main" id="{B3779313-D2EF-2B81-08E2-D2573FE50B4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7.</a:t>
            </a:r>
            <a:fld id="{D54215CB-7709-4A62-8AFA-7043C663E5F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18435" name="Rectangle 2">
            <a:extLst>
              <a:ext uri="{FF2B5EF4-FFF2-40B4-BE49-F238E27FC236}">
                <a16:creationId xmlns:a16="http://schemas.microsoft.com/office/drawing/2014/main" id="{74FE0099-B9A7-0F13-A95E-BA5C2837E7B8}"/>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B0FA1713-2D70-7F0C-C7BF-B2C7C570C1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1800" b="0" i="0" u="none" strike="noStrike" baseline="0" dirty="0">
                <a:solidFill>
                  <a:srgbClr val="221E1F"/>
                </a:solidFill>
                <a:latin typeface="STIX MathJax Main"/>
              </a:rPr>
              <a:t>As with any ratio, all three valuation ratios vary based on company age and industry. </a:t>
            </a:r>
            <a:endParaRPr lang="en-US" altLang="en-US" dirty="0"/>
          </a:p>
        </p:txBody>
      </p:sp>
    </p:spTree>
    <p:extLst>
      <p:ext uri="{BB962C8B-B14F-4D97-AF65-F5344CB8AC3E}">
        <p14:creationId xmlns:p14="http://schemas.microsoft.com/office/powerpoint/2010/main" val="2234654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0162623-E72D-40B6-9749-4D35CCC12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7.</a:t>
            </a:r>
            <a:fld id="{D54215CB-7709-4A62-8AFA-7043C663E5FC}"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18435" name="Rectangle 2">
            <a:extLst>
              <a:ext uri="{FF2B5EF4-FFF2-40B4-BE49-F238E27FC236}">
                <a16:creationId xmlns:a16="http://schemas.microsoft.com/office/drawing/2014/main" id="{8CF3ABA7-F84B-4288-881B-38A01F85AB29}"/>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1568D68-5784-4E3E-9826-BC32A191D0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1800" b="0" i="0" u="none" strike="noStrike" baseline="0" dirty="0">
                <a:solidFill>
                  <a:srgbClr val="221E1F"/>
                </a:solidFill>
                <a:latin typeface="STIX MathJax Main"/>
              </a:rPr>
              <a:t>As with any ratio, all three valuation ratios vary based on company age and industry. </a:t>
            </a:r>
            <a:endParaRPr lang="en-US" altLang="en-US" dirty="0"/>
          </a:p>
        </p:txBody>
      </p:sp>
    </p:spTree>
    <p:extLst>
      <p:ext uri="{BB962C8B-B14F-4D97-AF65-F5344CB8AC3E}">
        <p14:creationId xmlns:p14="http://schemas.microsoft.com/office/powerpoint/2010/main" val="3198118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4E78727-0837-473C-8F7E-816A416C2141}"/>
              </a:ext>
            </a:extLst>
          </p:cNvPr>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useBgFill="1">
        <p:nvSpPr>
          <p:cNvPr id="5" name="Rounded Rectangle 12">
            <a:extLst>
              <a:ext uri="{FF2B5EF4-FFF2-40B4-BE49-F238E27FC236}">
                <a16:creationId xmlns:a16="http://schemas.microsoft.com/office/drawing/2014/main" id="{F6154150-F62B-498C-A089-9C49F5A9EEF0}"/>
              </a:ext>
            </a:extLst>
          </p:cNvPr>
          <p:cNvSpPr/>
          <p:nvPr userDrawn="1"/>
        </p:nvSpPr>
        <p:spPr>
          <a:xfrm>
            <a:off x="91722" y="100746"/>
            <a:ext cx="8960556" cy="6665668"/>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6" name="Rectangle 5">
            <a:extLst>
              <a:ext uri="{FF2B5EF4-FFF2-40B4-BE49-F238E27FC236}">
                <a16:creationId xmlns:a16="http://schemas.microsoft.com/office/drawing/2014/main" id="{B51F14B6-8F17-4883-A72D-ADB64A197F91}"/>
              </a:ext>
            </a:extLst>
          </p:cNvPr>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7" name="Rectangle 6">
            <a:extLst>
              <a:ext uri="{FF2B5EF4-FFF2-40B4-BE49-F238E27FC236}">
                <a16:creationId xmlns:a16="http://schemas.microsoft.com/office/drawing/2014/main" id="{AB50229B-3E69-4058-A406-02302E8059D4}"/>
              </a:ext>
            </a:extLst>
          </p:cNvPr>
          <p:cNvSpPr/>
          <p:nvPr/>
        </p:nvSpPr>
        <p:spPr>
          <a:xfrm>
            <a:off x="7572657"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8" name="Rectangle 7">
            <a:extLst>
              <a:ext uri="{FF2B5EF4-FFF2-40B4-BE49-F238E27FC236}">
                <a16:creationId xmlns:a16="http://schemas.microsoft.com/office/drawing/2014/main" id="{CAF1378B-7EE5-4A4F-8D0B-D8565A9F87F2}"/>
              </a:ext>
            </a:extLst>
          </p:cNvPr>
          <p:cNvSpPr/>
          <p:nvPr/>
        </p:nvSpPr>
        <p:spPr>
          <a:xfrm>
            <a:off x="446265" y="3055327"/>
            <a:ext cx="6946194" cy="2245702"/>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9" name="Rectangle 8">
            <a:extLst>
              <a:ext uri="{FF2B5EF4-FFF2-40B4-BE49-F238E27FC236}">
                <a16:creationId xmlns:a16="http://schemas.microsoft.com/office/drawing/2014/main" id="{2411C9D2-3C3D-4FC9-A45B-F714A752EFD0}"/>
              </a:ext>
            </a:extLst>
          </p:cNvPr>
          <p:cNvSpPr/>
          <p:nvPr/>
        </p:nvSpPr>
        <p:spPr>
          <a:xfrm>
            <a:off x="541515" y="4559178"/>
            <a:ext cx="6755694" cy="664918"/>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10" name="Rectangle 9">
            <a:extLst>
              <a:ext uri="{FF2B5EF4-FFF2-40B4-BE49-F238E27FC236}">
                <a16:creationId xmlns:a16="http://schemas.microsoft.com/office/drawing/2014/main" id="{A626F7EE-16BC-4BA6-9A4B-2FF517D60F2A}"/>
              </a:ext>
            </a:extLst>
          </p:cNvPr>
          <p:cNvSpPr/>
          <p:nvPr/>
        </p:nvSpPr>
        <p:spPr>
          <a:xfrm>
            <a:off x="7713492" y="3135934"/>
            <a:ext cx="910167" cy="2077183"/>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11" name="Rectangle 10">
            <a:extLst>
              <a:ext uri="{FF2B5EF4-FFF2-40B4-BE49-F238E27FC236}">
                <a16:creationId xmlns:a16="http://schemas.microsoft.com/office/drawing/2014/main" id="{9573BCEF-DE89-4071-8B7C-294D9102111C}"/>
              </a:ext>
            </a:extLst>
          </p:cNvPr>
          <p:cNvSpPr/>
          <p:nvPr/>
        </p:nvSpPr>
        <p:spPr>
          <a:xfrm>
            <a:off x="539750" y="3139597"/>
            <a:ext cx="6759222" cy="2077183"/>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3" name="Subtitle 2"/>
          <p:cNvSpPr>
            <a:spLocks noGrp="1"/>
          </p:cNvSpPr>
          <p:nvPr>
            <p:ph type="subTitle" idx="1"/>
          </p:nvPr>
        </p:nvSpPr>
        <p:spPr>
          <a:xfrm>
            <a:off x="642806" y="4648200"/>
            <a:ext cx="6553200" cy="457200"/>
          </a:xfrm>
        </p:spPr>
        <p:txBody>
          <a:bodyPr>
            <a:normAutofit/>
          </a:bodyPr>
          <a:lstStyle>
            <a:lvl1pPr marL="0" indent="0" algn="ctr">
              <a:buNone/>
              <a:defRPr sz="1800" cap="all" spc="300" baseline="0">
                <a:solidFill>
                  <a:srgbClr val="FFFFFF"/>
                </a:solidFill>
              </a:defRPr>
            </a:lvl1pPr>
            <a:lvl2pPr marL="456976" indent="0" algn="ctr">
              <a:buNone/>
              <a:defRPr>
                <a:solidFill>
                  <a:schemeClr val="tx1">
                    <a:tint val="75000"/>
                  </a:schemeClr>
                </a:solidFill>
              </a:defRPr>
            </a:lvl2pPr>
            <a:lvl3pPr marL="913950" indent="0" algn="ctr">
              <a:buNone/>
              <a:defRPr>
                <a:solidFill>
                  <a:schemeClr val="tx1">
                    <a:tint val="75000"/>
                  </a:schemeClr>
                </a:solidFill>
              </a:defRPr>
            </a:lvl3pPr>
            <a:lvl4pPr marL="1370929" indent="0" algn="ctr">
              <a:buNone/>
              <a:defRPr>
                <a:solidFill>
                  <a:schemeClr val="tx1">
                    <a:tint val="75000"/>
                  </a:schemeClr>
                </a:solidFill>
              </a:defRPr>
            </a:lvl4pPr>
            <a:lvl5pPr marL="1827902" indent="0" algn="ctr">
              <a:buNone/>
              <a:defRPr>
                <a:solidFill>
                  <a:schemeClr val="tx1">
                    <a:tint val="75000"/>
                  </a:schemeClr>
                </a:solidFill>
              </a:defRPr>
            </a:lvl5pPr>
            <a:lvl6pPr marL="2284877" indent="0" algn="ctr">
              <a:buNone/>
              <a:defRPr>
                <a:solidFill>
                  <a:schemeClr val="tx1">
                    <a:tint val="75000"/>
                  </a:schemeClr>
                </a:solidFill>
              </a:defRPr>
            </a:lvl6pPr>
            <a:lvl7pPr marL="2741850" indent="0" algn="ctr">
              <a:buNone/>
              <a:defRPr>
                <a:solidFill>
                  <a:schemeClr val="tx1">
                    <a:tint val="75000"/>
                  </a:schemeClr>
                </a:solidFill>
              </a:defRPr>
            </a:lvl7pPr>
            <a:lvl8pPr marL="3198827" indent="0" algn="ctr">
              <a:buNone/>
              <a:defRPr>
                <a:solidFill>
                  <a:schemeClr val="tx1">
                    <a:tint val="75000"/>
                  </a:schemeClr>
                </a:solidFill>
              </a:defRPr>
            </a:lvl8pPr>
            <a:lvl9pPr marL="3655801"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604706" y="3227045"/>
            <a:ext cx="6629400" cy="1219201"/>
          </a:xfrm>
        </p:spPr>
        <p:txBody>
          <a:bodyPr anchor="b" anchorCtr="0">
            <a:noAutofit/>
          </a:bodyPr>
          <a:lstStyle>
            <a:lvl1pPr>
              <a:defRPr sz="4000">
                <a:solidFill>
                  <a:schemeClr val="accent1">
                    <a:lumMod val="50000"/>
                  </a:schemeClr>
                </a:solidFill>
              </a:defRPr>
            </a:lvl1pPr>
          </a:lstStyle>
          <a:p>
            <a:r>
              <a:rPr lang="en-US"/>
              <a:t>Click to edit Master title style</a:t>
            </a:r>
            <a:endParaRPr lang="en-US" dirty="0"/>
          </a:p>
        </p:txBody>
      </p:sp>
      <p:sp>
        <p:nvSpPr>
          <p:cNvPr id="18" name="Date Placeholder 17">
            <a:extLst>
              <a:ext uri="{FF2B5EF4-FFF2-40B4-BE49-F238E27FC236}">
                <a16:creationId xmlns:a16="http://schemas.microsoft.com/office/drawing/2014/main" id="{301DC120-C112-471F-8F2A-ADB1E7F9AAE4}"/>
              </a:ext>
            </a:extLst>
          </p:cNvPr>
          <p:cNvSpPr>
            <a:spLocks noGrp="1"/>
          </p:cNvSpPr>
          <p:nvPr>
            <p:ph type="dt" sz="half" idx="10"/>
          </p:nvPr>
        </p:nvSpPr>
        <p:spPr/>
        <p:txBody>
          <a:bodyPr/>
          <a:lstStyle/>
          <a:p>
            <a:pPr>
              <a:defRPr/>
            </a:pPr>
            <a:endParaRPr lang="en-US" dirty="0">
              <a:solidFill>
                <a:srgbClr val="303030"/>
              </a:solidFill>
            </a:endParaRPr>
          </a:p>
        </p:txBody>
      </p:sp>
      <p:sp>
        <p:nvSpPr>
          <p:cNvPr id="16" name="Footer Placeholder 15">
            <a:extLst>
              <a:ext uri="{FF2B5EF4-FFF2-40B4-BE49-F238E27FC236}">
                <a16:creationId xmlns:a16="http://schemas.microsoft.com/office/drawing/2014/main" id="{1BF17057-E2DA-4944-BFFA-F1EF82B8719A}"/>
              </a:ext>
            </a:extLst>
          </p:cNvPr>
          <p:cNvSpPr>
            <a:spLocks noGrp="1"/>
          </p:cNvSpPr>
          <p:nvPr>
            <p:ph type="ftr" sz="quarter" idx="11"/>
          </p:nvPr>
        </p:nvSpPr>
        <p:spPr>
          <a:xfrm>
            <a:off x="12" y="6484338"/>
            <a:ext cx="9143999" cy="370577"/>
          </a:xfrm>
        </p:spPr>
        <p:txBody>
          <a:bodyPr/>
          <a:lstStyle/>
          <a:p>
            <a:pPr>
              <a:defRPr/>
            </a:pPr>
            <a:r>
              <a:rPr lang="en-US" dirty="0"/>
              <a:t>Copyright © 2022 McGraw Hill. All rights reserved. No reproduction or distribution without the prior written consent of McGraw Hill.</a:t>
            </a:r>
          </a:p>
        </p:txBody>
      </p:sp>
      <p:pic>
        <p:nvPicPr>
          <p:cNvPr id="15" name="Picture 14">
            <a:extLst>
              <a:ext uri="{FF2B5EF4-FFF2-40B4-BE49-F238E27FC236}">
                <a16:creationId xmlns:a16="http://schemas.microsoft.com/office/drawing/2014/main" id="{02477769-5B4F-4B89-9AFD-0D197650D358}"/>
              </a:ext>
            </a:extLst>
          </p:cNvPr>
          <p:cNvPicPr>
            <a:picLocks noChangeAspect="1"/>
          </p:cNvPicPr>
          <p:nvPr userDrawn="1"/>
        </p:nvPicPr>
        <p:blipFill>
          <a:blip r:embed="rId2"/>
          <a:stretch>
            <a:fillRect/>
          </a:stretch>
        </p:blipFill>
        <p:spPr>
          <a:xfrm>
            <a:off x="1981200" y="137370"/>
            <a:ext cx="4517553" cy="2738564"/>
          </a:xfrm>
          <a:prstGeom prst="rect">
            <a:avLst/>
          </a:prstGeom>
        </p:spPr>
      </p:pic>
    </p:spTree>
    <p:extLst>
      <p:ext uri="{BB962C8B-B14F-4D97-AF65-F5344CB8AC3E}">
        <p14:creationId xmlns:p14="http://schemas.microsoft.com/office/powerpoint/2010/main" val="26460059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36764" y="1752968"/>
            <a:ext cx="8117416" cy="437234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2E59401-9FA2-4530-8E01-FFA70837DC4E}"/>
              </a:ext>
            </a:extLst>
          </p:cNvPr>
          <p:cNvSpPr>
            <a:spLocks noGrp="1"/>
          </p:cNvSpPr>
          <p:nvPr>
            <p:ph type="dt" sz="half" idx="10"/>
          </p:nvPr>
        </p:nvSpPr>
        <p:spPr/>
        <p:txBody>
          <a:bodyPr/>
          <a:lstStyle/>
          <a:p>
            <a:pPr>
              <a:defRPr/>
            </a:pPr>
            <a:endParaRPr lang="en-US" dirty="0">
              <a:solidFill>
                <a:srgbClr val="303030"/>
              </a:solidFill>
            </a:endParaRPr>
          </a:p>
        </p:txBody>
      </p:sp>
      <p:sp>
        <p:nvSpPr>
          <p:cNvPr id="6" name="Footer Placeholder 5">
            <a:extLst>
              <a:ext uri="{FF2B5EF4-FFF2-40B4-BE49-F238E27FC236}">
                <a16:creationId xmlns:a16="http://schemas.microsoft.com/office/drawing/2014/main" id="{28F40CA6-9738-4C2D-8079-027F4768CD39}"/>
              </a:ext>
            </a:extLst>
          </p:cNvPr>
          <p:cNvSpPr>
            <a:spLocks noGrp="1"/>
          </p:cNvSpPr>
          <p:nvPr>
            <p:ph type="ftr" sz="quarter" idx="11"/>
          </p:nvPr>
        </p:nvSpPr>
        <p:spPr/>
        <p:txBody>
          <a:bodyPr/>
          <a:lstStyle/>
          <a:p>
            <a:pPr>
              <a:defRPr/>
            </a:pPr>
            <a:r>
              <a:rPr lang="en-US" dirty="0"/>
              <a:t>Copyright © 2022 McGraw Hill. All rights reserved. No reproduction or distribution without the prior written consent of McGraw Hill.</a:t>
            </a:r>
          </a:p>
        </p:txBody>
      </p:sp>
      <p:sp>
        <p:nvSpPr>
          <p:cNvPr id="12" name="Title 11">
            <a:extLst>
              <a:ext uri="{FF2B5EF4-FFF2-40B4-BE49-F238E27FC236}">
                <a16:creationId xmlns:a16="http://schemas.microsoft.com/office/drawing/2014/main" id="{B42AF359-D28D-48A3-BBF6-A58F7E8D7D00}"/>
              </a:ext>
            </a:extLst>
          </p:cNvPr>
          <p:cNvSpPr>
            <a:spLocks noGrp="1"/>
          </p:cNvSpPr>
          <p:nvPr>
            <p:ph type="title"/>
          </p:nvPr>
        </p:nvSpPr>
        <p:spPr>
          <a:xfrm>
            <a:off x="636764" y="373677"/>
            <a:ext cx="8117416" cy="1117356"/>
          </a:xfrm>
        </p:spPr>
        <p:txBody>
          <a:bodyPr/>
          <a:lstStyle>
            <a:lvl1pPr>
              <a:defRPr>
                <a:solidFill>
                  <a:schemeClr val="accent1">
                    <a:lumMod val="75000"/>
                  </a:schemeClr>
                </a:solidFill>
              </a:defRPr>
            </a:lvl1pPr>
          </a:lstStyle>
          <a:p>
            <a:r>
              <a:rPr lang="en-US" dirty="0"/>
              <a:t>Click to edit Master title style</a:t>
            </a:r>
          </a:p>
        </p:txBody>
      </p:sp>
    </p:spTree>
    <p:extLst>
      <p:ext uri="{BB962C8B-B14F-4D97-AF65-F5344CB8AC3E}">
        <p14:creationId xmlns:p14="http://schemas.microsoft.com/office/powerpoint/2010/main" val="42419442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C32DD62-64A5-45EC-9F46-07BDD47F82D6}"/>
              </a:ext>
            </a:extLst>
          </p:cNvPr>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useBgFill="1">
        <p:nvSpPr>
          <p:cNvPr id="5" name="Rounded Rectangle 12">
            <a:extLst>
              <a:ext uri="{FF2B5EF4-FFF2-40B4-BE49-F238E27FC236}">
                <a16:creationId xmlns:a16="http://schemas.microsoft.com/office/drawing/2014/main" id="{F0D61F11-BFF8-4D6E-9F06-0028DE6D8E32}"/>
              </a:ext>
            </a:extLst>
          </p:cNvPr>
          <p:cNvSpPr/>
          <p:nvPr/>
        </p:nvSpPr>
        <p:spPr>
          <a:xfrm>
            <a:off x="91722" y="100746"/>
            <a:ext cx="8960556" cy="6665668"/>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6" name="Rectangle 5">
            <a:extLst>
              <a:ext uri="{FF2B5EF4-FFF2-40B4-BE49-F238E27FC236}">
                <a16:creationId xmlns:a16="http://schemas.microsoft.com/office/drawing/2014/main" id="{5E9632C5-2D55-4C6D-BD1E-DD0DF8CB514E}"/>
              </a:ext>
            </a:extLst>
          </p:cNvPr>
          <p:cNvSpPr/>
          <p:nvPr/>
        </p:nvSpPr>
        <p:spPr>
          <a:xfrm>
            <a:off x="451976" y="2946403"/>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7" name="Rectangle 6">
            <a:extLst>
              <a:ext uri="{FF2B5EF4-FFF2-40B4-BE49-F238E27FC236}">
                <a16:creationId xmlns:a16="http://schemas.microsoft.com/office/drawing/2014/main" id="{DF967D9B-02AA-48BE-8FD8-AE6DF962D2F1}"/>
              </a:ext>
            </a:extLst>
          </p:cNvPr>
          <p:cNvSpPr/>
          <p:nvPr/>
        </p:nvSpPr>
        <p:spPr>
          <a:xfrm>
            <a:off x="567975" y="3048005"/>
            <a:ext cx="8032750" cy="2245702"/>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8" name="Rectangle 7">
            <a:extLst>
              <a:ext uri="{FF2B5EF4-FFF2-40B4-BE49-F238E27FC236}">
                <a16:creationId xmlns:a16="http://schemas.microsoft.com/office/drawing/2014/main" id="{0853756E-8497-4539-9F20-BCFDFD1BA110}"/>
              </a:ext>
            </a:extLst>
          </p:cNvPr>
          <p:cNvSpPr/>
          <p:nvPr/>
        </p:nvSpPr>
        <p:spPr>
          <a:xfrm>
            <a:off x="675570" y="4540861"/>
            <a:ext cx="7817556" cy="664918"/>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9" name="Rectangle 8">
            <a:extLst>
              <a:ext uri="{FF2B5EF4-FFF2-40B4-BE49-F238E27FC236}">
                <a16:creationId xmlns:a16="http://schemas.microsoft.com/office/drawing/2014/main" id="{4ACFB5E8-E82F-4AD9-A6F0-0C728827BCF9}"/>
              </a:ext>
            </a:extLst>
          </p:cNvPr>
          <p:cNvSpPr/>
          <p:nvPr/>
        </p:nvSpPr>
        <p:spPr>
          <a:xfrm>
            <a:off x="675570" y="3124944"/>
            <a:ext cx="7817556" cy="2077183"/>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2" name="Title 1"/>
          <p:cNvSpPr>
            <a:spLocks noGrp="1"/>
          </p:cNvSpPr>
          <p:nvPr>
            <p:ph type="title"/>
          </p:nvPr>
        </p:nvSpPr>
        <p:spPr>
          <a:xfrm>
            <a:off x="736456" y="3200412"/>
            <a:ext cx="7696200" cy="1295401"/>
          </a:xfrm>
        </p:spPr>
        <p:txBody>
          <a:bodyPr anchor="b" anchorCtr="0">
            <a:noAutofit/>
          </a:bodyPr>
          <a:lstStyle>
            <a:lvl1pPr algn="ctr" defTabSz="91395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en-US" dirty="0"/>
              <a:t>Click to edit Master title style</a:t>
            </a:r>
          </a:p>
        </p:txBody>
      </p:sp>
      <p:sp>
        <p:nvSpPr>
          <p:cNvPr id="3" name="Text Placeholder 2"/>
          <p:cNvSpPr>
            <a:spLocks noGrp="1"/>
          </p:cNvSpPr>
          <p:nvPr>
            <p:ph type="body" idx="1"/>
          </p:nvPr>
        </p:nvSpPr>
        <p:spPr>
          <a:xfrm>
            <a:off x="736456" y="4607523"/>
            <a:ext cx="7696200" cy="523783"/>
          </a:xfrm>
        </p:spPr>
        <p:txBody>
          <a:bodyPr anchor="ctr">
            <a:normAutofit/>
          </a:bodyPr>
          <a:lstStyle>
            <a:lvl1pPr marL="0" indent="0" algn="ctr">
              <a:buNone/>
              <a:defRPr sz="2000" cap="all" spc="250" baseline="0">
                <a:solidFill>
                  <a:srgbClr val="FFFFFF"/>
                </a:solidFill>
              </a:defRPr>
            </a:lvl1pPr>
            <a:lvl2pPr marL="456976" indent="0">
              <a:buNone/>
              <a:defRPr sz="1800">
                <a:solidFill>
                  <a:schemeClr val="tx1">
                    <a:tint val="75000"/>
                  </a:schemeClr>
                </a:solidFill>
              </a:defRPr>
            </a:lvl2pPr>
            <a:lvl3pPr marL="913950" indent="0">
              <a:buNone/>
              <a:defRPr sz="1600">
                <a:solidFill>
                  <a:schemeClr val="tx1">
                    <a:tint val="75000"/>
                  </a:schemeClr>
                </a:solidFill>
              </a:defRPr>
            </a:lvl3pPr>
            <a:lvl4pPr marL="1370929" indent="0">
              <a:buNone/>
              <a:defRPr sz="1400">
                <a:solidFill>
                  <a:schemeClr val="tx1">
                    <a:tint val="75000"/>
                  </a:schemeClr>
                </a:solidFill>
              </a:defRPr>
            </a:lvl4pPr>
            <a:lvl5pPr marL="1827902" indent="0">
              <a:buNone/>
              <a:defRPr sz="1400">
                <a:solidFill>
                  <a:schemeClr val="tx1">
                    <a:tint val="75000"/>
                  </a:schemeClr>
                </a:solidFill>
              </a:defRPr>
            </a:lvl5pPr>
            <a:lvl6pPr marL="2284877" indent="0">
              <a:buNone/>
              <a:defRPr sz="1400">
                <a:solidFill>
                  <a:schemeClr val="tx1">
                    <a:tint val="75000"/>
                  </a:schemeClr>
                </a:solidFill>
              </a:defRPr>
            </a:lvl6pPr>
            <a:lvl7pPr marL="2741850" indent="0">
              <a:buNone/>
              <a:defRPr sz="1400">
                <a:solidFill>
                  <a:schemeClr val="tx1">
                    <a:tint val="75000"/>
                  </a:schemeClr>
                </a:solidFill>
              </a:defRPr>
            </a:lvl7pPr>
            <a:lvl8pPr marL="3198827" indent="0">
              <a:buNone/>
              <a:defRPr sz="1400">
                <a:solidFill>
                  <a:schemeClr val="tx1">
                    <a:tint val="75000"/>
                  </a:schemeClr>
                </a:solidFill>
              </a:defRPr>
            </a:lvl8pPr>
            <a:lvl9pPr marL="3655801" indent="0">
              <a:buNone/>
              <a:defRPr sz="1400">
                <a:solidFill>
                  <a:schemeClr val="tx1">
                    <a:tint val="75000"/>
                  </a:schemeClr>
                </a:solidFill>
              </a:defRPr>
            </a:lvl9pPr>
          </a:lstStyle>
          <a:p>
            <a:pPr lvl="0"/>
            <a:r>
              <a:rPr lang="en-US"/>
              <a:t>Click to edit Master text styles</a:t>
            </a:r>
          </a:p>
        </p:txBody>
      </p:sp>
      <p:sp>
        <p:nvSpPr>
          <p:cNvPr id="13" name="Date Placeholder 12">
            <a:extLst>
              <a:ext uri="{FF2B5EF4-FFF2-40B4-BE49-F238E27FC236}">
                <a16:creationId xmlns:a16="http://schemas.microsoft.com/office/drawing/2014/main" id="{BB5EA549-D950-4D49-AB9C-67E9A3E52C9A}"/>
              </a:ext>
            </a:extLst>
          </p:cNvPr>
          <p:cNvSpPr>
            <a:spLocks noGrp="1"/>
          </p:cNvSpPr>
          <p:nvPr>
            <p:ph type="dt" sz="half" idx="10"/>
          </p:nvPr>
        </p:nvSpPr>
        <p:spPr/>
        <p:txBody>
          <a:bodyPr/>
          <a:lstStyle/>
          <a:p>
            <a:pPr>
              <a:defRPr/>
            </a:pPr>
            <a:endParaRPr lang="en-US" dirty="0">
              <a:solidFill>
                <a:srgbClr val="303030"/>
              </a:solidFill>
            </a:endParaRPr>
          </a:p>
        </p:txBody>
      </p:sp>
      <p:sp>
        <p:nvSpPr>
          <p:cNvPr id="16" name="TextBox 15">
            <a:extLst>
              <a:ext uri="{FF2B5EF4-FFF2-40B4-BE49-F238E27FC236}">
                <a16:creationId xmlns:a16="http://schemas.microsoft.com/office/drawing/2014/main" id="{BF3E73D0-27AB-4A90-926E-42AC5F3187A7}"/>
              </a:ext>
            </a:extLst>
          </p:cNvPr>
          <p:cNvSpPr txBox="1"/>
          <p:nvPr userDrawn="1"/>
        </p:nvSpPr>
        <p:spPr>
          <a:xfrm>
            <a:off x="8037688" y="6299470"/>
            <a:ext cx="1106312" cy="275070"/>
          </a:xfrm>
          <a:prstGeom prst="rect">
            <a:avLst/>
          </a:prstGeom>
          <a:noFill/>
        </p:spPr>
        <p:txBody>
          <a:bodyPr wrap="square" lIns="103195" tIns="51598" rIns="103195" bIns="51598" rtlCol="0">
            <a:noAutofit/>
          </a:bodyPr>
          <a:lstStyle/>
          <a:p>
            <a:pPr algn="r"/>
            <a:r>
              <a:rPr lang="en-US" sz="1400" b="1" dirty="0">
                <a:solidFill>
                  <a:srgbClr val="000000"/>
                </a:solidFill>
                <a:cs typeface="Arial" panose="020B0604020202020204" pitchFamily="34" charset="0"/>
              </a:rPr>
              <a:t>1-</a:t>
            </a:r>
            <a:fld id="{AF5E6115-7E53-4F48-B2EA-EF37AED32C51}" type="slidenum">
              <a:rPr lang="en-US" altLang="en-US" sz="1400" b="1" smtClean="0">
                <a:solidFill>
                  <a:srgbClr val="000000"/>
                </a:solidFill>
                <a:cs typeface="Arial" panose="020B0604020202020204" pitchFamily="34" charset="0"/>
              </a:rPr>
              <a:pPr algn="r"/>
              <a:t>‹#›</a:t>
            </a:fld>
            <a:r>
              <a:rPr lang="en-US" altLang="en-US" sz="1400" b="1" dirty="0">
                <a:solidFill>
                  <a:srgbClr val="000000"/>
                </a:solidFill>
                <a:cs typeface="Arial" panose="020B0604020202020204" pitchFamily="34" charset="0"/>
              </a:rPr>
              <a:t> </a:t>
            </a:r>
            <a:endParaRPr lang="en-US" sz="1400" b="1" dirty="0">
              <a:solidFill>
                <a:srgbClr val="000000"/>
              </a:solidFill>
              <a:cs typeface="Arial" panose="020B0604020202020204" pitchFamily="34" charset="0"/>
            </a:endParaRPr>
          </a:p>
        </p:txBody>
      </p:sp>
      <p:sp>
        <p:nvSpPr>
          <p:cNvPr id="14" name="Footer Placeholder 13">
            <a:extLst>
              <a:ext uri="{FF2B5EF4-FFF2-40B4-BE49-F238E27FC236}">
                <a16:creationId xmlns:a16="http://schemas.microsoft.com/office/drawing/2014/main" id="{8A55DBF0-5E61-4347-9AD3-D3A247F4EE07}"/>
              </a:ext>
            </a:extLst>
          </p:cNvPr>
          <p:cNvSpPr>
            <a:spLocks noGrp="1"/>
          </p:cNvSpPr>
          <p:nvPr>
            <p:ph type="ftr" sz="quarter" idx="11"/>
          </p:nvPr>
        </p:nvSpPr>
        <p:spPr>
          <a:xfrm>
            <a:off x="12" y="6484338"/>
            <a:ext cx="9143999" cy="370577"/>
          </a:xfrm>
        </p:spPr>
        <p:txBody>
          <a:bodyPr/>
          <a:lstStyle/>
          <a:p>
            <a:pPr>
              <a:defRPr/>
            </a:pPr>
            <a:r>
              <a:rPr lang="en-US" dirty="0"/>
              <a:t>Copyright © 2022 McGraw Hill. All rights reserved. No reproduction or distribution without the prior written consent of McGraw Hill.</a:t>
            </a:r>
          </a:p>
        </p:txBody>
      </p:sp>
    </p:spTree>
    <p:extLst>
      <p:ext uri="{BB962C8B-B14F-4D97-AF65-F5344CB8AC3E}">
        <p14:creationId xmlns:p14="http://schemas.microsoft.com/office/powerpoint/2010/main" val="1367552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36764"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71558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070A003B-2936-46C0-90AE-A8F5256D45C7}"/>
              </a:ext>
            </a:extLst>
          </p:cNvPr>
          <p:cNvSpPr>
            <a:spLocks noGrp="1"/>
          </p:cNvSpPr>
          <p:nvPr>
            <p:ph type="dt" sz="half" idx="10"/>
          </p:nvPr>
        </p:nvSpPr>
        <p:spPr/>
        <p:txBody>
          <a:bodyPr/>
          <a:lstStyle/>
          <a:p>
            <a:pPr>
              <a:defRPr/>
            </a:pPr>
            <a:endParaRPr lang="en-US" dirty="0">
              <a:solidFill>
                <a:srgbClr val="303030"/>
              </a:solidFill>
            </a:endParaRPr>
          </a:p>
        </p:txBody>
      </p:sp>
      <p:sp>
        <p:nvSpPr>
          <p:cNvPr id="7" name="Footer Placeholder 6">
            <a:extLst>
              <a:ext uri="{FF2B5EF4-FFF2-40B4-BE49-F238E27FC236}">
                <a16:creationId xmlns:a16="http://schemas.microsoft.com/office/drawing/2014/main" id="{C3D8383E-06AC-4AD8-A4B4-0F9195C16C5D}"/>
              </a:ext>
            </a:extLst>
          </p:cNvPr>
          <p:cNvSpPr>
            <a:spLocks noGrp="1"/>
          </p:cNvSpPr>
          <p:nvPr>
            <p:ph type="ftr" sz="quarter" idx="11"/>
          </p:nvPr>
        </p:nvSpPr>
        <p:spPr/>
        <p:txBody>
          <a:bodyPr/>
          <a:lstStyle/>
          <a:p>
            <a:pPr>
              <a:defRPr/>
            </a:pPr>
            <a:r>
              <a:rPr lang="en-US" dirty="0"/>
              <a:t>Copyright © 2022 McGraw Hill. All rights reserved. No reproduction or distribution without the prior written consent of McGraw Hill.</a:t>
            </a:r>
          </a:p>
        </p:txBody>
      </p:sp>
      <p:sp>
        <p:nvSpPr>
          <p:cNvPr id="13" name="Title 12">
            <a:extLst>
              <a:ext uri="{FF2B5EF4-FFF2-40B4-BE49-F238E27FC236}">
                <a16:creationId xmlns:a16="http://schemas.microsoft.com/office/drawing/2014/main" id="{B1CE2583-D1EB-4C2A-9459-6CCA9F412948}"/>
              </a:ext>
            </a:extLst>
          </p:cNvPr>
          <p:cNvSpPr>
            <a:spLocks noGrp="1"/>
          </p:cNvSpPr>
          <p:nvPr>
            <p:ph type="title"/>
          </p:nvPr>
        </p:nvSpPr>
        <p:spPr/>
        <p:txBody>
          <a:bodyPr/>
          <a:lstStyle>
            <a:lvl1pPr>
              <a:defRPr>
                <a:solidFill>
                  <a:schemeClr val="accent1">
                    <a:lumMod val="75000"/>
                  </a:schemeClr>
                </a:solidFill>
              </a:defRPr>
            </a:lvl1pPr>
          </a:lstStyle>
          <a:p>
            <a:r>
              <a:rPr lang="en-US" dirty="0"/>
              <a:t>Click to edit Master title style</a:t>
            </a:r>
          </a:p>
        </p:txBody>
      </p:sp>
    </p:spTree>
    <p:extLst>
      <p:ext uri="{BB962C8B-B14F-4D97-AF65-F5344CB8AC3E}">
        <p14:creationId xmlns:p14="http://schemas.microsoft.com/office/powerpoint/2010/main" val="176368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6767" y="1722438"/>
            <a:ext cx="4040188" cy="639762"/>
          </a:xfrm>
        </p:spPr>
        <p:txBody>
          <a:bodyPr anchor="b">
            <a:noAutofit/>
          </a:bodyPr>
          <a:lstStyle>
            <a:lvl1pPr marL="0" indent="0" algn="ctr">
              <a:buNone/>
              <a:defRPr sz="2100" b="1"/>
            </a:lvl1pPr>
            <a:lvl2pPr marL="456976" indent="0">
              <a:buNone/>
              <a:defRPr sz="2000" b="1"/>
            </a:lvl2pPr>
            <a:lvl3pPr marL="913950" indent="0">
              <a:buNone/>
              <a:defRPr sz="1800" b="1"/>
            </a:lvl3pPr>
            <a:lvl4pPr marL="1370929" indent="0">
              <a:buNone/>
              <a:defRPr sz="1600" b="1"/>
            </a:lvl4pPr>
            <a:lvl5pPr marL="1827902" indent="0">
              <a:buNone/>
              <a:defRPr sz="1600" b="1"/>
            </a:lvl5pPr>
            <a:lvl6pPr marL="2284877" indent="0">
              <a:buNone/>
              <a:defRPr sz="1600" b="1"/>
            </a:lvl6pPr>
            <a:lvl7pPr marL="2741850" indent="0">
              <a:buNone/>
              <a:defRPr sz="1600" b="1"/>
            </a:lvl7pPr>
            <a:lvl8pPr marL="3198827" indent="0">
              <a:buNone/>
              <a:defRPr sz="1600" b="1"/>
            </a:lvl8pPr>
            <a:lvl9pPr marL="3655801"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36767"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12404" y="1722438"/>
            <a:ext cx="4041776" cy="639762"/>
          </a:xfrm>
        </p:spPr>
        <p:txBody>
          <a:bodyPr anchor="b">
            <a:noAutofit/>
          </a:bodyPr>
          <a:lstStyle>
            <a:lvl1pPr marL="0" indent="0" algn="ctr">
              <a:buNone/>
              <a:defRPr sz="2100" b="1"/>
            </a:lvl1pPr>
            <a:lvl2pPr marL="456976" indent="0">
              <a:buNone/>
              <a:defRPr sz="2000" b="1"/>
            </a:lvl2pPr>
            <a:lvl3pPr marL="913950" indent="0">
              <a:buNone/>
              <a:defRPr sz="1800" b="1"/>
            </a:lvl3pPr>
            <a:lvl4pPr marL="1370929" indent="0">
              <a:buNone/>
              <a:defRPr sz="1600" b="1"/>
            </a:lvl4pPr>
            <a:lvl5pPr marL="1827902" indent="0">
              <a:buNone/>
              <a:defRPr sz="1600" b="1"/>
            </a:lvl5pPr>
            <a:lvl6pPr marL="2284877" indent="0">
              <a:buNone/>
              <a:defRPr sz="1600" b="1"/>
            </a:lvl6pPr>
            <a:lvl7pPr marL="2741850" indent="0">
              <a:buNone/>
              <a:defRPr sz="1600" b="1"/>
            </a:lvl7pPr>
            <a:lvl8pPr marL="3198827" indent="0">
              <a:buNone/>
              <a:defRPr sz="1600" b="1"/>
            </a:lvl8pPr>
            <a:lvl9pPr marL="3655801"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712404" y="2438400"/>
            <a:ext cx="4041776"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5CA94CF5-6974-4EC0-9BA7-C62A3C1DBFC4}"/>
              </a:ext>
            </a:extLst>
          </p:cNvPr>
          <p:cNvSpPr>
            <a:spLocks noGrp="1"/>
          </p:cNvSpPr>
          <p:nvPr>
            <p:ph type="dt" sz="half" idx="10"/>
          </p:nvPr>
        </p:nvSpPr>
        <p:spPr/>
        <p:txBody>
          <a:bodyPr/>
          <a:lstStyle/>
          <a:p>
            <a:pPr>
              <a:defRPr/>
            </a:pPr>
            <a:endParaRPr lang="en-US" dirty="0">
              <a:solidFill>
                <a:srgbClr val="303030"/>
              </a:solidFill>
            </a:endParaRPr>
          </a:p>
        </p:txBody>
      </p:sp>
      <p:sp>
        <p:nvSpPr>
          <p:cNvPr id="9" name="Footer Placeholder 8">
            <a:extLst>
              <a:ext uri="{FF2B5EF4-FFF2-40B4-BE49-F238E27FC236}">
                <a16:creationId xmlns:a16="http://schemas.microsoft.com/office/drawing/2014/main" id="{38F3D3E0-7137-419E-9FE4-3020A1D2CE9B}"/>
              </a:ext>
            </a:extLst>
          </p:cNvPr>
          <p:cNvSpPr>
            <a:spLocks noGrp="1"/>
          </p:cNvSpPr>
          <p:nvPr>
            <p:ph type="ftr" sz="quarter" idx="11"/>
          </p:nvPr>
        </p:nvSpPr>
        <p:spPr/>
        <p:txBody>
          <a:bodyPr/>
          <a:lstStyle/>
          <a:p>
            <a:pPr>
              <a:defRPr/>
            </a:pPr>
            <a:r>
              <a:rPr lang="en-US" dirty="0"/>
              <a:t>Copyright © 2022 McGraw Hill. All rights reserved. No reproduction or distribution without the prior written consent of McGraw Hill.</a:t>
            </a:r>
          </a:p>
        </p:txBody>
      </p:sp>
      <p:sp>
        <p:nvSpPr>
          <p:cNvPr id="15" name="Title 14">
            <a:extLst>
              <a:ext uri="{FF2B5EF4-FFF2-40B4-BE49-F238E27FC236}">
                <a16:creationId xmlns:a16="http://schemas.microsoft.com/office/drawing/2014/main" id="{ECAE2EE5-3CE8-475B-847A-91B0C8514DF2}"/>
              </a:ext>
            </a:extLst>
          </p:cNvPr>
          <p:cNvSpPr>
            <a:spLocks noGrp="1"/>
          </p:cNvSpPr>
          <p:nvPr>
            <p:ph type="title"/>
          </p:nvPr>
        </p:nvSpPr>
        <p:spPr/>
        <p:txBody>
          <a:bodyPr/>
          <a:lstStyle>
            <a:lvl1pPr>
              <a:defRPr>
                <a:solidFill>
                  <a:schemeClr val="accent1">
                    <a:lumMod val="75000"/>
                  </a:schemeClr>
                </a:solidFill>
              </a:defRPr>
            </a:lvl1pPr>
          </a:lstStyle>
          <a:p>
            <a:r>
              <a:rPr lang="en-US" dirty="0"/>
              <a:t>Click to edit Master title style</a:t>
            </a:r>
          </a:p>
        </p:txBody>
      </p:sp>
    </p:spTree>
    <p:extLst>
      <p:ext uri="{BB962C8B-B14F-4D97-AF65-F5344CB8AC3E}">
        <p14:creationId xmlns:p14="http://schemas.microsoft.com/office/powerpoint/2010/main" val="2358849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424522D3-D5E6-4519-AA3E-CFFD62EBB279}"/>
              </a:ext>
            </a:extLst>
          </p:cNvPr>
          <p:cNvSpPr>
            <a:spLocks noGrp="1"/>
          </p:cNvSpPr>
          <p:nvPr>
            <p:ph type="dt" sz="half" idx="10"/>
          </p:nvPr>
        </p:nvSpPr>
        <p:spPr/>
        <p:txBody>
          <a:bodyPr/>
          <a:lstStyle/>
          <a:p>
            <a:pPr>
              <a:defRPr/>
            </a:pPr>
            <a:endParaRPr lang="en-US" dirty="0">
              <a:solidFill>
                <a:srgbClr val="303030"/>
              </a:solidFill>
            </a:endParaRPr>
          </a:p>
        </p:txBody>
      </p:sp>
      <p:sp>
        <p:nvSpPr>
          <p:cNvPr id="5" name="Footer Placeholder 4">
            <a:extLst>
              <a:ext uri="{FF2B5EF4-FFF2-40B4-BE49-F238E27FC236}">
                <a16:creationId xmlns:a16="http://schemas.microsoft.com/office/drawing/2014/main" id="{4A7F24B7-6998-4E89-9458-36E1BDBE953C}"/>
              </a:ext>
            </a:extLst>
          </p:cNvPr>
          <p:cNvSpPr>
            <a:spLocks noGrp="1"/>
          </p:cNvSpPr>
          <p:nvPr>
            <p:ph type="ftr" sz="quarter" idx="11"/>
          </p:nvPr>
        </p:nvSpPr>
        <p:spPr/>
        <p:txBody>
          <a:bodyPr/>
          <a:lstStyle/>
          <a:p>
            <a:pPr>
              <a:defRPr/>
            </a:pPr>
            <a:r>
              <a:rPr lang="en-US" dirty="0"/>
              <a:t>Copyright © 2022 McGraw Hill. All rights reserved. No reproduction or distribution without the prior written consent of McGraw Hill.</a:t>
            </a:r>
          </a:p>
        </p:txBody>
      </p:sp>
      <p:sp>
        <p:nvSpPr>
          <p:cNvPr id="11" name="Title 10">
            <a:extLst>
              <a:ext uri="{FF2B5EF4-FFF2-40B4-BE49-F238E27FC236}">
                <a16:creationId xmlns:a16="http://schemas.microsoft.com/office/drawing/2014/main" id="{5E22BF98-0A11-4AB5-9F7A-23BF5C3751CC}"/>
              </a:ext>
            </a:extLst>
          </p:cNvPr>
          <p:cNvSpPr>
            <a:spLocks noGrp="1"/>
          </p:cNvSpPr>
          <p:nvPr>
            <p:ph type="title"/>
          </p:nvPr>
        </p:nvSpPr>
        <p:spPr/>
        <p:txBody>
          <a:bodyPr/>
          <a:lstStyle>
            <a:lvl1pPr>
              <a:defRPr>
                <a:solidFill>
                  <a:schemeClr val="accent1">
                    <a:lumMod val="75000"/>
                  </a:schemeClr>
                </a:solidFill>
              </a:defRPr>
            </a:lvl1pPr>
          </a:lstStyle>
          <a:p>
            <a:r>
              <a:rPr lang="en-US" dirty="0"/>
              <a:t>Click to edit Master title style</a:t>
            </a:r>
          </a:p>
        </p:txBody>
      </p:sp>
    </p:spTree>
    <p:extLst>
      <p:ext uri="{BB962C8B-B14F-4D97-AF65-F5344CB8AC3E}">
        <p14:creationId xmlns:p14="http://schemas.microsoft.com/office/powerpoint/2010/main" val="37100334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6976FD-FEE7-4997-900A-BADCA6CC0CC2}"/>
              </a:ext>
            </a:extLst>
          </p:cNvPr>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useBgFill="1">
        <p:nvSpPr>
          <p:cNvPr id="3" name="Rounded Rectangle 12">
            <a:extLst>
              <a:ext uri="{FF2B5EF4-FFF2-40B4-BE49-F238E27FC236}">
                <a16:creationId xmlns:a16="http://schemas.microsoft.com/office/drawing/2014/main" id="{3C8740B7-ECA8-47EE-9DAF-CC06B04E3AD7}"/>
              </a:ext>
            </a:extLst>
          </p:cNvPr>
          <p:cNvSpPr/>
          <p:nvPr userDrawn="1"/>
        </p:nvSpPr>
        <p:spPr>
          <a:xfrm>
            <a:off x="91722" y="100746"/>
            <a:ext cx="8960556" cy="6665668"/>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7" name="Date Placeholder 6">
            <a:extLst>
              <a:ext uri="{FF2B5EF4-FFF2-40B4-BE49-F238E27FC236}">
                <a16:creationId xmlns:a16="http://schemas.microsoft.com/office/drawing/2014/main" id="{469DD2BB-6D0D-4794-9AF4-F9226F5C19FA}"/>
              </a:ext>
            </a:extLst>
          </p:cNvPr>
          <p:cNvSpPr>
            <a:spLocks noGrp="1"/>
          </p:cNvSpPr>
          <p:nvPr>
            <p:ph type="dt" sz="half" idx="10"/>
          </p:nvPr>
        </p:nvSpPr>
        <p:spPr/>
        <p:txBody>
          <a:bodyPr/>
          <a:lstStyle/>
          <a:p>
            <a:pPr>
              <a:defRPr/>
            </a:pPr>
            <a:endParaRPr lang="en-US" dirty="0">
              <a:solidFill>
                <a:srgbClr val="303030"/>
              </a:solidFill>
            </a:endParaRPr>
          </a:p>
        </p:txBody>
      </p:sp>
      <p:sp>
        <p:nvSpPr>
          <p:cNvPr id="10" name="TextBox 9">
            <a:extLst>
              <a:ext uri="{FF2B5EF4-FFF2-40B4-BE49-F238E27FC236}">
                <a16:creationId xmlns:a16="http://schemas.microsoft.com/office/drawing/2014/main" id="{A4283EFF-ED56-4278-9342-919A8F516FB0}"/>
              </a:ext>
            </a:extLst>
          </p:cNvPr>
          <p:cNvSpPr txBox="1"/>
          <p:nvPr userDrawn="1"/>
        </p:nvSpPr>
        <p:spPr>
          <a:xfrm>
            <a:off x="8037688" y="6299470"/>
            <a:ext cx="1106312" cy="275070"/>
          </a:xfrm>
          <a:prstGeom prst="rect">
            <a:avLst/>
          </a:prstGeom>
          <a:noFill/>
        </p:spPr>
        <p:txBody>
          <a:bodyPr wrap="square" lIns="103195" tIns="51598" rIns="103195" bIns="51598" rtlCol="0">
            <a:noAutofit/>
          </a:bodyPr>
          <a:lstStyle/>
          <a:p>
            <a:pPr algn="r"/>
            <a:r>
              <a:rPr lang="en-US" sz="1400" b="1" dirty="0">
                <a:solidFill>
                  <a:srgbClr val="000000"/>
                </a:solidFill>
                <a:cs typeface="Arial" panose="020B0604020202020204" pitchFamily="34" charset="0"/>
              </a:rPr>
              <a:t>1-</a:t>
            </a:r>
            <a:fld id="{AF5E6115-7E53-4F48-B2EA-EF37AED32C51}" type="slidenum">
              <a:rPr lang="en-US" altLang="en-US" sz="1400" b="1" smtClean="0">
                <a:solidFill>
                  <a:srgbClr val="000000"/>
                </a:solidFill>
                <a:cs typeface="Arial" panose="020B0604020202020204" pitchFamily="34" charset="0"/>
              </a:rPr>
              <a:pPr algn="r"/>
              <a:t>‹#›</a:t>
            </a:fld>
            <a:r>
              <a:rPr lang="en-US" altLang="en-US" sz="1400" b="1" dirty="0">
                <a:solidFill>
                  <a:srgbClr val="000000"/>
                </a:solidFill>
                <a:cs typeface="Arial" panose="020B0604020202020204" pitchFamily="34" charset="0"/>
              </a:rPr>
              <a:t> </a:t>
            </a:r>
            <a:endParaRPr lang="en-US" sz="1400" b="1" dirty="0">
              <a:solidFill>
                <a:srgbClr val="000000"/>
              </a:solidFill>
              <a:cs typeface="Arial" panose="020B0604020202020204" pitchFamily="34" charset="0"/>
            </a:endParaRPr>
          </a:p>
        </p:txBody>
      </p:sp>
      <p:sp>
        <p:nvSpPr>
          <p:cNvPr id="9" name="Footer Placeholder 8">
            <a:extLst>
              <a:ext uri="{FF2B5EF4-FFF2-40B4-BE49-F238E27FC236}">
                <a16:creationId xmlns:a16="http://schemas.microsoft.com/office/drawing/2014/main" id="{89DE2AFC-B59C-4725-9709-5370F5E1AFEF}"/>
              </a:ext>
            </a:extLst>
          </p:cNvPr>
          <p:cNvSpPr>
            <a:spLocks noGrp="1"/>
          </p:cNvSpPr>
          <p:nvPr>
            <p:ph type="ftr" sz="quarter" idx="11"/>
          </p:nvPr>
        </p:nvSpPr>
        <p:spPr>
          <a:xfrm>
            <a:off x="12" y="6484338"/>
            <a:ext cx="9143999" cy="370577"/>
          </a:xfrm>
        </p:spPr>
        <p:txBody>
          <a:bodyPr/>
          <a:lstStyle/>
          <a:p>
            <a:pPr>
              <a:defRPr/>
            </a:pPr>
            <a:r>
              <a:rPr lang="en-US" dirty="0"/>
              <a:t>Copyright © 2022 McGraw Hill. All rights reserved. No reproduction or distribution without the prior written consent of McGraw Hill.</a:t>
            </a:r>
          </a:p>
        </p:txBody>
      </p:sp>
    </p:spTree>
    <p:extLst>
      <p:ext uri="{BB962C8B-B14F-4D97-AF65-F5344CB8AC3E}">
        <p14:creationId xmlns:p14="http://schemas.microsoft.com/office/powerpoint/2010/main" val="10137014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522B2-59CE-4E72-85FA-82F1404BB1F1}"/>
              </a:ext>
            </a:extLst>
          </p:cNvPr>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useBgFill="1">
        <p:nvSpPr>
          <p:cNvPr id="6" name="Rounded Rectangle 12">
            <a:extLst>
              <a:ext uri="{FF2B5EF4-FFF2-40B4-BE49-F238E27FC236}">
                <a16:creationId xmlns:a16="http://schemas.microsoft.com/office/drawing/2014/main" id="{1223C0F7-0733-4951-8A73-F92558B4259D}"/>
              </a:ext>
            </a:extLst>
          </p:cNvPr>
          <p:cNvSpPr/>
          <p:nvPr/>
        </p:nvSpPr>
        <p:spPr>
          <a:xfrm>
            <a:off x="91722" y="100746"/>
            <a:ext cx="8960556" cy="6665668"/>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7" name="Rectangle 6">
            <a:extLst>
              <a:ext uri="{FF2B5EF4-FFF2-40B4-BE49-F238E27FC236}">
                <a16:creationId xmlns:a16="http://schemas.microsoft.com/office/drawing/2014/main" id="{E624F21C-4172-4ACA-85C7-08885E055AE1}"/>
              </a:ext>
            </a:extLst>
          </p:cNvPr>
          <p:cNvSpPr/>
          <p:nvPr/>
        </p:nvSpPr>
        <p:spPr>
          <a:xfrm>
            <a:off x="560038"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8" name="Rectangle 7">
            <a:extLst>
              <a:ext uri="{FF2B5EF4-FFF2-40B4-BE49-F238E27FC236}">
                <a16:creationId xmlns:a16="http://schemas.microsoft.com/office/drawing/2014/main" id="{DDD0846B-2518-4472-BCC0-67B935740DAA}"/>
              </a:ext>
            </a:extLst>
          </p:cNvPr>
          <p:cNvSpPr/>
          <p:nvPr/>
        </p:nvSpPr>
        <p:spPr>
          <a:xfrm>
            <a:off x="677334" y="1643066"/>
            <a:ext cx="2481792" cy="3233004"/>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69004" y="2971800"/>
            <a:ext cx="2298634" cy="1752600"/>
          </a:xfrm>
        </p:spPr>
        <p:txBody>
          <a:bodyPr/>
          <a:lstStyle>
            <a:lvl1pPr marL="0" indent="0">
              <a:spcBef>
                <a:spcPts val="400"/>
              </a:spcBef>
              <a:buNone/>
              <a:defRPr sz="1400">
                <a:solidFill>
                  <a:schemeClr val="accent1">
                    <a:lumMod val="50000"/>
                  </a:schemeClr>
                </a:solidFill>
              </a:defRPr>
            </a:lvl1pPr>
            <a:lvl2pPr marL="456976" indent="0">
              <a:buNone/>
              <a:defRPr sz="1200"/>
            </a:lvl2pPr>
            <a:lvl3pPr marL="913950" indent="0">
              <a:buNone/>
              <a:defRPr sz="1000"/>
            </a:lvl3pPr>
            <a:lvl4pPr marL="1370929" indent="0">
              <a:buNone/>
              <a:defRPr sz="900"/>
            </a:lvl4pPr>
            <a:lvl5pPr marL="1827902" indent="0">
              <a:buNone/>
              <a:defRPr sz="900"/>
            </a:lvl5pPr>
            <a:lvl6pPr marL="2284877" indent="0">
              <a:buNone/>
              <a:defRPr sz="900"/>
            </a:lvl6pPr>
            <a:lvl7pPr marL="2741850" indent="0">
              <a:buNone/>
              <a:defRPr sz="900"/>
            </a:lvl7pPr>
            <a:lvl8pPr marL="3198827" indent="0">
              <a:buNone/>
              <a:defRPr sz="900"/>
            </a:lvl8pPr>
            <a:lvl9pPr marL="3655801" indent="0">
              <a:buNone/>
              <a:defRPr sz="900"/>
            </a:lvl9pPr>
          </a:lstStyle>
          <a:p>
            <a:pPr lvl="0"/>
            <a:r>
              <a:rPr lang="en-US"/>
              <a:t>Click to edit Master text styles</a:t>
            </a:r>
          </a:p>
        </p:txBody>
      </p:sp>
      <p:sp>
        <p:nvSpPr>
          <p:cNvPr id="2" name="Title 1"/>
          <p:cNvSpPr>
            <a:spLocks noGrp="1"/>
          </p:cNvSpPr>
          <p:nvPr>
            <p:ph type="title"/>
          </p:nvPr>
        </p:nvSpPr>
        <p:spPr>
          <a:xfrm>
            <a:off x="769004" y="1734313"/>
            <a:ext cx="2298634" cy="1191620"/>
          </a:xfrm>
        </p:spPr>
        <p:txBody>
          <a:bodyPr anchor="b"/>
          <a:lstStyle>
            <a:lvl1pPr algn="l">
              <a:defRPr sz="2000" b="0">
                <a:solidFill>
                  <a:schemeClr val="accent1">
                    <a:lumMod val="75000"/>
                  </a:schemeClr>
                </a:solidFill>
              </a:defRPr>
            </a:lvl1p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58354456-5329-4B1F-BA18-3808927753B1}"/>
              </a:ext>
            </a:extLst>
          </p:cNvPr>
          <p:cNvSpPr>
            <a:spLocks noGrp="1"/>
          </p:cNvSpPr>
          <p:nvPr>
            <p:ph type="dt" sz="half" idx="10"/>
          </p:nvPr>
        </p:nvSpPr>
        <p:spPr/>
        <p:txBody>
          <a:bodyPr/>
          <a:lstStyle/>
          <a:p>
            <a:pPr>
              <a:defRPr/>
            </a:pPr>
            <a:endParaRPr lang="en-US" dirty="0">
              <a:solidFill>
                <a:srgbClr val="303030"/>
              </a:solidFill>
            </a:endParaRPr>
          </a:p>
        </p:txBody>
      </p:sp>
      <p:sp>
        <p:nvSpPr>
          <p:cNvPr id="15" name="TextBox 14">
            <a:extLst>
              <a:ext uri="{FF2B5EF4-FFF2-40B4-BE49-F238E27FC236}">
                <a16:creationId xmlns:a16="http://schemas.microsoft.com/office/drawing/2014/main" id="{D29E12EB-85E8-4897-BE1D-4C747990CA5A}"/>
              </a:ext>
            </a:extLst>
          </p:cNvPr>
          <p:cNvSpPr txBox="1"/>
          <p:nvPr userDrawn="1"/>
        </p:nvSpPr>
        <p:spPr>
          <a:xfrm>
            <a:off x="8037688" y="6299470"/>
            <a:ext cx="1106312" cy="275070"/>
          </a:xfrm>
          <a:prstGeom prst="rect">
            <a:avLst/>
          </a:prstGeom>
          <a:noFill/>
        </p:spPr>
        <p:txBody>
          <a:bodyPr wrap="square" lIns="103195" tIns="51598" rIns="103195" bIns="51598" rtlCol="0">
            <a:noAutofit/>
          </a:bodyPr>
          <a:lstStyle/>
          <a:p>
            <a:pPr algn="r"/>
            <a:r>
              <a:rPr lang="en-US" sz="1400" b="1" dirty="0">
                <a:solidFill>
                  <a:srgbClr val="000000"/>
                </a:solidFill>
                <a:cs typeface="Arial" panose="020B0604020202020204" pitchFamily="34" charset="0"/>
              </a:rPr>
              <a:t>1-</a:t>
            </a:r>
            <a:fld id="{AF5E6115-7E53-4F48-B2EA-EF37AED32C51}" type="slidenum">
              <a:rPr lang="en-US" altLang="en-US" sz="1400" b="1" smtClean="0">
                <a:solidFill>
                  <a:srgbClr val="000000"/>
                </a:solidFill>
                <a:cs typeface="Arial" panose="020B0604020202020204" pitchFamily="34" charset="0"/>
              </a:rPr>
              <a:pPr algn="r"/>
              <a:t>‹#›</a:t>
            </a:fld>
            <a:r>
              <a:rPr lang="en-US" altLang="en-US" sz="1400" b="1" dirty="0">
                <a:solidFill>
                  <a:srgbClr val="000000"/>
                </a:solidFill>
                <a:cs typeface="Arial" panose="020B0604020202020204" pitchFamily="34" charset="0"/>
              </a:rPr>
              <a:t> </a:t>
            </a:r>
            <a:endParaRPr lang="en-US" sz="1400" b="1" dirty="0">
              <a:solidFill>
                <a:srgbClr val="000000"/>
              </a:solidFill>
              <a:cs typeface="Arial" panose="020B0604020202020204" pitchFamily="34" charset="0"/>
            </a:endParaRPr>
          </a:p>
        </p:txBody>
      </p:sp>
      <p:sp>
        <p:nvSpPr>
          <p:cNvPr id="14" name="Footer Placeholder 13">
            <a:extLst>
              <a:ext uri="{FF2B5EF4-FFF2-40B4-BE49-F238E27FC236}">
                <a16:creationId xmlns:a16="http://schemas.microsoft.com/office/drawing/2014/main" id="{D60C5DC0-406F-43E6-8790-D193ABD8F8BD}"/>
              </a:ext>
            </a:extLst>
          </p:cNvPr>
          <p:cNvSpPr>
            <a:spLocks noGrp="1"/>
          </p:cNvSpPr>
          <p:nvPr>
            <p:ph type="ftr" sz="quarter" idx="11"/>
          </p:nvPr>
        </p:nvSpPr>
        <p:spPr>
          <a:xfrm>
            <a:off x="12" y="6484338"/>
            <a:ext cx="9143999" cy="370577"/>
          </a:xfrm>
        </p:spPr>
        <p:txBody>
          <a:bodyPr/>
          <a:lstStyle/>
          <a:p>
            <a:pPr>
              <a:defRPr/>
            </a:pPr>
            <a:r>
              <a:rPr lang="en-US" dirty="0"/>
              <a:t>Copyright © 2022 McGraw Hill. All rights reserved. No reproduction or distribution without the prior written consent of McGraw Hill.</a:t>
            </a:r>
          </a:p>
        </p:txBody>
      </p:sp>
    </p:spTree>
    <p:extLst>
      <p:ext uri="{BB962C8B-B14F-4D97-AF65-F5344CB8AC3E}">
        <p14:creationId xmlns:p14="http://schemas.microsoft.com/office/powerpoint/2010/main" val="28789005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9D7577E-B423-4F62-A3FC-4657A91487D7}"/>
              </a:ext>
            </a:extLst>
          </p:cNvPr>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useBgFill="1">
        <p:nvSpPr>
          <p:cNvPr id="6" name="Rounded Rectangle 12">
            <a:extLst>
              <a:ext uri="{FF2B5EF4-FFF2-40B4-BE49-F238E27FC236}">
                <a16:creationId xmlns:a16="http://schemas.microsoft.com/office/drawing/2014/main" id="{7BCBF829-3263-404C-95B3-82E51463B0D6}"/>
              </a:ext>
            </a:extLst>
          </p:cNvPr>
          <p:cNvSpPr/>
          <p:nvPr userDrawn="1"/>
        </p:nvSpPr>
        <p:spPr>
          <a:xfrm>
            <a:off x="91722" y="100746"/>
            <a:ext cx="8960556" cy="6665668"/>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7" name="Rectangle 6">
            <a:extLst>
              <a:ext uri="{FF2B5EF4-FFF2-40B4-BE49-F238E27FC236}">
                <a16:creationId xmlns:a16="http://schemas.microsoft.com/office/drawing/2014/main" id="{BE2F9A80-02BD-4687-9D19-9D6364EAAD61}"/>
              </a:ext>
            </a:extLst>
          </p:cNvPr>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8" name="Rectangle 7">
            <a:extLst>
              <a:ext uri="{FF2B5EF4-FFF2-40B4-BE49-F238E27FC236}">
                <a16:creationId xmlns:a16="http://schemas.microsoft.com/office/drawing/2014/main" id="{C49B06ED-8DEE-4BC2-85C2-9E1470C46105}"/>
              </a:ext>
            </a:extLst>
          </p:cNvPr>
          <p:cNvSpPr/>
          <p:nvPr/>
        </p:nvSpPr>
        <p:spPr>
          <a:xfrm>
            <a:off x="762000" y="5029934"/>
            <a:ext cx="7600598" cy="1201615"/>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9" name="Rectangle 8">
            <a:extLst>
              <a:ext uri="{FF2B5EF4-FFF2-40B4-BE49-F238E27FC236}">
                <a16:creationId xmlns:a16="http://schemas.microsoft.com/office/drawing/2014/main" id="{93607757-2C17-4F20-BBC5-E1A86AB78378}"/>
              </a:ext>
            </a:extLst>
          </p:cNvPr>
          <p:cNvSpPr/>
          <p:nvPr/>
        </p:nvSpPr>
        <p:spPr>
          <a:xfrm>
            <a:off x="913700" y="5638069"/>
            <a:ext cx="7328959" cy="452438"/>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10" name="Rectangle 9">
            <a:extLst>
              <a:ext uri="{FF2B5EF4-FFF2-40B4-BE49-F238E27FC236}">
                <a16:creationId xmlns:a16="http://schemas.microsoft.com/office/drawing/2014/main" id="{48F65D59-5E5E-4723-A943-DB26C20680A7}"/>
              </a:ext>
            </a:extLst>
          </p:cNvPr>
          <p:cNvSpPr/>
          <p:nvPr/>
        </p:nvSpPr>
        <p:spPr>
          <a:xfrm>
            <a:off x="605020" y="5075727"/>
            <a:ext cx="7946319" cy="1097206"/>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rtlCol="0">
            <a:normAutofit/>
          </a:bodyPr>
          <a:lstStyle>
            <a:lvl1pPr marL="0" indent="0">
              <a:buNone/>
              <a:defRPr sz="3200"/>
            </a:lvl1pPr>
            <a:lvl2pPr marL="456976" indent="0">
              <a:buNone/>
              <a:defRPr sz="2800"/>
            </a:lvl2pPr>
            <a:lvl3pPr marL="913950" indent="0">
              <a:buNone/>
              <a:defRPr sz="2400"/>
            </a:lvl3pPr>
            <a:lvl4pPr marL="1370929" indent="0">
              <a:buNone/>
              <a:defRPr sz="2000"/>
            </a:lvl4pPr>
            <a:lvl5pPr marL="1827902" indent="0">
              <a:buNone/>
              <a:defRPr sz="2000"/>
            </a:lvl5pPr>
            <a:lvl6pPr marL="2284877" indent="0">
              <a:buNone/>
              <a:defRPr sz="2000"/>
            </a:lvl6pPr>
            <a:lvl7pPr marL="2741850" indent="0">
              <a:buNone/>
              <a:defRPr sz="2000"/>
            </a:lvl7pPr>
            <a:lvl8pPr marL="3198827" indent="0">
              <a:buNone/>
              <a:defRPr sz="2000"/>
            </a:lvl8pPr>
            <a:lvl9pPr marL="3655801"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956289" y="5656569"/>
            <a:ext cx="7244736" cy="401715"/>
          </a:xfrm>
        </p:spPr>
        <p:txBody>
          <a:bodyPr anchor="ctr">
            <a:normAutofit/>
          </a:bodyPr>
          <a:lstStyle>
            <a:lvl1pPr marL="0" indent="0" algn="ctr">
              <a:buNone/>
              <a:defRPr sz="1500" cap="all" spc="250" baseline="0">
                <a:solidFill>
                  <a:srgbClr val="FFFFFF"/>
                </a:solidFill>
              </a:defRPr>
            </a:lvl1pPr>
            <a:lvl2pPr marL="456976" indent="0">
              <a:buNone/>
              <a:defRPr sz="1200"/>
            </a:lvl2pPr>
            <a:lvl3pPr marL="913950" indent="0">
              <a:buNone/>
              <a:defRPr sz="1000"/>
            </a:lvl3pPr>
            <a:lvl4pPr marL="1370929" indent="0">
              <a:buNone/>
              <a:defRPr sz="900"/>
            </a:lvl4pPr>
            <a:lvl5pPr marL="1827902" indent="0">
              <a:buNone/>
              <a:defRPr sz="900"/>
            </a:lvl5pPr>
            <a:lvl6pPr marL="2284877" indent="0">
              <a:buNone/>
              <a:defRPr sz="900"/>
            </a:lvl6pPr>
            <a:lvl7pPr marL="2741850" indent="0">
              <a:buNone/>
              <a:defRPr sz="900"/>
            </a:lvl7pPr>
            <a:lvl8pPr marL="3198827" indent="0">
              <a:buNone/>
              <a:defRPr sz="900"/>
            </a:lvl8pPr>
            <a:lvl9pPr marL="3655801" indent="0">
              <a:buNone/>
              <a:defRPr sz="900"/>
            </a:lvl9pPr>
          </a:lstStyle>
          <a:p>
            <a:pPr lvl="0"/>
            <a:r>
              <a:rPr lang="en-US"/>
              <a:t>Click to edit Master text styles</a:t>
            </a:r>
          </a:p>
        </p:txBody>
      </p:sp>
      <p:sp>
        <p:nvSpPr>
          <p:cNvPr id="2" name="Title 1"/>
          <p:cNvSpPr>
            <a:spLocks noGrp="1"/>
          </p:cNvSpPr>
          <p:nvPr>
            <p:ph type="title"/>
          </p:nvPr>
        </p:nvSpPr>
        <p:spPr>
          <a:xfrm>
            <a:off x="914404" y="5105400"/>
            <a:ext cx="7328514" cy="523043"/>
          </a:xfrm>
        </p:spPr>
        <p:txBody>
          <a:bodyPr anchorCtr="0"/>
          <a:lstStyle>
            <a:lvl1pPr algn="ctr">
              <a:defRPr sz="2000" b="0">
                <a:solidFill>
                  <a:schemeClr val="accent1">
                    <a:lumMod val="75000"/>
                  </a:schemeClr>
                </a:solidFill>
              </a:defRPr>
            </a:lvl1pPr>
          </a:lstStyle>
          <a:p>
            <a:r>
              <a:rPr lang="en-US"/>
              <a:t>Click to edit Master title style</a:t>
            </a:r>
            <a:endParaRPr lang="en-US" dirty="0"/>
          </a:p>
        </p:txBody>
      </p:sp>
      <p:sp>
        <p:nvSpPr>
          <p:cNvPr id="14" name="Date Placeholder 13">
            <a:extLst>
              <a:ext uri="{FF2B5EF4-FFF2-40B4-BE49-F238E27FC236}">
                <a16:creationId xmlns:a16="http://schemas.microsoft.com/office/drawing/2014/main" id="{2BBFF0C4-0E6C-4774-B5E2-C164261F805A}"/>
              </a:ext>
            </a:extLst>
          </p:cNvPr>
          <p:cNvSpPr>
            <a:spLocks noGrp="1"/>
          </p:cNvSpPr>
          <p:nvPr>
            <p:ph type="dt" sz="half" idx="10"/>
          </p:nvPr>
        </p:nvSpPr>
        <p:spPr/>
        <p:txBody>
          <a:bodyPr/>
          <a:lstStyle/>
          <a:p>
            <a:pPr>
              <a:defRPr/>
            </a:pPr>
            <a:endParaRPr lang="en-US" dirty="0">
              <a:solidFill>
                <a:srgbClr val="303030"/>
              </a:solidFill>
            </a:endParaRPr>
          </a:p>
        </p:txBody>
      </p:sp>
      <p:sp>
        <p:nvSpPr>
          <p:cNvPr id="17" name="TextBox 16">
            <a:extLst>
              <a:ext uri="{FF2B5EF4-FFF2-40B4-BE49-F238E27FC236}">
                <a16:creationId xmlns:a16="http://schemas.microsoft.com/office/drawing/2014/main" id="{627A2AC7-05CE-432E-81CA-42A8CB27E791}"/>
              </a:ext>
            </a:extLst>
          </p:cNvPr>
          <p:cNvSpPr txBox="1"/>
          <p:nvPr userDrawn="1"/>
        </p:nvSpPr>
        <p:spPr>
          <a:xfrm>
            <a:off x="8037688" y="6299470"/>
            <a:ext cx="1106312" cy="275070"/>
          </a:xfrm>
          <a:prstGeom prst="rect">
            <a:avLst/>
          </a:prstGeom>
          <a:noFill/>
        </p:spPr>
        <p:txBody>
          <a:bodyPr wrap="square" lIns="103195" tIns="51598" rIns="103195" bIns="51598" rtlCol="0">
            <a:noAutofit/>
          </a:bodyPr>
          <a:lstStyle/>
          <a:p>
            <a:pPr algn="r"/>
            <a:r>
              <a:rPr lang="en-US" sz="1400" b="1" dirty="0">
                <a:solidFill>
                  <a:srgbClr val="000000"/>
                </a:solidFill>
                <a:cs typeface="Arial" panose="020B0604020202020204" pitchFamily="34" charset="0"/>
              </a:rPr>
              <a:t>1-</a:t>
            </a:r>
            <a:fld id="{AF5E6115-7E53-4F48-B2EA-EF37AED32C51}" type="slidenum">
              <a:rPr lang="en-US" altLang="en-US" sz="1400" b="1" smtClean="0">
                <a:solidFill>
                  <a:srgbClr val="000000"/>
                </a:solidFill>
                <a:cs typeface="Arial" panose="020B0604020202020204" pitchFamily="34" charset="0"/>
              </a:rPr>
              <a:pPr algn="r"/>
              <a:t>‹#›</a:t>
            </a:fld>
            <a:r>
              <a:rPr lang="en-US" altLang="en-US" sz="1400" b="1" dirty="0">
                <a:solidFill>
                  <a:srgbClr val="000000"/>
                </a:solidFill>
                <a:cs typeface="Arial" panose="020B0604020202020204" pitchFamily="34" charset="0"/>
              </a:rPr>
              <a:t> </a:t>
            </a:r>
            <a:endParaRPr lang="en-US" sz="1400" b="1" dirty="0">
              <a:solidFill>
                <a:srgbClr val="000000"/>
              </a:solidFill>
              <a:cs typeface="Arial" panose="020B0604020202020204" pitchFamily="34" charset="0"/>
            </a:endParaRPr>
          </a:p>
        </p:txBody>
      </p:sp>
      <p:sp>
        <p:nvSpPr>
          <p:cNvPr id="16" name="Footer Placeholder 15">
            <a:extLst>
              <a:ext uri="{FF2B5EF4-FFF2-40B4-BE49-F238E27FC236}">
                <a16:creationId xmlns:a16="http://schemas.microsoft.com/office/drawing/2014/main" id="{38116A08-A521-4E36-B22F-753626FBF287}"/>
              </a:ext>
            </a:extLst>
          </p:cNvPr>
          <p:cNvSpPr>
            <a:spLocks noGrp="1"/>
          </p:cNvSpPr>
          <p:nvPr>
            <p:ph type="ftr" sz="quarter" idx="11"/>
          </p:nvPr>
        </p:nvSpPr>
        <p:spPr>
          <a:xfrm>
            <a:off x="12" y="6484338"/>
            <a:ext cx="9143999" cy="370577"/>
          </a:xfrm>
        </p:spPr>
        <p:txBody>
          <a:bodyPr/>
          <a:lstStyle/>
          <a:p>
            <a:pPr>
              <a:defRPr/>
            </a:pPr>
            <a:r>
              <a:rPr lang="en-US" dirty="0"/>
              <a:t>Copyright © 2022 McGraw Hill. All rights reserved. No reproduction or distribution without the prior written consent of McGraw Hill.</a:t>
            </a:r>
          </a:p>
        </p:txBody>
      </p:sp>
    </p:spTree>
    <p:extLst>
      <p:ext uri="{BB962C8B-B14F-4D97-AF65-F5344CB8AC3E}">
        <p14:creationId xmlns:p14="http://schemas.microsoft.com/office/powerpoint/2010/main" val="32812013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FBA7D6C8-9EA9-42D1-9F97-DE9A128FB5FB}"/>
              </a:ext>
            </a:extLst>
          </p:cNvPr>
          <p:cNvSpPr>
            <a:spLocks noGrp="1"/>
          </p:cNvSpPr>
          <p:nvPr>
            <p:ph type="dt" sz="half" idx="10"/>
          </p:nvPr>
        </p:nvSpPr>
        <p:spPr/>
        <p:txBody>
          <a:bodyPr/>
          <a:lstStyle/>
          <a:p>
            <a:pPr>
              <a:defRPr/>
            </a:pPr>
            <a:endParaRPr lang="en-US" dirty="0">
              <a:solidFill>
                <a:srgbClr val="303030"/>
              </a:solidFill>
            </a:endParaRPr>
          </a:p>
        </p:txBody>
      </p:sp>
      <p:sp>
        <p:nvSpPr>
          <p:cNvPr id="6" name="Footer Placeholder 5">
            <a:extLst>
              <a:ext uri="{FF2B5EF4-FFF2-40B4-BE49-F238E27FC236}">
                <a16:creationId xmlns:a16="http://schemas.microsoft.com/office/drawing/2014/main" id="{6180B480-A529-405D-B546-249EFAEA6E0D}"/>
              </a:ext>
            </a:extLst>
          </p:cNvPr>
          <p:cNvSpPr>
            <a:spLocks noGrp="1"/>
          </p:cNvSpPr>
          <p:nvPr>
            <p:ph type="ftr" sz="quarter" idx="11"/>
          </p:nvPr>
        </p:nvSpPr>
        <p:spPr/>
        <p:txBody>
          <a:bodyPr/>
          <a:lstStyle/>
          <a:p>
            <a:pPr>
              <a:defRPr/>
            </a:pPr>
            <a:r>
              <a:rPr lang="en-US" dirty="0"/>
              <a:t>Copyright © 2022 McGraw Hill. All rights reserved. No reproduction or distribution without the prior written consent of McGraw Hill.</a:t>
            </a:r>
          </a:p>
        </p:txBody>
      </p:sp>
      <p:sp>
        <p:nvSpPr>
          <p:cNvPr id="11" name="Title 10">
            <a:extLst>
              <a:ext uri="{FF2B5EF4-FFF2-40B4-BE49-F238E27FC236}">
                <a16:creationId xmlns:a16="http://schemas.microsoft.com/office/drawing/2014/main" id="{3A53E416-B97C-4CEC-892D-01344015A36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774413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862681-A1FC-4F84-8096-59F944E702BB}"/>
              </a:ext>
            </a:extLst>
          </p:cNvPr>
          <p:cNvSpPr/>
          <p:nvPr/>
        </p:nvSpPr>
        <p:spPr>
          <a:xfrm>
            <a:off x="6861538" y="228971"/>
            <a:ext cx="1859139" cy="612164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defTabSz="913950" eaLnBrk="1" hangingPunct="1">
              <a:defRPr/>
            </a:pPr>
            <a:endParaRPr lang="en-US" sz="1800" dirty="0">
              <a:solidFill>
                <a:prstClr val="white"/>
              </a:solidFill>
            </a:endParaRPr>
          </a:p>
        </p:txBody>
      </p:sp>
      <p:sp>
        <p:nvSpPr>
          <p:cNvPr id="5" name="Rectangle 4">
            <a:extLst>
              <a:ext uri="{FF2B5EF4-FFF2-40B4-BE49-F238E27FC236}">
                <a16:creationId xmlns:a16="http://schemas.microsoft.com/office/drawing/2014/main" id="{E6EBEECC-F7DB-49F1-B216-C32E10067E14}"/>
              </a:ext>
            </a:extLst>
          </p:cNvPr>
          <p:cNvSpPr/>
          <p:nvPr/>
        </p:nvSpPr>
        <p:spPr>
          <a:xfrm>
            <a:off x="6955014" y="351692"/>
            <a:ext cx="1672167" cy="5876192"/>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391" tIns="45695" rIns="91391" bIns="45695" anchor="ctr"/>
          <a:lstStyle/>
          <a:p>
            <a:pPr algn="ctr">
              <a:defRPr/>
            </a:pPr>
            <a:endParaRPr lang="en-US" dirty="0">
              <a:solidFill>
                <a:prstClr val="white"/>
              </a:solidFill>
            </a:endParaRPr>
          </a:p>
        </p:txBody>
      </p:sp>
      <p:sp>
        <p:nvSpPr>
          <p:cNvPr id="2" name="Vertical Title 1"/>
          <p:cNvSpPr>
            <a:spLocks noGrp="1"/>
          </p:cNvSpPr>
          <p:nvPr>
            <p:ph type="title" orient="vert"/>
          </p:nvPr>
        </p:nvSpPr>
        <p:spPr>
          <a:xfrm>
            <a:off x="7048580" y="395440"/>
            <a:ext cx="1485531" cy="578898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381012"/>
            <a:ext cx="6172200" cy="57912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0">
            <a:extLst>
              <a:ext uri="{FF2B5EF4-FFF2-40B4-BE49-F238E27FC236}">
                <a16:creationId xmlns:a16="http://schemas.microsoft.com/office/drawing/2014/main" id="{AA1DC672-7E4C-4E9F-812A-3A0CF5EC9011}"/>
              </a:ext>
            </a:extLst>
          </p:cNvPr>
          <p:cNvSpPr>
            <a:spLocks noGrp="1"/>
          </p:cNvSpPr>
          <p:nvPr>
            <p:ph type="dt" sz="half" idx="10"/>
          </p:nvPr>
        </p:nvSpPr>
        <p:spPr/>
        <p:txBody>
          <a:bodyPr/>
          <a:lstStyle/>
          <a:p>
            <a:pPr>
              <a:defRPr/>
            </a:pPr>
            <a:endParaRPr lang="en-US" dirty="0">
              <a:solidFill>
                <a:srgbClr val="303030"/>
              </a:solidFill>
            </a:endParaRPr>
          </a:p>
        </p:txBody>
      </p:sp>
      <p:sp>
        <p:nvSpPr>
          <p:cNvPr id="13" name="TextBox 12">
            <a:extLst>
              <a:ext uri="{FF2B5EF4-FFF2-40B4-BE49-F238E27FC236}">
                <a16:creationId xmlns:a16="http://schemas.microsoft.com/office/drawing/2014/main" id="{B62CB140-107E-42C6-8743-1CBC23C2C565}"/>
              </a:ext>
            </a:extLst>
          </p:cNvPr>
          <p:cNvSpPr txBox="1"/>
          <p:nvPr userDrawn="1"/>
        </p:nvSpPr>
        <p:spPr>
          <a:xfrm>
            <a:off x="8037688" y="6299470"/>
            <a:ext cx="1106312" cy="275070"/>
          </a:xfrm>
          <a:prstGeom prst="rect">
            <a:avLst/>
          </a:prstGeom>
          <a:noFill/>
        </p:spPr>
        <p:txBody>
          <a:bodyPr wrap="square" lIns="103195" tIns="51598" rIns="103195" bIns="51598" rtlCol="0">
            <a:noAutofit/>
          </a:bodyPr>
          <a:lstStyle/>
          <a:p>
            <a:pPr algn="r"/>
            <a:r>
              <a:rPr lang="en-US" sz="1400" b="1" dirty="0">
                <a:solidFill>
                  <a:srgbClr val="000000"/>
                </a:solidFill>
                <a:cs typeface="Arial" panose="020B0604020202020204" pitchFamily="34" charset="0"/>
              </a:rPr>
              <a:t>1-</a:t>
            </a:r>
            <a:fld id="{AF5E6115-7E53-4F48-B2EA-EF37AED32C51}" type="slidenum">
              <a:rPr lang="en-US" altLang="en-US" sz="1400" b="1" smtClean="0">
                <a:solidFill>
                  <a:srgbClr val="000000"/>
                </a:solidFill>
                <a:cs typeface="Arial" panose="020B0604020202020204" pitchFamily="34" charset="0"/>
              </a:rPr>
              <a:pPr algn="r"/>
              <a:t>‹#›</a:t>
            </a:fld>
            <a:r>
              <a:rPr lang="en-US" altLang="en-US" sz="1400" b="1" dirty="0">
                <a:solidFill>
                  <a:srgbClr val="000000"/>
                </a:solidFill>
                <a:cs typeface="Arial" panose="020B0604020202020204" pitchFamily="34" charset="0"/>
              </a:rPr>
              <a:t> </a:t>
            </a:r>
            <a:endParaRPr lang="en-US" sz="1400" b="1" dirty="0">
              <a:solidFill>
                <a:srgbClr val="000000"/>
              </a:solidFill>
              <a:cs typeface="Arial" panose="020B0604020202020204" pitchFamily="34" charset="0"/>
            </a:endParaRPr>
          </a:p>
        </p:txBody>
      </p:sp>
      <p:sp>
        <p:nvSpPr>
          <p:cNvPr id="8" name="Footer Placeholder 7">
            <a:extLst>
              <a:ext uri="{FF2B5EF4-FFF2-40B4-BE49-F238E27FC236}">
                <a16:creationId xmlns:a16="http://schemas.microsoft.com/office/drawing/2014/main" id="{2138B0B6-A50E-4DE8-8E7B-C44C28D049CB}"/>
              </a:ext>
            </a:extLst>
          </p:cNvPr>
          <p:cNvSpPr>
            <a:spLocks noGrp="1"/>
          </p:cNvSpPr>
          <p:nvPr>
            <p:ph type="ftr" sz="quarter" idx="11"/>
          </p:nvPr>
        </p:nvSpPr>
        <p:spPr>
          <a:xfrm>
            <a:off x="12" y="6484338"/>
            <a:ext cx="9143999" cy="370577"/>
          </a:xfrm>
        </p:spPr>
        <p:txBody>
          <a:bodyPr/>
          <a:lstStyle/>
          <a:p>
            <a:pPr>
              <a:defRPr/>
            </a:pPr>
            <a:r>
              <a:rPr lang="en-US" dirty="0"/>
              <a:t>Copyright © 2022 McGraw Hill. All rights reserved. No reproduction or distribution without the prior written consent of McGraw Hill.</a:t>
            </a:r>
          </a:p>
        </p:txBody>
      </p:sp>
    </p:spTree>
    <p:extLst>
      <p:ext uri="{BB962C8B-B14F-4D97-AF65-F5344CB8AC3E}">
        <p14:creationId xmlns:p14="http://schemas.microsoft.com/office/powerpoint/2010/main" val="3430991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B48DDB-BBEB-41A8-9137-274ABDA4301D}"/>
              </a:ext>
            </a:extLst>
          </p:cNvPr>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00" tIns="45700" rIns="91400" bIns="45700" anchor="ctr"/>
          <a:lstStyle/>
          <a:p>
            <a:pPr algn="ctr">
              <a:defRPr/>
            </a:pPr>
            <a:endParaRPr lang="en-US" dirty="0">
              <a:solidFill>
                <a:prstClr val="white"/>
              </a:solidFill>
            </a:endParaRPr>
          </a:p>
        </p:txBody>
      </p:sp>
      <p:sp>
        <p:nvSpPr>
          <p:cNvPr id="7" name="Rounded Rectangle 6">
            <a:extLst>
              <a:ext uri="{FF2B5EF4-FFF2-40B4-BE49-F238E27FC236}">
                <a16:creationId xmlns:a16="http://schemas.microsoft.com/office/drawing/2014/main" id="{6814E75C-B153-41AB-BD37-47EC57E1A410}"/>
              </a:ext>
            </a:extLst>
          </p:cNvPr>
          <p:cNvSpPr/>
          <p:nvPr/>
        </p:nvSpPr>
        <p:spPr>
          <a:xfrm>
            <a:off x="1568107" y="120904"/>
            <a:ext cx="7494763" cy="6663837"/>
          </a:xfrm>
          <a:prstGeom prst="roundRect">
            <a:avLst>
              <a:gd name="adj" fmla="val 1735"/>
            </a:avLst>
          </a:prstGeom>
          <a:solidFill>
            <a:schemeClr val="bg1"/>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91400" tIns="45700" rIns="91400" bIns="45700" anchor="ctr"/>
          <a:lstStyle/>
          <a:p>
            <a:pPr algn="ctr">
              <a:defRPr/>
            </a:pPr>
            <a:endParaRPr lang="en-US" dirty="0">
              <a:solidFill>
                <a:prstClr val="white"/>
              </a:solidFill>
            </a:endParaRPr>
          </a:p>
        </p:txBody>
      </p:sp>
      <p:sp>
        <p:nvSpPr>
          <p:cNvPr id="1028" name="Text Placeholder 2">
            <a:extLst>
              <a:ext uri="{FF2B5EF4-FFF2-40B4-BE49-F238E27FC236}">
                <a16:creationId xmlns:a16="http://schemas.microsoft.com/office/drawing/2014/main" id="{2ADCB421-ED7D-4ACB-8CF3-8FBDB016E78A}"/>
              </a:ext>
            </a:extLst>
          </p:cNvPr>
          <p:cNvSpPr>
            <a:spLocks noGrp="1"/>
          </p:cNvSpPr>
          <p:nvPr>
            <p:ph type="body" idx="1"/>
          </p:nvPr>
        </p:nvSpPr>
        <p:spPr bwMode="auto">
          <a:xfrm>
            <a:off x="636764" y="1752968"/>
            <a:ext cx="8117416" cy="437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0" rIns="91400" bIns="4570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a:extLst>
              <a:ext uri="{FF2B5EF4-FFF2-40B4-BE49-F238E27FC236}">
                <a16:creationId xmlns:a16="http://schemas.microsoft.com/office/drawing/2014/main" id="{143D126E-6195-436B-A8D0-20E41CE061E5}"/>
              </a:ext>
            </a:extLst>
          </p:cNvPr>
          <p:cNvSpPr>
            <a:spLocks noGrp="1"/>
          </p:cNvSpPr>
          <p:nvPr>
            <p:ph type="dt" sz="half" idx="2"/>
          </p:nvPr>
        </p:nvSpPr>
        <p:spPr>
          <a:xfrm>
            <a:off x="456848" y="6356116"/>
            <a:ext cx="2134306" cy="364515"/>
          </a:xfrm>
          <a:prstGeom prst="rect">
            <a:avLst/>
          </a:prstGeom>
        </p:spPr>
        <p:txBody>
          <a:bodyPr vert="horz" lIns="91400" tIns="45700" rIns="91400" bIns="45700" rtlCol="0" anchor="ctr"/>
          <a:lstStyle>
            <a:lvl1pPr algn="l">
              <a:defRPr sz="1200">
                <a:solidFill>
                  <a:schemeClr val="tx2"/>
                </a:solidFill>
                <a:latin typeface="Arial" charset="0"/>
              </a:defRPr>
            </a:lvl1pPr>
          </a:lstStyle>
          <a:p>
            <a:pPr>
              <a:defRPr/>
            </a:pPr>
            <a:endParaRPr lang="en-US" dirty="0">
              <a:solidFill>
                <a:srgbClr val="303030"/>
              </a:solidFill>
            </a:endParaRPr>
          </a:p>
        </p:txBody>
      </p:sp>
      <p:sp>
        <p:nvSpPr>
          <p:cNvPr id="5" name="Footer Placeholder 4">
            <a:extLst>
              <a:ext uri="{FF2B5EF4-FFF2-40B4-BE49-F238E27FC236}">
                <a16:creationId xmlns:a16="http://schemas.microsoft.com/office/drawing/2014/main" id="{41172387-F0D8-4AC7-B5B5-B46F5E459F8F}"/>
              </a:ext>
            </a:extLst>
          </p:cNvPr>
          <p:cNvSpPr>
            <a:spLocks noGrp="1"/>
          </p:cNvSpPr>
          <p:nvPr>
            <p:ph type="ftr" sz="quarter" idx="3"/>
          </p:nvPr>
        </p:nvSpPr>
        <p:spPr>
          <a:xfrm>
            <a:off x="456848" y="6484337"/>
            <a:ext cx="8687152" cy="370577"/>
          </a:xfrm>
          <a:prstGeom prst="rect">
            <a:avLst/>
          </a:prstGeom>
        </p:spPr>
        <p:txBody>
          <a:bodyPr vert="horz" lIns="91400" tIns="45700" rIns="91400" bIns="45700" rtlCol="0" anchor="ctr"/>
          <a:lstStyle>
            <a:lvl1pPr algn="ctr">
              <a:defRPr sz="900" b="1" i="1" baseline="0">
                <a:solidFill>
                  <a:srgbClr val="000000"/>
                </a:solidFill>
                <a:latin typeface="Arial" panose="020B0604020202020204" pitchFamily="34" charset="0"/>
                <a:cs typeface="Arial" panose="020B0604020202020204" pitchFamily="34" charset="0"/>
              </a:defRPr>
            </a:lvl1pPr>
          </a:lstStyle>
          <a:p>
            <a:pPr>
              <a:defRPr/>
            </a:pPr>
            <a:r>
              <a:rPr lang="en-US" dirty="0"/>
              <a:t>Copyright © 2022 McGraw Hill. All rights reserved. No reproduction or distribution without the prior written consent of McGraw Hill.</a:t>
            </a:r>
          </a:p>
        </p:txBody>
      </p:sp>
      <p:sp>
        <p:nvSpPr>
          <p:cNvPr id="9" name="Rectangle 8">
            <a:extLst>
              <a:ext uri="{FF2B5EF4-FFF2-40B4-BE49-F238E27FC236}">
                <a16:creationId xmlns:a16="http://schemas.microsoft.com/office/drawing/2014/main" id="{D5E553C3-61E4-4E9B-8D06-790DD1A2A293}"/>
              </a:ext>
            </a:extLst>
          </p:cNvPr>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00" tIns="45700" rIns="91400" bIns="45700" anchor="ctr"/>
          <a:lstStyle/>
          <a:p>
            <a:pPr algn="ctr" defTabSz="914032" eaLnBrk="1" hangingPunct="1">
              <a:defRPr/>
            </a:pPr>
            <a:endParaRPr lang="en-US" dirty="0">
              <a:solidFill>
                <a:prstClr val="white"/>
              </a:solidFill>
            </a:endParaRPr>
          </a:p>
        </p:txBody>
      </p:sp>
      <p:sp>
        <p:nvSpPr>
          <p:cNvPr id="2" name="Title Placeholder 1">
            <a:extLst>
              <a:ext uri="{FF2B5EF4-FFF2-40B4-BE49-F238E27FC236}">
                <a16:creationId xmlns:a16="http://schemas.microsoft.com/office/drawing/2014/main" id="{3B2430BC-BD61-42F9-AD93-6A6DBA9C643B}"/>
              </a:ext>
            </a:extLst>
          </p:cNvPr>
          <p:cNvSpPr>
            <a:spLocks noGrp="1"/>
          </p:cNvSpPr>
          <p:nvPr>
            <p:ph type="title"/>
          </p:nvPr>
        </p:nvSpPr>
        <p:spPr>
          <a:xfrm>
            <a:off x="636764" y="373677"/>
            <a:ext cx="8117416" cy="1117356"/>
          </a:xfrm>
          <a:prstGeom prst="rect">
            <a:avLst/>
          </a:prstGeom>
          <a:noFill/>
        </p:spPr>
        <p:txBody>
          <a:bodyPr vert="horz" lIns="91400" tIns="45700" rIns="91400" bIns="45700" rtlCol="0" anchor="ctr" anchorCtr="1">
            <a:noAutofit/>
          </a:bodyPr>
          <a:lstStyle/>
          <a:p>
            <a:r>
              <a:rPr lang="en-US" dirty="0"/>
              <a:t>Click to edit Master title style</a:t>
            </a:r>
          </a:p>
        </p:txBody>
      </p:sp>
      <p:sp>
        <p:nvSpPr>
          <p:cNvPr id="3" name="TextBox 2">
            <a:extLst>
              <a:ext uri="{FF2B5EF4-FFF2-40B4-BE49-F238E27FC236}">
                <a16:creationId xmlns:a16="http://schemas.microsoft.com/office/drawing/2014/main" id="{1D513279-647F-4E89-8523-4E5DBDD14C94}"/>
              </a:ext>
            </a:extLst>
          </p:cNvPr>
          <p:cNvSpPr txBox="1"/>
          <p:nvPr userDrawn="1"/>
        </p:nvSpPr>
        <p:spPr>
          <a:xfrm>
            <a:off x="8037688" y="6299470"/>
            <a:ext cx="1106312" cy="275070"/>
          </a:xfrm>
          <a:prstGeom prst="rect">
            <a:avLst/>
          </a:prstGeom>
          <a:noFill/>
        </p:spPr>
        <p:txBody>
          <a:bodyPr wrap="square" lIns="103200" tIns="51600" rIns="103200" bIns="51600" rtlCol="0">
            <a:noAutofit/>
          </a:bodyPr>
          <a:lstStyle/>
          <a:p>
            <a:pPr algn="r"/>
            <a:r>
              <a:rPr lang="en-US" sz="1400" b="1" dirty="0">
                <a:solidFill>
                  <a:srgbClr val="000000"/>
                </a:solidFill>
                <a:cs typeface="Arial" panose="020B0604020202020204" pitchFamily="34" charset="0"/>
              </a:rPr>
              <a:t>1-</a:t>
            </a:r>
            <a:fld id="{AF5E6115-7E53-4F48-B2EA-EF37AED32C51}" type="slidenum">
              <a:rPr lang="en-US" altLang="en-US" sz="1400" b="1" smtClean="0">
                <a:solidFill>
                  <a:srgbClr val="000000"/>
                </a:solidFill>
                <a:cs typeface="Arial" panose="020B0604020202020204" pitchFamily="34" charset="0"/>
              </a:rPr>
              <a:pPr algn="r"/>
              <a:t>‹#›</a:t>
            </a:fld>
            <a:r>
              <a:rPr lang="en-US" altLang="en-US" sz="1400" b="1" dirty="0">
                <a:solidFill>
                  <a:srgbClr val="000000"/>
                </a:solidFill>
                <a:cs typeface="Arial" panose="020B0604020202020204" pitchFamily="34" charset="0"/>
              </a:rPr>
              <a:t> </a:t>
            </a:r>
            <a:endParaRPr lang="en-US" sz="1400" b="1" dirty="0">
              <a:solidFill>
                <a:srgbClr val="000000"/>
              </a:solidFill>
              <a:cs typeface="Arial" panose="020B0604020202020204" pitchFamily="34" charset="0"/>
            </a:endParaRPr>
          </a:p>
        </p:txBody>
      </p:sp>
      <p:sp>
        <p:nvSpPr>
          <p:cNvPr id="11" name="Rectangle 10">
            <a:extLst>
              <a:ext uri="{FF2B5EF4-FFF2-40B4-BE49-F238E27FC236}">
                <a16:creationId xmlns:a16="http://schemas.microsoft.com/office/drawing/2014/main" id="{0B887861-95E1-4288-A9B0-13309EE8B21C}"/>
              </a:ext>
            </a:extLst>
          </p:cNvPr>
          <p:cNvSpPr/>
          <p:nvPr userDrawn="1"/>
        </p:nvSpPr>
        <p:spPr>
          <a:xfrm>
            <a:off x="636771" y="373677"/>
            <a:ext cx="8117417" cy="1117356"/>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400" tIns="45700" rIns="91400" bIns="45700" anchor="ctr"/>
          <a:lstStyle/>
          <a:p>
            <a:pPr algn="ctr">
              <a:defRPr/>
            </a:pPr>
            <a:endParaRPr lang="en-US" dirty="0">
              <a:solidFill>
                <a:prstClr val="white"/>
              </a:solidFill>
            </a:endParaRPr>
          </a:p>
        </p:txBody>
      </p:sp>
      <p:pic>
        <p:nvPicPr>
          <p:cNvPr id="12" name="Picture 11">
            <a:extLst>
              <a:ext uri="{FF2B5EF4-FFF2-40B4-BE49-F238E27FC236}">
                <a16:creationId xmlns:a16="http://schemas.microsoft.com/office/drawing/2014/main" id="{68DB97BF-8AF8-40E1-8EBD-08DE823AACCF}"/>
              </a:ext>
            </a:extLst>
          </p:cNvPr>
          <p:cNvPicPr>
            <a:picLocks noChangeAspect="1"/>
          </p:cNvPicPr>
          <p:nvPr userDrawn="1"/>
        </p:nvPicPr>
        <p:blipFill>
          <a:blip r:embed="rId14"/>
          <a:stretch>
            <a:fillRect/>
          </a:stretch>
        </p:blipFill>
        <p:spPr>
          <a:xfrm>
            <a:off x="43945" y="0"/>
            <a:ext cx="345867" cy="6784741"/>
          </a:xfrm>
          <a:prstGeom prst="rect">
            <a:avLst/>
          </a:prstGeom>
        </p:spPr>
      </p:pic>
    </p:spTree>
    <p:extLst>
      <p:ext uri="{BB962C8B-B14F-4D97-AF65-F5344CB8AC3E}">
        <p14:creationId xmlns:p14="http://schemas.microsoft.com/office/powerpoint/2010/main" val="33554828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defTabSz="913740" rtl="0" eaLnBrk="0" fontAlgn="base" hangingPunct="0">
        <a:spcBef>
          <a:spcPct val="0"/>
        </a:spcBef>
        <a:spcAft>
          <a:spcPct val="0"/>
        </a:spcAft>
        <a:defRPr sz="4100" kern="1200" cap="all">
          <a:solidFill>
            <a:srgbClr val="BF2600"/>
          </a:solidFill>
          <a:latin typeface="+mj-lt"/>
          <a:ea typeface="+mj-ea"/>
          <a:cs typeface="+mj-cs"/>
        </a:defRPr>
      </a:lvl1pPr>
      <a:lvl2pPr algn="ctr" defTabSz="913740" rtl="0" eaLnBrk="0" fontAlgn="base" hangingPunct="0">
        <a:spcBef>
          <a:spcPct val="0"/>
        </a:spcBef>
        <a:spcAft>
          <a:spcPct val="0"/>
        </a:spcAft>
        <a:defRPr sz="3500">
          <a:solidFill>
            <a:srgbClr val="BF2600"/>
          </a:solidFill>
          <a:latin typeface="Book Antiqua" panose="02040602050305030304" pitchFamily="18" charset="0"/>
        </a:defRPr>
      </a:lvl2pPr>
      <a:lvl3pPr algn="ctr" defTabSz="913740" rtl="0" eaLnBrk="0" fontAlgn="base" hangingPunct="0">
        <a:spcBef>
          <a:spcPct val="0"/>
        </a:spcBef>
        <a:spcAft>
          <a:spcPct val="0"/>
        </a:spcAft>
        <a:defRPr sz="3500">
          <a:solidFill>
            <a:srgbClr val="BF2600"/>
          </a:solidFill>
          <a:latin typeface="Book Antiqua" panose="02040602050305030304" pitchFamily="18" charset="0"/>
        </a:defRPr>
      </a:lvl3pPr>
      <a:lvl4pPr algn="ctr" defTabSz="913740" rtl="0" eaLnBrk="0" fontAlgn="base" hangingPunct="0">
        <a:spcBef>
          <a:spcPct val="0"/>
        </a:spcBef>
        <a:spcAft>
          <a:spcPct val="0"/>
        </a:spcAft>
        <a:defRPr sz="3500">
          <a:solidFill>
            <a:srgbClr val="BF2600"/>
          </a:solidFill>
          <a:latin typeface="Book Antiqua" panose="02040602050305030304" pitchFamily="18" charset="0"/>
        </a:defRPr>
      </a:lvl4pPr>
      <a:lvl5pPr algn="ctr" defTabSz="913740" rtl="0" eaLnBrk="0" fontAlgn="base" hangingPunct="0">
        <a:spcBef>
          <a:spcPct val="0"/>
        </a:spcBef>
        <a:spcAft>
          <a:spcPct val="0"/>
        </a:spcAft>
        <a:defRPr sz="3500">
          <a:solidFill>
            <a:srgbClr val="BF2600"/>
          </a:solidFill>
          <a:latin typeface="Book Antiqua" panose="02040602050305030304" pitchFamily="18" charset="0"/>
        </a:defRPr>
      </a:lvl5pPr>
      <a:lvl6pPr marL="515995" algn="ctr" defTabSz="913740" rtl="0" fontAlgn="base">
        <a:spcBef>
          <a:spcPct val="0"/>
        </a:spcBef>
        <a:spcAft>
          <a:spcPct val="0"/>
        </a:spcAft>
        <a:defRPr sz="3500">
          <a:solidFill>
            <a:srgbClr val="BF2600"/>
          </a:solidFill>
          <a:latin typeface="Book Antiqua" panose="02040602050305030304" pitchFamily="18" charset="0"/>
        </a:defRPr>
      </a:lvl6pPr>
      <a:lvl7pPr marL="1031988" algn="ctr" defTabSz="913740" rtl="0" fontAlgn="base">
        <a:spcBef>
          <a:spcPct val="0"/>
        </a:spcBef>
        <a:spcAft>
          <a:spcPct val="0"/>
        </a:spcAft>
        <a:defRPr sz="3500">
          <a:solidFill>
            <a:srgbClr val="BF2600"/>
          </a:solidFill>
          <a:latin typeface="Book Antiqua" panose="02040602050305030304" pitchFamily="18" charset="0"/>
        </a:defRPr>
      </a:lvl7pPr>
      <a:lvl8pPr marL="1547976" algn="ctr" defTabSz="913740" rtl="0" fontAlgn="base">
        <a:spcBef>
          <a:spcPct val="0"/>
        </a:spcBef>
        <a:spcAft>
          <a:spcPct val="0"/>
        </a:spcAft>
        <a:defRPr sz="3500">
          <a:solidFill>
            <a:srgbClr val="BF2600"/>
          </a:solidFill>
          <a:latin typeface="Book Antiqua" panose="02040602050305030304" pitchFamily="18" charset="0"/>
        </a:defRPr>
      </a:lvl8pPr>
      <a:lvl9pPr marL="2063979" algn="ctr" defTabSz="913740" rtl="0" fontAlgn="base">
        <a:spcBef>
          <a:spcPct val="0"/>
        </a:spcBef>
        <a:spcAft>
          <a:spcPct val="0"/>
        </a:spcAft>
        <a:defRPr sz="3500">
          <a:solidFill>
            <a:srgbClr val="BF2600"/>
          </a:solidFill>
          <a:latin typeface="Book Antiqua" panose="02040602050305030304" pitchFamily="18" charset="0"/>
        </a:defRPr>
      </a:lvl9pPr>
    </p:titleStyle>
    <p:bodyStyle>
      <a:lvl1pPr marL="342204" indent="-227540" algn="l" defTabSz="913740" rtl="0" eaLnBrk="0" fontAlgn="base" hangingPunct="0">
        <a:spcBef>
          <a:spcPct val="20000"/>
        </a:spcBef>
        <a:spcAft>
          <a:spcPct val="0"/>
        </a:spcAft>
        <a:buClr>
          <a:schemeClr val="accent1"/>
        </a:buClr>
        <a:buFont typeface="Arial" panose="020B0604020202020204" pitchFamily="34" charset="0"/>
        <a:buChar char="•"/>
        <a:defRPr sz="2400" kern="1200">
          <a:solidFill>
            <a:schemeClr val="tx2"/>
          </a:solidFill>
          <a:latin typeface="+mn-lt"/>
          <a:ea typeface="+mn-ea"/>
          <a:cs typeface="+mn-cs"/>
        </a:defRPr>
      </a:lvl1pPr>
      <a:lvl2pPr marL="639618" indent="-227540" algn="l" defTabSz="913740" rtl="0" eaLnBrk="0" fontAlgn="base" hangingPunct="0">
        <a:spcBef>
          <a:spcPct val="20000"/>
        </a:spcBef>
        <a:spcAft>
          <a:spcPct val="0"/>
        </a:spcAft>
        <a:buClr>
          <a:schemeClr val="accent2"/>
        </a:buClr>
        <a:buFont typeface="Arial" panose="020B0604020202020204" pitchFamily="34" charset="0"/>
        <a:buChar char="•"/>
        <a:defRPr kern="1200">
          <a:solidFill>
            <a:schemeClr val="tx2"/>
          </a:solidFill>
          <a:latin typeface="+mn-lt"/>
          <a:ea typeface="+mn-ea"/>
          <a:cs typeface="+mn-cs"/>
        </a:defRPr>
      </a:lvl2pPr>
      <a:lvl3pPr marL="913740" indent="-227540" algn="l" defTabSz="913740" rtl="0" eaLnBrk="0" fontAlgn="base" hangingPunct="0">
        <a:spcBef>
          <a:spcPct val="20000"/>
        </a:spcBef>
        <a:spcAft>
          <a:spcPct val="0"/>
        </a:spcAft>
        <a:buClr>
          <a:srgbClr val="4A66AC"/>
        </a:buClr>
        <a:buFont typeface="Arial" panose="020B0604020202020204" pitchFamily="34" charset="0"/>
        <a:buChar char="•"/>
        <a:defRPr sz="1800" kern="1200">
          <a:solidFill>
            <a:schemeClr val="tx2"/>
          </a:solidFill>
          <a:latin typeface="+mn-lt"/>
          <a:ea typeface="+mn-ea"/>
          <a:cs typeface="+mn-cs"/>
        </a:defRPr>
      </a:lvl3pPr>
      <a:lvl4pPr marL="1279237" indent="-227540" algn="l" defTabSz="913740" rtl="0" eaLnBrk="0" fontAlgn="base" hangingPunct="0">
        <a:spcBef>
          <a:spcPct val="20000"/>
        </a:spcBef>
        <a:spcAft>
          <a:spcPct val="0"/>
        </a:spcAft>
        <a:buClr>
          <a:srgbClr val="008080"/>
        </a:buClr>
        <a:buFont typeface="Arial" panose="020B0604020202020204" pitchFamily="34" charset="0"/>
        <a:buChar char="•"/>
        <a:defRPr sz="1600" kern="1200">
          <a:solidFill>
            <a:schemeClr val="tx2"/>
          </a:solidFill>
          <a:latin typeface="+mn-lt"/>
          <a:ea typeface="+mn-ea"/>
          <a:cs typeface="+mn-cs"/>
        </a:defRPr>
      </a:lvl4pPr>
      <a:lvl5pPr marL="1553356" indent="-227540" algn="l" defTabSz="913740" rtl="0" eaLnBrk="0" fontAlgn="base" hangingPunct="0">
        <a:spcBef>
          <a:spcPct val="20000"/>
        </a:spcBef>
        <a:spcAft>
          <a:spcPct val="0"/>
        </a:spcAft>
        <a:buClr>
          <a:srgbClr val="5AA2AE"/>
        </a:buClr>
        <a:buFont typeface="Arial" panose="020B0604020202020204" pitchFamily="34" charset="0"/>
        <a:buChar char="•"/>
        <a:defRPr sz="1600" kern="1200">
          <a:solidFill>
            <a:schemeClr val="tx2"/>
          </a:solidFill>
          <a:latin typeface="+mn-lt"/>
          <a:ea typeface="+mn-ea"/>
          <a:cs typeface="+mn-cs"/>
        </a:defRPr>
      </a:lvl5pPr>
      <a:lvl6pPr marL="1736661" indent="-182804" algn="l" defTabSz="914032"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0872" indent="-182804" algn="l" defTabSz="914032"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3677" indent="-182804" algn="l" defTabSz="914032"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6485" indent="-182804" algn="l" defTabSz="914032"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032" rtl="0" eaLnBrk="1" latinLnBrk="0" hangingPunct="1">
        <a:defRPr sz="1800" kern="1200">
          <a:solidFill>
            <a:schemeClr val="tx1"/>
          </a:solidFill>
          <a:latin typeface="+mn-lt"/>
          <a:ea typeface="+mn-ea"/>
          <a:cs typeface="+mn-cs"/>
        </a:defRPr>
      </a:lvl1pPr>
      <a:lvl2pPr marL="457017" algn="l" defTabSz="914032" rtl="0" eaLnBrk="1" latinLnBrk="0" hangingPunct="1">
        <a:defRPr sz="1800" kern="1200">
          <a:solidFill>
            <a:schemeClr val="tx1"/>
          </a:solidFill>
          <a:latin typeface="+mn-lt"/>
          <a:ea typeface="+mn-ea"/>
          <a:cs typeface="+mn-cs"/>
        </a:defRPr>
      </a:lvl2pPr>
      <a:lvl3pPr marL="914032" algn="l" defTabSz="914032" rtl="0" eaLnBrk="1" latinLnBrk="0" hangingPunct="1">
        <a:defRPr sz="1800" kern="1200">
          <a:solidFill>
            <a:schemeClr val="tx1"/>
          </a:solidFill>
          <a:latin typeface="+mn-lt"/>
          <a:ea typeface="+mn-ea"/>
          <a:cs typeface="+mn-cs"/>
        </a:defRPr>
      </a:lvl3pPr>
      <a:lvl4pPr marL="1371051" algn="l" defTabSz="914032" rtl="0" eaLnBrk="1" latinLnBrk="0" hangingPunct="1">
        <a:defRPr sz="1800" kern="1200">
          <a:solidFill>
            <a:schemeClr val="tx1"/>
          </a:solidFill>
          <a:latin typeface="+mn-lt"/>
          <a:ea typeface="+mn-ea"/>
          <a:cs typeface="+mn-cs"/>
        </a:defRPr>
      </a:lvl4pPr>
      <a:lvl5pPr marL="1828066" algn="l" defTabSz="914032" rtl="0" eaLnBrk="1" latinLnBrk="0" hangingPunct="1">
        <a:defRPr sz="1800" kern="1200">
          <a:solidFill>
            <a:schemeClr val="tx1"/>
          </a:solidFill>
          <a:latin typeface="+mn-lt"/>
          <a:ea typeface="+mn-ea"/>
          <a:cs typeface="+mn-cs"/>
        </a:defRPr>
      </a:lvl5pPr>
      <a:lvl6pPr marL="2285081" algn="l" defTabSz="914032" rtl="0" eaLnBrk="1" latinLnBrk="0" hangingPunct="1">
        <a:defRPr sz="1800" kern="1200">
          <a:solidFill>
            <a:schemeClr val="tx1"/>
          </a:solidFill>
          <a:latin typeface="+mn-lt"/>
          <a:ea typeface="+mn-ea"/>
          <a:cs typeface="+mn-cs"/>
        </a:defRPr>
      </a:lvl6pPr>
      <a:lvl7pPr marL="2742095" algn="l" defTabSz="914032" rtl="0" eaLnBrk="1" latinLnBrk="0" hangingPunct="1">
        <a:defRPr sz="1800" kern="1200">
          <a:solidFill>
            <a:schemeClr val="tx1"/>
          </a:solidFill>
          <a:latin typeface="+mn-lt"/>
          <a:ea typeface="+mn-ea"/>
          <a:cs typeface="+mn-cs"/>
        </a:defRPr>
      </a:lvl7pPr>
      <a:lvl8pPr marL="3199113" algn="l" defTabSz="914032" rtl="0" eaLnBrk="1" latinLnBrk="0" hangingPunct="1">
        <a:defRPr sz="1800" kern="1200">
          <a:solidFill>
            <a:schemeClr val="tx1"/>
          </a:solidFill>
          <a:latin typeface="+mn-lt"/>
          <a:ea typeface="+mn-ea"/>
          <a:cs typeface="+mn-cs"/>
        </a:defRPr>
      </a:lvl8pPr>
      <a:lvl9pPr marL="3656128" algn="l" defTabSz="91403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2" Type="http://schemas.openxmlformats.org/officeDocument/2006/relationships/image" Target="../media/image29.tiff"/><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32.tif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Chapter 3: An Introduction to Portfolio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Covariance and Correlation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b="1" dirty="0"/>
                  <a:t>Covariance of Returns</a:t>
                </a:r>
                <a:r>
                  <a:rPr lang="en-US" dirty="0"/>
                  <a:t>: Covariance is a measure of the degree to which two variables move together relative to their individual mean values over time</a:t>
                </a:r>
              </a:p>
              <a:p>
                <a:pPr marL="0" indent="0" algn="ctr">
                  <a:buNone/>
                </a:pPr>
                <a:r>
                  <a:rPr kumimoji="0" lang="en-US" b="0" u="none" strike="noStrike" kern="1200" cap="none" spc="0" normalizeH="0" baseline="0" noProof="0" dirty="0">
                    <a:ln>
                      <a:noFill/>
                    </a:ln>
                    <a:solidFill>
                      <a:prstClr val="black"/>
                    </a:solidFill>
                    <a:effectLst/>
                    <a:uLnTx/>
                    <a:uFillTx/>
                    <a:latin typeface="Times New Roman"/>
                    <a:cs typeface="Times New Roman"/>
                  </a:rPr>
                  <a:t>cov(A,B)= </a:t>
                </a:r>
                <a14:m>
                  <m:oMath xmlns:m="http://schemas.openxmlformats.org/officeDocument/2006/math">
                    <m:f>
                      <m:fPr>
                        <m:ctrlP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ctrlPr>
                      </m:fPr>
                      <m:num>
                        <m:nary>
                          <m:naryPr>
                            <m:chr m:val="∑"/>
                            <m:subHide m:val="on"/>
                            <m:supHide m:val="on"/>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naryPr>
                          <m:sub/>
                          <m:sup/>
                          <m:e>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dPr>
                              <m:e>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sSubPr>
                                  <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R</m:t>
                                    </m:r>
                                  </m:e>
                                  <m:sub>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Ai</m:t>
                                    </m:r>
                                  </m:sub>
                                </m:sSub>
                                <m: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m:t>
                                </m:r>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E</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dPr>
                                  <m:e>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sSubPr>
                                      <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R</m:t>
                                        </m:r>
                                      </m:e>
                                      <m:sub>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A</m:t>
                                        </m:r>
                                      </m:sub>
                                    </m:sSub>
                                  </m:e>
                                </m:d>
                              </m:e>
                            </m:d>
                          </m:e>
                        </m:nary>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dPr>
                          <m:e>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sSubPr>
                              <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R</m:t>
                                </m:r>
                              </m:e>
                              <m:sub>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Bi</m:t>
                                </m:r>
                              </m:sub>
                            </m:sSub>
                            <m: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m:t>
                            </m:r>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E</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dPr>
                              <m:e>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sSubPr>
                                  <m:e>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R</m:t>
                                    </m:r>
                                  </m:e>
                                  <m:sub>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B</m:t>
                                    </m:r>
                                  </m:sub>
                                </m:sSub>
                              </m:e>
                            </m:d>
                          </m:e>
                        </m:d>
                      </m:num>
                      <m:den>
                        <m:r>
                          <m:rPr>
                            <m:sty m:val="p"/>
                          </m:rPr>
                          <a:rPr kumimoji="0" lang="en-US" b="0" i="0"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t>n</m:t>
                        </m:r>
                      </m:den>
                    </m:f>
                  </m:oMath>
                </a14:m>
                <a:endParaRPr sz="4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704" t="-1752" r="-1852"/>
                </a:stretch>
              </a:blipFill>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B21DA-27D3-533D-9E87-5E089CC0F7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7ED5F-4676-4EFD-F195-FC7E4053E487}"/>
              </a:ext>
            </a:extLst>
          </p:cNvPr>
          <p:cNvSpPr>
            <a:spLocks noGrp="1"/>
          </p:cNvSpPr>
          <p:nvPr>
            <p:ph type="title"/>
          </p:nvPr>
        </p:nvSpPr>
        <p:spPr/>
        <p:txBody>
          <a:bodyPr/>
          <a:lstStyle/>
          <a:p>
            <a:r>
              <a:t>Covariance and Correlation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F17B61-1AF8-618A-BF0B-21FDDAD2C500}"/>
                  </a:ext>
                </a:extLst>
              </p:cNvPr>
              <p:cNvSpPr>
                <a:spLocks noGrp="1"/>
              </p:cNvSpPr>
              <p:nvPr>
                <p:ph idx="1"/>
              </p:nvPr>
            </p:nvSpPr>
            <p:spPr/>
            <p:txBody>
              <a:bodyPr/>
              <a:lstStyle/>
              <a:p>
                <a:pPr algn="just"/>
                <a:r>
                  <a:rPr lang="en-US" b="1" dirty="0"/>
                  <a:t>Correlation</a:t>
                </a:r>
                <a:r>
                  <a:rPr lang="en-US" dirty="0"/>
                  <a:t>: Standardizing the covariance by the product of the individual standard deviations yields the correlation coefficient, which can vary only in the range -1 to 1.</a:t>
                </a:r>
              </a:p>
              <a:p>
                <a:pPr marL="0" indent="0" algn="ctr">
                  <a:buNone/>
                </a:pPr>
                <a14:m>
                  <m:oMath xmlns:m="http://schemas.openxmlformats.org/officeDocument/2006/math">
                    <m:sSub>
                      <m:sSubPr>
                        <m:ctrlP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ctrlPr>
                      </m:sSubPr>
                      <m:e>
                        <m:r>
                          <m:rPr>
                            <m:sty m:val="p"/>
                          </m:rPr>
                          <a:rPr kumimoji="0" lang="en-US" b="0" i="0"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t>r</m:t>
                        </m:r>
                      </m:e>
                      <m:sub>
                        <m:r>
                          <m:rPr>
                            <m:sty m:val="p"/>
                          </m:rPr>
                          <a:rPr kumimoji="0" lang="en-US" b="0" i="0"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t>AB</m:t>
                        </m:r>
                      </m:sub>
                    </m:sSub>
                    <m:r>
                      <a:rPr kumimoji="0" lang="en-US" b="0" i="0"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t>=</m:t>
                    </m:r>
                  </m:oMath>
                </a14:m>
                <a:r>
                  <a:rPr kumimoji="0" lang="en-US" b="0" u="none" strike="noStrike" kern="1200" cap="none" spc="0" normalizeH="0" baseline="0" noProof="0" dirty="0">
                    <a:ln>
                      <a:noFill/>
                    </a:ln>
                    <a:solidFill>
                      <a:prstClr val="black"/>
                    </a:solidFill>
                    <a:effectLst/>
                    <a:uLnTx/>
                    <a:uFillTx/>
                    <a:cs typeface="Times New Roman"/>
                  </a:rPr>
                  <a:t> </a:t>
                </a:r>
                <a14:m>
                  <m:oMath xmlns:m="http://schemas.openxmlformats.org/officeDocument/2006/math">
                    <m:f>
                      <m:fPr>
                        <m:ctrlP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ctrlPr>
                      </m:fPr>
                      <m:num>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cov</m:t>
                        </m:r>
                        <m: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m:t>
                        </m:r>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A</m:t>
                        </m:r>
                        <m: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m:t>
                        </m:r>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B</m:t>
                        </m:r>
                        <m: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m:t>
                        </m:r>
                      </m:num>
                      <m:den>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sSubPr>
                          <m:e>
                            <m:r>
                              <m:rPr>
                                <m:sty m:val="p"/>
                              </m:rPr>
                              <a:rPr kumimoji="0" lang="el-GR" b="0" i="0" u="none" strike="noStrike" kern="1200" cap="none" spc="0" normalizeH="0" baseline="0" noProof="0">
                                <a:ln>
                                  <a:noFill/>
                                </a:ln>
                                <a:solidFill>
                                  <a:prstClr val="black"/>
                                </a:solidFill>
                                <a:effectLst/>
                                <a:uLnTx/>
                                <a:uFillTx/>
                                <a:latin typeface="Cambria Math" panose="02040503050406030204" pitchFamily="18" charset="0"/>
                                <a:cs typeface="Times New Roman"/>
                              </a:rPr>
                              <m:t>σ</m:t>
                            </m:r>
                          </m:e>
                          <m:sub>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A</m:t>
                            </m:r>
                          </m:sub>
                        </m:sSub>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sSubPr>
                          <m:e>
                            <m:r>
                              <m:rPr>
                                <m:sty m:val="p"/>
                              </m:rPr>
                              <a:rPr kumimoji="0" lang="el-GR" b="0" i="0" u="none" strike="noStrike" kern="1200" cap="none" spc="0" normalizeH="0" baseline="0" noProof="0">
                                <a:ln>
                                  <a:noFill/>
                                </a:ln>
                                <a:solidFill>
                                  <a:prstClr val="black"/>
                                </a:solidFill>
                                <a:effectLst/>
                                <a:uLnTx/>
                                <a:uFillTx/>
                                <a:latin typeface="Cambria Math" panose="02040503050406030204" pitchFamily="18" charset="0"/>
                                <a:cs typeface="Times New Roman"/>
                              </a:rPr>
                              <m:t>σ</m:t>
                            </m:r>
                          </m:e>
                          <m:sub>
                            <m:r>
                              <m:rPr>
                                <m:sty m:val="p"/>
                              </m:rPr>
                              <a:rPr kumimoji="0" lang="en-US" b="0" i="0" u="none" strike="noStrike" kern="1200" cap="none" spc="0" normalizeH="0" baseline="0" noProof="0">
                                <a:ln>
                                  <a:noFill/>
                                </a:ln>
                                <a:solidFill>
                                  <a:prstClr val="black"/>
                                </a:solidFill>
                                <a:effectLst/>
                                <a:uLnTx/>
                                <a:uFillTx/>
                                <a:latin typeface="Cambria Math" panose="02040503050406030204" pitchFamily="18" charset="0"/>
                                <a:cs typeface="Times New Roman"/>
                              </a:rPr>
                              <m:t>B</m:t>
                            </m:r>
                          </m:sub>
                        </m:sSub>
                      </m:den>
                    </m:f>
                  </m:oMath>
                </a14:m>
                <a:endParaRPr lang="en-US" dirty="0"/>
              </a:p>
            </p:txBody>
          </p:sp>
        </mc:Choice>
        <mc:Fallback xmlns="">
          <p:sp>
            <p:nvSpPr>
              <p:cNvPr id="3" name="Content Placeholder 2">
                <a:extLst>
                  <a:ext uri="{FF2B5EF4-FFF2-40B4-BE49-F238E27FC236}">
                    <a16:creationId xmlns:a16="http://schemas.microsoft.com/office/drawing/2014/main" id="{DDF17B61-1AF8-618A-BF0B-21FDDAD2C500}"/>
                  </a:ext>
                </a:extLst>
              </p:cNvPr>
              <p:cNvSpPr>
                <a:spLocks noGrp="1" noRot="1" noChangeAspect="1" noMove="1" noResize="1" noEditPoints="1" noAdjustHandles="1" noChangeArrowheads="1" noChangeShapeType="1" noTextEdit="1"/>
              </p:cNvSpPr>
              <p:nvPr>
                <p:ph idx="1"/>
              </p:nvPr>
            </p:nvSpPr>
            <p:spPr>
              <a:blipFill>
                <a:blip r:embed="rId2"/>
                <a:stretch>
                  <a:fillRect l="-1704" t="-1752" r="-1852"/>
                </a:stretch>
              </a:blipFill>
            </p:spPr>
            <p:txBody>
              <a:bodyPr/>
              <a:lstStyle/>
              <a:p>
                <a:r>
                  <a:rPr lang="en-US">
                    <a:noFill/>
                  </a:rPr>
                  <a:t> </a:t>
                </a:r>
              </a:p>
            </p:txBody>
          </p:sp>
        </mc:Fallback>
      </mc:AlternateContent>
    </p:spTree>
    <p:extLst>
      <p:ext uri="{BB962C8B-B14F-4D97-AF65-F5344CB8AC3E}">
        <p14:creationId xmlns:p14="http://schemas.microsoft.com/office/powerpoint/2010/main" val="1146312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92014-435C-7CA8-A831-CDC7FC9FDE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66937A-DF0B-9C2A-6D70-851848FD22F1}"/>
              </a:ext>
            </a:extLst>
          </p:cNvPr>
          <p:cNvSpPr>
            <a:spLocks noGrp="1"/>
          </p:cNvSpPr>
          <p:nvPr>
            <p:ph type="title"/>
          </p:nvPr>
        </p:nvSpPr>
        <p:spPr/>
        <p:txBody>
          <a:bodyPr/>
          <a:lstStyle/>
          <a:p>
            <a:r>
              <a:t>Covariance and Correlation</a:t>
            </a:r>
          </a:p>
        </p:txBody>
      </p:sp>
      <p:pic>
        <p:nvPicPr>
          <p:cNvPr id="7" name="Picture 6">
            <a:extLst>
              <a:ext uri="{FF2B5EF4-FFF2-40B4-BE49-F238E27FC236}">
                <a16:creationId xmlns:a16="http://schemas.microsoft.com/office/drawing/2014/main" id="{7662D6B1-EA16-09CB-7979-D5AD390C82FE}"/>
              </a:ext>
            </a:extLst>
          </p:cNvPr>
          <p:cNvPicPr>
            <a:picLocks noChangeAspect="1"/>
          </p:cNvPicPr>
          <p:nvPr/>
        </p:nvPicPr>
        <p:blipFill>
          <a:blip r:embed="rId2"/>
          <a:stretch>
            <a:fillRect/>
          </a:stretch>
        </p:blipFill>
        <p:spPr>
          <a:xfrm>
            <a:off x="71717" y="1783976"/>
            <a:ext cx="9068187" cy="4926956"/>
          </a:xfrm>
          <a:prstGeom prst="rect">
            <a:avLst/>
          </a:prstGeom>
        </p:spPr>
      </p:pic>
      <p:sp>
        <p:nvSpPr>
          <p:cNvPr id="8" name="TextBox 7">
            <a:extLst>
              <a:ext uri="{FF2B5EF4-FFF2-40B4-BE49-F238E27FC236}">
                <a16:creationId xmlns:a16="http://schemas.microsoft.com/office/drawing/2014/main" id="{638D4C99-15D6-A897-F9D7-7EF0877EC7D7}"/>
              </a:ext>
            </a:extLst>
          </p:cNvPr>
          <p:cNvSpPr txBox="1"/>
          <p:nvPr/>
        </p:nvSpPr>
        <p:spPr>
          <a:xfrm>
            <a:off x="251012" y="1156447"/>
            <a:ext cx="205291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Problem 3</a:t>
            </a:r>
          </a:p>
        </p:txBody>
      </p:sp>
    </p:spTree>
    <p:extLst>
      <p:ext uri="{BB962C8B-B14F-4D97-AF65-F5344CB8AC3E}">
        <p14:creationId xmlns:p14="http://schemas.microsoft.com/office/powerpoint/2010/main" val="4177489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Variance </a:t>
            </a:r>
            <a:r>
              <a:rPr dirty="0"/>
              <a:t>of a Portfolio</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pPr algn="just"/>
                <a:r>
                  <a:rPr lang="en-US" sz="3600" dirty="0">
                    <a:latin typeface="Times New Roman" panose="02020603050405020304" pitchFamily="18" charset="0"/>
                    <a:cs typeface="Times New Roman" panose="02020603050405020304" pitchFamily="18" charset="0"/>
                  </a:rPr>
                  <a:t>After discussing the concepts of covariance and correlation, we can consider the formula for computing the variance of returns for a portfolio of two assets:</a:t>
                </a:r>
              </a:p>
              <a:p>
                <a:pPr marL="0" indent="0" algn="just">
                  <a:buNone/>
                </a:pP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ctrlPr>
                        </m:sSubPr>
                        <m:e>
                          <m:r>
                            <m:rPr>
                              <m:nor/>
                            </m:rPr>
                            <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m:t>σ</m:t>
                          </m:r>
                          <m:r>
                            <m:rPr>
                              <m:nor/>
                            </m:rPr>
                            <a:rPr kumimoji="0" lang="en-US" b="0" i="0" u="none" strike="noStrike" kern="1200" cap="none" spc="0" normalizeH="0" baseline="30000" noProof="0" dirty="0">
                              <a:ln>
                                <a:noFill/>
                              </a:ln>
                              <a:solidFill>
                                <a:prstClr val="black"/>
                              </a:solidFill>
                              <a:effectLst/>
                              <a:uLnTx/>
                              <a:uFillTx/>
                              <a:latin typeface="Times New Roman" panose="02020603050405020304" pitchFamily="18" charset="0"/>
                              <a:cs typeface="Times New Roman" panose="02020603050405020304" pitchFamily="18" charset="0"/>
                            </a:rPr>
                            <m:t>2</m:t>
                          </m:r>
                        </m:e>
                        <m:sub>
                          <m:eqArr>
                            <m:eqArr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eqArrPr>
                            <m:e>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𝑝𝑜𝑟𝑡𝑓𝑜𝑙𝑖𝑜</m:t>
                              </m:r>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m:t>
                              </m:r>
                              <m:sSup>
                                <m:sSupPr>
                                  <m:ctrlP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ctrlPr>
                                </m:sSupPr>
                                <m:e>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𝑤</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𝐴</m:t>
                                      </m:r>
                                    </m:sub>
                                  </m:sSub>
                                </m:e>
                                <m:sup>
                                  <m: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t>2</m:t>
                                  </m:r>
                                </m:sup>
                              </m:sSup>
                              <m:r>
                                <m:rPr>
                                  <m:nor/>
                                </m:rPr>
                                <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m:t>σ</m:t>
                              </m:r>
                              <m:r>
                                <m:rPr>
                                  <m:nor/>
                                </m:rPr>
                                <a:rPr kumimoji="0" lang="en-US" b="0" i="0" u="none" strike="noStrike" kern="1200" cap="none" spc="0" normalizeH="0" baseline="30000" noProof="0" dirty="0">
                                  <a:ln>
                                    <a:noFill/>
                                  </a:ln>
                                  <a:solidFill>
                                    <a:prstClr val="black"/>
                                  </a:solidFill>
                                  <a:effectLst/>
                                  <a:uLnTx/>
                                  <a:uFillTx/>
                                  <a:latin typeface="Times New Roman" panose="02020603050405020304" pitchFamily="18" charset="0"/>
                                  <a:cs typeface="Times New Roman" panose="02020603050405020304" pitchFamily="18" charset="0"/>
                                </a:rPr>
                                <m:t>2</m:t>
                              </m:r>
                              <m:r>
                                <m:rPr>
                                  <m:nor/>
                                </m:rPr>
                                <a:rPr kumimoji="0" lang="en-US" b="0" i="0" u="none" strike="noStrike" kern="1200" cap="none" spc="0" normalizeH="0" baseline="-25000" noProof="0" dirty="0">
                                  <a:ln>
                                    <a:noFill/>
                                  </a:ln>
                                  <a:solidFill>
                                    <a:prstClr val="black"/>
                                  </a:solidFill>
                                  <a:effectLst/>
                                  <a:uLnTx/>
                                  <a:uFillTx/>
                                  <a:latin typeface="Times New Roman" panose="02020603050405020304" pitchFamily="18" charset="0"/>
                                  <a:cs typeface="Times New Roman" panose="02020603050405020304" pitchFamily="18" charset="0"/>
                                </a:rPr>
                                <m:t>A</m:t>
                              </m:r>
                              <m: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t>+</m:t>
                              </m:r>
                              <m:sSup>
                                <m:sSupPr>
                                  <m:ctrlP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ctrlPr>
                                </m:sSupPr>
                                <m:e>
                                  <m: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1</m:t>
                                  </m:r>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m:t>
                                  </m:r>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𝑤</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𝐴</m:t>
                                      </m:r>
                                    </m:sub>
                                  </m:sSub>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m:t>
                                  </m:r>
                                </m:e>
                                <m:sup>
                                  <m: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t>2</m:t>
                                  </m:r>
                                </m:sup>
                              </m:sSup>
                              <m:r>
                                <m:rPr>
                                  <m:nor/>
                                </m:rPr>
                                <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m:t>σ</m:t>
                              </m:r>
                              <m:r>
                                <m:rPr>
                                  <m:nor/>
                                </m:rPr>
                                <a:rPr kumimoji="0" lang="en-US" b="0" i="0" u="none" strike="noStrike" kern="1200" cap="none" spc="0" normalizeH="0" baseline="30000" noProof="0" dirty="0">
                                  <a:ln>
                                    <a:noFill/>
                                  </a:ln>
                                  <a:solidFill>
                                    <a:prstClr val="black"/>
                                  </a:solidFill>
                                  <a:effectLst/>
                                  <a:uLnTx/>
                                  <a:uFillTx/>
                                  <a:latin typeface="Times New Roman" panose="02020603050405020304" pitchFamily="18" charset="0"/>
                                  <a:cs typeface="Times New Roman" panose="02020603050405020304" pitchFamily="18" charset="0"/>
                                </a:rPr>
                                <m:t>2</m:t>
                              </m:r>
                              <m:r>
                                <m:rPr>
                                  <m:nor/>
                                </m:rPr>
                                <a:rPr kumimoji="0" lang="en-US" b="0" i="0" u="none" strike="noStrike" kern="1200" cap="none" spc="0" normalizeH="0" baseline="-25000" noProof="0" dirty="0">
                                  <a:ln>
                                    <a:noFill/>
                                  </a:ln>
                                  <a:solidFill>
                                    <a:prstClr val="black"/>
                                  </a:solidFill>
                                  <a:effectLst/>
                                  <a:uLnTx/>
                                  <a:uFillTx/>
                                  <a:latin typeface="Times New Roman" panose="02020603050405020304" pitchFamily="18" charset="0"/>
                                  <a:cs typeface="Times New Roman" panose="02020603050405020304" pitchFamily="18" charset="0"/>
                                </a:rPr>
                                <m:t>B</m:t>
                              </m:r>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m:t>
                              </m:r>
                              <m: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t>2</m:t>
                              </m:r>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𝑤</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𝐴</m:t>
                                  </m:r>
                                </m:sub>
                              </m:sSub>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1</m:t>
                              </m:r>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m:t>
                              </m:r>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𝑤</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𝐴</m:t>
                                  </m:r>
                                </m:sub>
                              </m:sSub>
                              <m:r>
                                <a:rPr kumimoji="0" lang="en-US" b="0" i="1" u="none" strike="noStrike" kern="1200" cap="none" spc="0" normalizeH="0" baseline="0" noProof="0">
                                  <a:ln>
                                    <a:noFill/>
                                  </a:ln>
                                  <a:solidFill>
                                    <a:prstClr val="black"/>
                                  </a:solidFill>
                                  <a:effectLst/>
                                  <a:uLnTx/>
                                  <a:uFillTx/>
                                  <a:latin typeface="Cambria Math" panose="02040503050406030204" pitchFamily="18" charset="0"/>
                                  <a:cs typeface="Times New Roman"/>
                                </a:rPr>
                                <m:t>)</m:t>
                              </m:r>
                              <m:sSub>
                                <m:sSubPr>
                                  <m:ctrlP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ctrlPr>
                                </m:sSubPr>
                                <m:e>
                                  <m:r>
                                    <m:rPr>
                                      <m:nor/>
                                    </m:rPr>
                                    <a:rPr kumimoji="0" lang="en-US" b="0" i="0" u="none" strike="noStrike" kern="120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m:t>σ</m:t>
                                  </m:r>
                                </m:e>
                                <m:sub>
                                  <m: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t>𝐴</m:t>
                                  </m:r>
                                </m:sub>
                              </m:sSub>
                              <m:sSub>
                                <m:sSubPr>
                                  <m:ctrlP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ctrlPr>
                                </m:sSubPr>
                                <m:e>
                                  <m:r>
                                    <m:rPr>
                                      <m:nor/>
                                    </m:rPr>
                                    <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m:t>σ</m:t>
                                  </m:r>
                                </m:e>
                                <m:sub>
                                  <m:r>
                                    <a:rPr kumimoji="0" lang="en-US"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a:rPr>
                                    <m:t>𝐵</m:t>
                                  </m:r>
                                </m:sub>
                              </m:sSub>
                              <m:r>
                                <m:rPr>
                                  <m:nor/>
                                </m:rPr>
                                <a:rPr kumimoji="0" lang="en-US" b="0" i="0" u="none" strike="noStrike" kern="120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m:t>r</m:t>
                              </m:r>
                              <m:r>
                                <m:rPr>
                                  <m:nor/>
                                </m:rPr>
                                <a:rPr kumimoji="0" lang="en-US" b="0" i="0" u="none" strike="noStrike" kern="1200" cap="none" spc="0" normalizeH="0" baseline="-25000" noProof="0" dirty="0">
                                  <a:ln>
                                    <a:noFill/>
                                  </a:ln>
                                  <a:solidFill>
                                    <a:prstClr val="black"/>
                                  </a:solidFill>
                                  <a:effectLst/>
                                  <a:uLnTx/>
                                  <a:uFillTx/>
                                  <a:latin typeface="Times New Roman" panose="02020603050405020304" pitchFamily="18" charset="0"/>
                                  <a:cs typeface="Times New Roman" panose="02020603050405020304" pitchFamily="18" charset="0"/>
                                </a:rPr>
                                <m:t>AB</m:t>
                              </m:r>
                            </m:e>
                            <m:e>
                              <m:r>
                                <m:rPr>
                                  <m:nor/>
                                </m:rPr>
                                <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m:t> </m:t>
                              </m:r>
                            </m:e>
                          </m:eqArr>
                        </m:sub>
                      </m:sSub>
                    </m:oMath>
                  </m:oMathPara>
                </a14:m>
                <a:endParaRPr lang="en-US" sz="3600" dirty="0">
                  <a:latin typeface="Times New Roman" panose="02020603050405020304" pitchFamily="18" charset="0"/>
                  <a:cs typeface="Times New Roman" panose="02020603050405020304" pitchFamily="18" charset="0"/>
                </a:endParaRPr>
              </a:p>
              <a:p>
                <a:pPr marL="12065" marR="5080" lvl="0" indent="0" algn="l" defTabSz="914400" rtl="0" eaLnBrk="1" fontAlgn="auto" latinLnBrk="0" hangingPunct="1">
                  <a:lnSpc>
                    <a:spcPct val="150000"/>
                  </a:lnSpc>
                  <a:spcBef>
                    <a:spcPts val="85"/>
                  </a:spcBef>
                  <a:spcAft>
                    <a:spcPts val="0"/>
                  </a:spcAft>
                  <a:buClrTx/>
                  <a:buSzPct val="77777"/>
                  <a:buFontTx/>
                  <a:buNone/>
                  <a:tabLst>
                    <a:tab pos="356870" algn="l"/>
                    <a:tab pos="357505" algn="l"/>
                  </a:tabLst>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where </a:t>
                </a:r>
                <a:r>
                  <a:rPr kumimoji="0" lang="en-US"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w</a:t>
                </a:r>
                <a:r>
                  <a:rPr kumimoji="0" lang="en-US" b="0" i="0" u="none" strike="noStrike" kern="1200" cap="none" spc="0" normalizeH="0" baseline="-25000" noProof="0" dirty="0" err="1">
                    <a:ln>
                      <a:noFill/>
                    </a:ln>
                    <a:solidFill>
                      <a:prstClr val="black"/>
                    </a:solidFill>
                    <a:effectLst/>
                    <a:uLnTx/>
                    <a:uFillTx/>
                    <a:latin typeface="Times New Roman" panose="02020603050405020304" pitchFamily="18" charset="0"/>
                    <a:cs typeface="Times New Roman" panose="02020603050405020304" pitchFamily="18" charset="0"/>
                  </a:rPr>
                  <a:t>A</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Proportion of the portfolio in asset A</a:t>
                </a:r>
              </a:p>
              <a:p>
                <a:pPr marL="0" indent="0" algn="just">
                  <a:buNone/>
                </a:pP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778" t="-2022" r="-2000"/>
                </a:stretch>
              </a:blipFill>
            </p:spPr>
            <p:txBody>
              <a:bodyPr/>
              <a:lstStyle/>
              <a:p>
                <a:r>
                  <a:rPr 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72486-399F-6864-B6AD-253446E23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0BDFF-F563-174F-4368-A721094F1ADA}"/>
              </a:ext>
            </a:extLst>
          </p:cNvPr>
          <p:cNvSpPr>
            <a:spLocks noGrp="1"/>
          </p:cNvSpPr>
          <p:nvPr>
            <p:ph type="title"/>
          </p:nvPr>
        </p:nvSpPr>
        <p:spPr/>
        <p:txBody>
          <a:bodyPr/>
          <a:lstStyle/>
          <a:p>
            <a:r>
              <a:rPr lang="en-US" dirty="0"/>
              <a:t>Variance </a:t>
            </a:r>
            <a:r>
              <a:rPr dirty="0"/>
              <a:t>of a Portfolio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FE20AF-B77A-9D92-2574-54BF847DF52F}"/>
                  </a:ext>
                </a:extLst>
              </p:cNvPr>
              <p:cNvSpPr>
                <a:spLocks noGrp="1"/>
              </p:cNvSpPr>
              <p:nvPr>
                <p:ph idx="1"/>
              </p:nvPr>
            </p:nvSpPr>
            <p:spPr>
              <a:xfrm>
                <a:off x="224117" y="3980329"/>
                <a:ext cx="8229600" cy="1757083"/>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a,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12</m:t>
                        </m:r>
                      </m:sub>
                    </m:sSub>
                    <m:r>
                      <a:rPr lang="en-US" sz="2000" b="0" i="1" smtClean="0">
                        <a:latin typeface="Cambria Math" panose="02040503050406030204" pitchFamily="18" charset="0"/>
                      </a:rPr>
                      <m:t>=</m:t>
                    </m:r>
                    <m:r>
                      <a:rPr lang="en-US" sz="2000" b="0" i="1" smtClean="0">
                        <a:latin typeface="Cambria Math" panose="02040503050406030204" pitchFamily="18" charset="0"/>
                      </a:rPr>
                      <m:t>0</m:t>
                    </m:r>
                    <m:r>
                      <a:rPr lang="en-US" sz="2000" b="0" i="1" smtClean="0">
                        <a:latin typeface="Cambria Math" panose="02040503050406030204" pitchFamily="18" charset="0"/>
                      </a:rPr>
                      <m:t>.</m:t>
                    </m:r>
                    <m:r>
                      <a:rPr lang="en-US" sz="2000" b="0" i="1" smtClean="0">
                        <a:latin typeface="Cambria Math" panose="02040503050406030204" pitchFamily="18" charset="0"/>
                      </a:rPr>
                      <m:t>75</m:t>
                    </m:r>
                  </m:oMath>
                </a14:m>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a,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𝑟</m:t>
                        </m:r>
                      </m:e>
                      <m:sub>
                        <m:r>
                          <a:rPr lang="ar-AE" sz="2000" i="1">
                            <a:latin typeface="Cambria Math" panose="02040503050406030204" pitchFamily="18" charset="0"/>
                          </a:rPr>
                          <m:t>12</m:t>
                        </m:r>
                      </m:sub>
                    </m:sSub>
                    <m:r>
                      <a:rPr lang="ar-AE" sz="2000" i="1">
                        <a:latin typeface="Cambria Math" panose="02040503050406030204" pitchFamily="18" charset="0"/>
                      </a:rPr>
                      <m:t>=</m:t>
                    </m:r>
                    <m:r>
                      <a:rPr lang="ar-AE" sz="2000" i="1">
                        <a:latin typeface="Cambria Math" panose="02040503050406030204" pitchFamily="18" charset="0"/>
                      </a:rPr>
                      <m:t>0</m:t>
                    </m:r>
                    <m:r>
                      <a:rPr lang="ar-AE" sz="2000" i="1">
                        <a:latin typeface="Cambria Math" panose="02040503050406030204" pitchFamily="18" charset="0"/>
                      </a:rPr>
                      <m:t>.</m:t>
                    </m:r>
                    <m:r>
                      <a:rPr lang="en-US" sz="2000" b="0" i="1" smtClean="0">
                        <a:latin typeface="Cambria Math" panose="02040503050406030204" pitchFamily="18" charset="0"/>
                      </a:rPr>
                      <m:t>1</m:t>
                    </m:r>
                    <m:r>
                      <a:rPr lang="ar-AE" sz="2000" i="1">
                        <a:latin typeface="Cambria Math" panose="02040503050406030204" pitchFamily="18" charset="0"/>
                      </a:rPr>
                      <m:t>5</m:t>
                    </m:r>
                  </m:oMath>
                </a14:m>
                <a:endParaRPr lang="ar-AE"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a,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𝑟</m:t>
                        </m:r>
                      </m:e>
                      <m:sub>
                        <m:r>
                          <a:rPr lang="ar-AE" sz="2000" i="1">
                            <a:latin typeface="Cambria Math" panose="02040503050406030204" pitchFamily="18" charset="0"/>
                          </a:rPr>
                          <m:t>12</m:t>
                        </m:r>
                      </m:sub>
                    </m:sSub>
                    <m:r>
                      <a:rPr lang="ar-AE" sz="2000" i="1">
                        <a:latin typeface="Cambria Math" panose="02040503050406030204" pitchFamily="18" charset="0"/>
                      </a:rPr>
                      <m:t>=</m:t>
                    </m:r>
                    <m:r>
                      <a:rPr lang="en-US" sz="2000" b="0" i="1" smtClean="0">
                        <a:latin typeface="Cambria Math" panose="02040503050406030204" pitchFamily="18" charset="0"/>
                      </a:rPr>
                      <m:t>−</m:t>
                    </m:r>
                    <m:r>
                      <a:rPr lang="ar-AE" sz="2000" i="1">
                        <a:latin typeface="Cambria Math" panose="02040503050406030204" pitchFamily="18" charset="0"/>
                      </a:rPr>
                      <m:t>0</m:t>
                    </m:r>
                    <m:r>
                      <a:rPr lang="ar-AE" sz="2000" i="1">
                        <a:latin typeface="Cambria Math" panose="02040503050406030204" pitchFamily="18" charset="0"/>
                      </a:rPr>
                      <m:t>.</m:t>
                    </m:r>
                    <m:r>
                      <a:rPr lang="ar-AE" sz="2000" i="1">
                        <a:latin typeface="Cambria Math" panose="02040503050406030204" pitchFamily="18" charset="0"/>
                      </a:rPr>
                      <m:t>5</m:t>
                    </m:r>
                  </m:oMath>
                </a14:m>
                <a:endParaRPr lang="ar-AE" sz="2000" dirty="0">
                  <a:latin typeface="Times New Roman" panose="02020603050405020304" pitchFamily="18" charset="0"/>
                  <a:cs typeface="Times New Roman" panose="02020603050405020304" pitchFamily="18" charset="0"/>
                </a:endParaRPr>
              </a:p>
              <a:p>
                <a:pPr marL="0" indent="0" algn="just">
                  <a:buNone/>
                </a:pPr>
                <a:endParaRPr dirty="0"/>
              </a:p>
            </p:txBody>
          </p:sp>
        </mc:Choice>
        <mc:Fallback xmlns="">
          <p:sp>
            <p:nvSpPr>
              <p:cNvPr id="3" name="Content Placeholder 2">
                <a:extLst>
                  <a:ext uri="{FF2B5EF4-FFF2-40B4-BE49-F238E27FC236}">
                    <a16:creationId xmlns:a16="http://schemas.microsoft.com/office/drawing/2014/main" id="{FDFE20AF-B77A-9D92-2574-54BF847DF52F}"/>
                  </a:ext>
                </a:extLst>
              </p:cNvPr>
              <p:cNvSpPr>
                <a:spLocks noGrp="1" noRot="1" noChangeAspect="1" noMove="1" noResize="1" noEditPoints="1" noAdjustHandles="1" noChangeArrowheads="1" noChangeShapeType="1" noTextEdit="1"/>
              </p:cNvSpPr>
              <p:nvPr>
                <p:ph idx="1"/>
              </p:nvPr>
            </p:nvSpPr>
            <p:spPr>
              <a:xfrm>
                <a:off x="224117" y="3980329"/>
                <a:ext cx="8229600" cy="1757083"/>
              </a:xfrm>
              <a:blipFill>
                <a:blip r:embed="rId2"/>
                <a:stretch>
                  <a:fillRect l="-815" t="-208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50696F4-1A62-FD95-F2D6-877211B21855}"/>
              </a:ext>
            </a:extLst>
          </p:cNvPr>
          <p:cNvPicPr>
            <a:picLocks noChangeAspect="1"/>
          </p:cNvPicPr>
          <p:nvPr/>
        </p:nvPicPr>
        <p:blipFill>
          <a:blip r:embed="rId3"/>
          <a:stretch>
            <a:fillRect/>
          </a:stretch>
        </p:blipFill>
        <p:spPr>
          <a:xfrm>
            <a:off x="107577" y="1721360"/>
            <a:ext cx="9144000" cy="2124364"/>
          </a:xfrm>
          <a:prstGeom prst="rect">
            <a:avLst/>
          </a:prstGeom>
        </p:spPr>
      </p:pic>
    </p:spTree>
    <p:extLst>
      <p:ext uri="{BB962C8B-B14F-4D97-AF65-F5344CB8AC3E}">
        <p14:creationId xmlns:p14="http://schemas.microsoft.com/office/powerpoint/2010/main" val="2660042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1DA66-FB72-76F4-D688-068F3E018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8F565-85A1-21B7-1144-FA83695B34CB}"/>
              </a:ext>
            </a:extLst>
          </p:cNvPr>
          <p:cNvSpPr>
            <a:spLocks noGrp="1"/>
          </p:cNvSpPr>
          <p:nvPr>
            <p:ph type="title"/>
          </p:nvPr>
        </p:nvSpPr>
        <p:spPr/>
        <p:txBody>
          <a:bodyPr/>
          <a:lstStyle/>
          <a:p>
            <a:r>
              <a:rPr lang="en-US" dirty="0"/>
              <a:t>The minimum-variance portfolio</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2A9FE0-85E1-C56F-80D5-339865189885}"/>
                  </a:ext>
                </a:extLst>
              </p:cNvPr>
              <p:cNvSpPr>
                <a:spLocks noGrp="1"/>
              </p:cNvSpPr>
              <p:nvPr>
                <p:ph idx="1"/>
              </p:nvPr>
            </p:nvSpPr>
            <p:spPr/>
            <p:txBody>
              <a:bodyPr>
                <a:normAutofit/>
              </a:bodyPr>
              <a:lstStyle/>
              <a:p>
                <a:pPr algn="just"/>
                <a:r>
                  <a:rPr lang="en-US" dirty="0"/>
                  <a:t>The weight of the first security to achieve minimum variance:</a:t>
                </a:r>
              </a:p>
              <a:p>
                <a:pPr marL="0" indent="0" algn="just">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i="1" smtClean="0">
                          <a:latin typeface="Cambria Math" panose="02040503050406030204" pitchFamily="18" charset="0"/>
                        </a:rPr>
                        <m:t>=</m:t>
                      </m:r>
                      <m:f>
                        <m:fPr>
                          <m:ctrlPr>
                            <a:rPr lang="en-US" i="1" smtClean="0">
                              <a:latin typeface="Cambria Math" panose="02040503050406030204" pitchFamily="18" charset="0"/>
                            </a:rPr>
                          </m:ctrlPr>
                        </m:fPr>
                        <m:num>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2</m:t>
                              </m:r>
                            </m:sub>
                          </m:sSub>
                        </m:num>
                        <m:den>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1</m:t>
                                  </m:r>
                                </m:sub>
                                <m:sup>
                                  <m:r>
                                    <a:rPr lang="en-US" i="1">
                                      <a:latin typeface="Cambria Math" panose="02040503050406030204" pitchFamily="18" charset="0"/>
                                    </a:rPr>
                                    <m:t>2</m:t>
                                  </m:r>
                                </m:sup>
                              </m:sSubSup>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2</m:t>
                              </m:r>
                            </m:sub>
                            <m:sup>
                              <m:r>
                                <a:rPr lang="en-US" i="1">
                                  <a:latin typeface="Cambria Math" panose="02040503050406030204" pitchFamily="18" charset="0"/>
                                </a:rPr>
                                <m:t>2</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2</m:t>
                              </m:r>
                              <m:r>
                                <a:rPr lang="en-US" i="1">
                                  <a:latin typeface="Cambria Math" panose="02040503050406030204" pitchFamily="18" charset="0"/>
                                </a:rPr>
                                <m:t>𝑟</m:t>
                              </m:r>
                            </m:e>
                            <m:sub>
                              <m:r>
                                <a:rPr lang="en-US" i="1">
                                  <a:latin typeface="Cambria Math" panose="02040503050406030204" pitchFamily="18" charset="0"/>
                                </a:rPr>
                                <m:t>12</m:t>
                              </m:r>
                            </m:sub>
                          </m:s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2</m:t>
                              </m:r>
                            </m:sub>
                          </m:sSub>
                        </m:den>
                      </m:f>
                    </m:oMath>
                  </m:oMathPara>
                </a14:m>
                <a:endParaRPr lang="en-US" dirty="0"/>
              </a:p>
              <a:p>
                <a:pPr marL="0" indent="0" algn="just">
                  <a:buNone/>
                </a:pPr>
                <a:endParaRPr dirty="0"/>
              </a:p>
            </p:txBody>
          </p:sp>
        </mc:Choice>
        <mc:Fallback xmlns="">
          <p:sp>
            <p:nvSpPr>
              <p:cNvPr id="3" name="Content Placeholder 2">
                <a:extLst>
                  <a:ext uri="{FF2B5EF4-FFF2-40B4-BE49-F238E27FC236}">
                    <a16:creationId xmlns:a16="http://schemas.microsoft.com/office/drawing/2014/main" id="{752A9FE0-85E1-C56F-80D5-339865189885}"/>
                  </a:ext>
                </a:extLst>
              </p:cNvPr>
              <p:cNvSpPr>
                <a:spLocks noGrp="1" noRot="1" noChangeAspect="1" noMove="1" noResize="1" noEditPoints="1" noAdjustHandles="1" noChangeArrowheads="1" noChangeShapeType="1" noTextEdit="1"/>
              </p:cNvSpPr>
              <p:nvPr>
                <p:ph idx="1"/>
              </p:nvPr>
            </p:nvSpPr>
            <p:spPr>
              <a:blipFill>
                <a:blip r:embed="rId2"/>
                <a:stretch>
                  <a:fillRect l="-1704" t="-1752" r="-1852"/>
                </a:stretch>
              </a:blipFill>
            </p:spPr>
            <p:txBody>
              <a:bodyPr/>
              <a:lstStyle/>
              <a:p>
                <a:r>
                  <a:rPr lang="en-US">
                    <a:noFill/>
                  </a:rPr>
                  <a:t> </a:t>
                </a:r>
              </a:p>
            </p:txBody>
          </p:sp>
        </mc:Fallback>
      </mc:AlternateContent>
    </p:spTree>
    <p:extLst>
      <p:ext uri="{BB962C8B-B14F-4D97-AF65-F5344CB8AC3E}">
        <p14:creationId xmlns:p14="http://schemas.microsoft.com/office/powerpoint/2010/main" val="1680393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4B09B-AFE4-01DE-0C99-804E67A17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3F3F5-3B56-EF7E-6B01-0FC02F4A6D34}"/>
              </a:ext>
            </a:extLst>
          </p:cNvPr>
          <p:cNvSpPr>
            <a:spLocks noGrp="1"/>
          </p:cNvSpPr>
          <p:nvPr>
            <p:ph type="title"/>
          </p:nvPr>
        </p:nvSpPr>
        <p:spPr/>
        <p:txBody>
          <a:bodyPr/>
          <a:lstStyle/>
          <a:p>
            <a:r>
              <a:rPr lang="en-US" dirty="0"/>
              <a:t>The minimum-variance portfolio</a:t>
            </a:r>
            <a:endParaRPr dirty="0"/>
          </a:p>
        </p:txBody>
      </p:sp>
      <p:sp>
        <p:nvSpPr>
          <p:cNvPr id="3" name="Content Placeholder 2">
            <a:extLst>
              <a:ext uri="{FF2B5EF4-FFF2-40B4-BE49-F238E27FC236}">
                <a16:creationId xmlns:a16="http://schemas.microsoft.com/office/drawing/2014/main" id="{ED6758EA-D205-A98E-7E96-D00B5FD0F0B0}"/>
              </a:ext>
            </a:extLst>
          </p:cNvPr>
          <p:cNvSpPr>
            <a:spLocks noGrp="1"/>
          </p:cNvSpPr>
          <p:nvPr>
            <p:ph idx="1"/>
          </p:nvPr>
        </p:nvSpPr>
        <p:spPr/>
        <p:txBody>
          <a:bodyPr>
            <a:normAutofit fontScale="92500" lnSpcReduction="20000"/>
          </a:bodyPr>
          <a:lstStyle/>
          <a:p>
            <a:pPr algn="just"/>
            <a:r>
              <a:rPr lang="en-US" dirty="0"/>
              <a:t>Assume that we have two risky assets. The first is a stock fund, the second is a long-term bond fund. Their correlation coefficient is 0.3. </a:t>
            </a:r>
          </a:p>
          <a:p>
            <a:pPr algn="just"/>
            <a:endParaRPr lang="en-US" dirty="0"/>
          </a:p>
          <a:p>
            <a:pPr algn="just"/>
            <a:endParaRPr lang="en-US" dirty="0"/>
          </a:p>
          <a:p>
            <a:pPr algn="just"/>
            <a:endParaRPr lang="en-US" dirty="0"/>
          </a:p>
          <a:p>
            <a:pPr algn="just"/>
            <a:r>
              <a:rPr lang="en-US" dirty="0"/>
              <a:t>What are the investment proportions in the minimum-variance portfolio of the two risky funds, and what are the expected value and standard deviation of its rate of return?</a:t>
            </a:r>
          </a:p>
          <a:p>
            <a:pPr algn="just"/>
            <a:endParaRPr lang="en-US" dirty="0"/>
          </a:p>
          <a:p>
            <a:pPr marL="0" indent="0" algn="just">
              <a:buNone/>
            </a:pPr>
            <a:endParaRPr dirty="0"/>
          </a:p>
        </p:txBody>
      </p:sp>
      <p:graphicFrame>
        <p:nvGraphicFramePr>
          <p:cNvPr id="4" name="Table 3">
            <a:extLst>
              <a:ext uri="{FF2B5EF4-FFF2-40B4-BE49-F238E27FC236}">
                <a16:creationId xmlns:a16="http://schemas.microsoft.com/office/drawing/2014/main" id="{C4393B88-CAA5-2F10-8263-F647D31B4182}"/>
              </a:ext>
            </a:extLst>
          </p:cNvPr>
          <p:cNvGraphicFramePr>
            <a:graphicFrameLocks noGrp="1"/>
          </p:cNvGraphicFramePr>
          <p:nvPr>
            <p:extLst>
              <p:ext uri="{D42A27DB-BD31-4B8C-83A1-F6EECF244321}">
                <p14:modId xmlns:p14="http://schemas.microsoft.com/office/powerpoint/2010/main" val="1646246350"/>
              </p:ext>
            </p:extLst>
          </p:nvPr>
        </p:nvGraphicFramePr>
        <p:xfrm>
          <a:off x="1246095" y="2819233"/>
          <a:ext cx="6903850" cy="1219533"/>
        </p:xfrm>
        <a:graphic>
          <a:graphicData uri="http://schemas.openxmlformats.org/drawingml/2006/table">
            <a:tbl>
              <a:tblPr firstRow="1" firstCol="1" bandRow="1"/>
              <a:tblGrid>
                <a:gridCol w="2300826">
                  <a:extLst>
                    <a:ext uri="{9D8B030D-6E8A-4147-A177-3AD203B41FA5}">
                      <a16:colId xmlns:a16="http://schemas.microsoft.com/office/drawing/2014/main" val="3259702353"/>
                    </a:ext>
                  </a:extLst>
                </a:gridCol>
                <a:gridCol w="2301512">
                  <a:extLst>
                    <a:ext uri="{9D8B030D-6E8A-4147-A177-3AD203B41FA5}">
                      <a16:colId xmlns:a16="http://schemas.microsoft.com/office/drawing/2014/main" val="453001144"/>
                    </a:ext>
                  </a:extLst>
                </a:gridCol>
                <a:gridCol w="2301512">
                  <a:extLst>
                    <a:ext uri="{9D8B030D-6E8A-4147-A177-3AD203B41FA5}">
                      <a16:colId xmlns:a16="http://schemas.microsoft.com/office/drawing/2014/main" val="380331588"/>
                    </a:ext>
                  </a:extLst>
                </a:gridCol>
              </a:tblGrid>
              <a:tr h="406511">
                <a:tc>
                  <a:txBody>
                    <a:bodyPr/>
                    <a:lstStyle/>
                    <a:p>
                      <a:pPr algn="ctr">
                        <a:lnSpc>
                          <a:spcPct val="115000"/>
                        </a:lnSpc>
                        <a:spcAft>
                          <a:spcPts val="600"/>
                        </a:spcAft>
                        <a:buNone/>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600"/>
                        </a:spcAft>
                        <a:buNone/>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Expected Return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600"/>
                        </a:spcAft>
                        <a:buNone/>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Standard Deviation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1299183"/>
                  </a:ext>
                </a:extLst>
              </a:tr>
              <a:tr h="406511">
                <a:tc>
                  <a:txBody>
                    <a:bodyPr/>
                    <a:lstStyle/>
                    <a:p>
                      <a:pPr algn="ctr">
                        <a:lnSpc>
                          <a:spcPct val="115000"/>
                        </a:lnSpc>
                        <a:spcAft>
                          <a:spcPts val="600"/>
                        </a:spcAft>
                        <a:buNone/>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Stock fund (S)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600"/>
                        </a:spcAft>
                        <a:buNone/>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600"/>
                        </a:spcAft>
                        <a:buNone/>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0521537"/>
                  </a:ext>
                </a:extLst>
              </a:tr>
              <a:tr h="406511">
                <a:tc>
                  <a:txBody>
                    <a:bodyPr/>
                    <a:lstStyle/>
                    <a:p>
                      <a:pPr algn="ctr">
                        <a:lnSpc>
                          <a:spcPct val="115000"/>
                        </a:lnSpc>
                        <a:spcAft>
                          <a:spcPts val="600"/>
                        </a:spcAft>
                        <a:buNone/>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Bond fund (B)</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600"/>
                        </a:spcAft>
                        <a:buNone/>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8%</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600"/>
                        </a:spcAft>
                        <a:buNone/>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12%</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2524432"/>
                  </a:ext>
                </a:extLst>
              </a:tr>
            </a:tbl>
          </a:graphicData>
        </a:graphic>
      </p:graphicFrame>
    </p:spTree>
    <p:extLst>
      <p:ext uri="{BB962C8B-B14F-4D97-AF65-F5344CB8AC3E}">
        <p14:creationId xmlns:p14="http://schemas.microsoft.com/office/powerpoint/2010/main" val="1614985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763755"/>
            <a:ext cx="7886700" cy="994172"/>
          </a:xfrm>
        </p:spPr>
        <p:txBody>
          <a:bodyPr>
            <a:normAutofit fontScale="90000"/>
          </a:bodyPr>
          <a:lstStyle/>
          <a:p>
            <a:r>
              <a:rPr lang="en-US" dirty="0"/>
              <a:t> Sharpe Portfolio Performance Measure</a:t>
            </a:r>
            <a:br>
              <a:rPr lang="en-US" dirty="0"/>
            </a:b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757927"/>
                <a:ext cx="7886700" cy="3502079"/>
              </a:xfrm>
            </p:spPr>
            <p:txBody>
              <a:bodyPr>
                <a:normAutofit fontScale="85000" lnSpcReduction="20000"/>
              </a:bodyPr>
              <a:lstStyle/>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h</m:t>
                      </m:r>
                      <m:r>
                        <a:rPr lang="en-US" b="0" i="1" smtClean="0">
                          <a:latin typeface="Cambria Math" panose="02040503050406030204" pitchFamily="18" charset="0"/>
                        </a:rPr>
                        <m:t>𝑎𝑟𝑝𝑒</m:t>
                      </m:r>
                      <m:r>
                        <a:rPr lang="en-US" b="0" i="1" smtClean="0">
                          <a:latin typeface="Cambria Math" panose="02040503050406030204" pitchFamily="18" charset="0"/>
                        </a:rPr>
                        <m:t> </m:t>
                      </m:r>
                      <m:r>
                        <a:rPr lang="en-US" b="0" i="1" smtClean="0">
                          <a:latin typeface="Cambria Math" panose="02040503050406030204" pitchFamily="18" charset="0"/>
                        </a:rPr>
                        <m:t>𝑟𝑎𝑡𝑖𝑜</m:t>
                      </m:r>
                      <m:r>
                        <a:rPr lang="en-US" i="1" smtClean="0">
                          <a:latin typeface="Cambria Math" panose="02040503050406030204" pitchFamily="18" charset="0"/>
                        </a:rPr>
                        <m:t>=</m:t>
                      </m:r>
                      <m:f>
                        <m:fPr>
                          <m:ctrlPr>
                            <a:rPr lang="en-US" i="1" smtClean="0">
                              <a:latin typeface="Cambria Math" panose="02040503050406030204" pitchFamily="18" charset="0"/>
                            </a:rPr>
                          </m:ctrlPr>
                        </m:fPr>
                        <m:num>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𝑓</m:t>
                              </m:r>
                            </m:sub>
                          </m:sSub>
                        </m:num>
                        <m:den>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𝑖</m:t>
                              </m:r>
                            </m:sub>
                          </m:sSub>
                        </m:den>
                      </m:f>
                    </m:oMath>
                  </m:oMathPara>
                </a14:m>
                <a:endParaRPr lang="en-US" dirty="0"/>
              </a:p>
              <a:p>
                <a:pPr algn="just">
                  <a:buFont typeface="Wingdings" panose="05000000000000000000" pitchFamily="2" charset="2"/>
                  <a:buChar char="Ø"/>
                </a:pPr>
                <a:endParaRPr lang="en-US" dirty="0"/>
              </a:p>
              <a:p>
                <a:pPr algn="just">
                  <a:buFont typeface="Wingdings" panose="05000000000000000000" pitchFamily="2" charset="2"/>
                  <a:buChar char="Ø"/>
                </a:pPr>
                <a14:m>
                  <m:oMath xmlns:m="http://schemas.openxmlformats.org/officeDocument/2006/math">
                    <m:acc>
                      <m:accPr>
                        <m:chr m:val="̅"/>
                        <m:ctrlPr>
                          <a:rPr lang="en-US" sz="2100" i="1">
                            <a:solidFill>
                              <a:prstClr val="black"/>
                            </a:solidFill>
                            <a:latin typeface="Cambria Math" panose="02040503050406030204" pitchFamily="18" charset="0"/>
                          </a:rPr>
                        </m:ctrlPr>
                      </m:accPr>
                      <m:e>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𝑅</m:t>
                            </m:r>
                          </m:e>
                          <m:sub>
                            <m:r>
                              <a:rPr lang="en-US" i="1">
                                <a:solidFill>
                                  <a:prstClr val="black"/>
                                </a:solidFill>
                                <a:latin typeface="Cambria Math" panose="02040503050406030204" pitchFamily="18" charset="0"/>
                              </a:rPr>
                              <m:t>𝑖</m:t>
                            </m:r>
                          </m:sub>
                        </m:sSub>
                      </m:e>
                    </m:acc>
                  </m:oMath>
                </a14:m>
                <a:r>
                  <a:rPr lang="en-US" dirty="0"/>
                  <a:t>: expected rate of return for Portfolio </a:t>
                </a:r>
                <a:r>
                  <a:rPr lang="en-US" dirty="0" err="1"/>
                  <a:t>i</a:t>
                </a:r>
                <a:r>
                  <a:rPr lang="en-US" dirty="0"/>
                  <a:t> during a specified time period</a:t>
                </a:r>
              </a:p>
              <a:p>
                <a:pPr algn="just">
                  <a:buFont typeface="Wingdings" panose="05000000000000000000" pitchFamily="2" charset="2"/>
                  <a:buChar char="Ø"/>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𝑓</m:t>
                        </m:r>
                      </m:sub>
                    </m:sSub>
                  </m:oMath>
                </a14:m>
                <a:r>
                  <a:rPr lang="en-US" dirty="0"/>
                  <a:t>: the risk-free rate</a:t>
                </a:r>
              </a:p>
              <a:p>
                <a:pPr algn="just">
                  <a:buFont typeface="Wingdings" panose="05000000000000000000" pitchFamily="2" charset="2"/>
                  <a:buChar char="Ø"/>
                </a:pPr>
                <a14:m>
                  <m:oMath xmlns:m="http://schemas.openxmlformats.org/officeDocument/2006/math">
                    <m:sSub>
                      <m:sSubPr>
                        <m:ctrlPr>
                          <a:rPr lang="en-US" sz="2100" i="1">
                            <a:solidFill>
                              <a:prstClr val="black"/>
                            </a:solidFill>
                            <a:latin typeface="Cambria Math" panose="02040503050406030204" pitchFamily="18" charset="0"/>
                          </a:rPr>
                        </m:ctrlPr>
                      </m:sSubPr>
                      <m:e>
                        <m:r>
                          <a:rPr lang="en-US" sz="2100" i="1">
                            <a:solidFill>
                              <a:prstClr val="black"/>
                            </a:solidFill>
                            <a:latin typeface="Cambria Math" panose="02040503050406030204" pitchFamily="18" charset="0"/>
                            <a:ea typeface="Cambria Math" panose="02040503050406030204" pitchFamily="18" charset="0"/>
                          </a:rPr>
                          <m:t>𝜎</m:t>
                        </m:r>
                      </m:e>
                      <m:sub>
                        <m:r>
                          <a:rPr lang="en-US" sz="2100" i="1">
                            <a:solidFill>
                              <a:prstClr val="black"/>
                            </a:solidFill>
                            <a:latin typeface="Cambria Math" panose="02040503050406030204" pitchFamily="18" charset="0"/>
                          </a:rPr>
                          <m:t>𝑖</m:t>
                        </m:r>
                      </m:sub>
                    </m:sSub>
                  </m:oMath>
                </a14:m>
                <a:r>
                  <a:rPr lang="en-US" dirty="0"/>
                  <a:t>: standard deviation of the rate of return for Portfolio </a:t>
                </a:r>
                <a:r>
                  <a:rPr lang="en-US" dirty="0" err="1"/>
                  <a:t>i</a:t>
                </a:r>
                <a:r>
                  <a:rPr lang="en-US" dirty="0"/>
                  <a:t> during the time period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757927"/>
                <a:ext cx="7886700" cy="3502079"/>
              </a:xfrm>
              <a:blipFill>
                <a:blip r:embed="rId2"/>
                <a:stretch>
                  <a:fillRect r="-1468" b="-174"/>
                </a:stretch>
              </a:blipFill>
            </p:spPr>
            <p:txBody>
              <a:bodyPr/>
              <a:lstStyle/>
              <a:p>
                <a:r>
                  <a:rPr lang="en-US">
                    <a:noFill/>
                  </a:rPr>
                  <a:t> </a:t>
                </a:r>
              </a:p>
            </p:txBody>
          </p:sp>
        </mc:Fallback>
      </mc:AlternateContent>
    </p:spTree>
    <p:extLst>
      <p:ext uri="{BB962C8B-B14F-4D97-AF65-F5344CB8AC3E}">
        <p14:creationId xmlns:p14="http://schemas.microsoft.com/office/powerpoint/2010/main" val="2319399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384FE-DE8B-4A06-2D2E-B26F93116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106C86-C5B1-BB89-E0CE-A7AA511D6C64}"/>
              </a:ext>
            </a:extLst>
          </p:cNvPr>
          <p:cNvSpPr>
            <a:spLocks noGrp="1"/>
          </p:cNvSpPr>
          <p:nvPr>
            <p:ph type="title"/>
          </p:nvPr>
        </p:nvSpPr>
        <p:spPr/>
        <p:txBody>
          <a:bodyPr>
            <a:normAutofit fontScale="90000"/>
          </a:bodyPr>
          <a:lstStyle/>
          <a:p>
            <a:r>
              <a:rPr lang="en-US" dirty="0"/>
              <a:t>Asset Allocation with Stocks, Bonds, and Cash equivalent</a:t>
            </a:r>
            <a:endParaRPr dirty="0"/>
          </a:p>
        </p:txBody>
      </p:sp>
      <p:sp>
        <p:nvSpPr>
          <p:cNvPr id="5" name="TextBox 4">
            <a:extLst>
              <a:ext uri="{FF2B5EF4-FFF2-40B4-BE49-F238E27FC236}">
                <a16:creationId xmlns:a16="http://schemas.microsoft.com/office/drawing/2014/main" id="{8847B3EB-80B9-8D99-E138-ABCF2EF01D67}"/>
              </a:ext>
            </a:extLst>
          </p:cNvPr>
          <p:cNvSpPr txBox="1"/>
          <p:nvPr/>
        </p:nvSpPr>
        <p:spPr>
          <a:xfrm>
            <a:off x="277906" y="1563761"/>
            <a:ext cx="3039035" cy="532453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If our risky assets are still confined to the bond and stock funds, as in the last section, but we can now also invest in risk-free T-bills yielding 5%.</a:t>
            </a:r>
          </a:p>
          <a:p>
            <a:r>
              <a:rPr lang="en-US" sz="2000" dirty="0">
                <a:latin typeface="Times New Roman" panose="02020603050405020304" pitchFamily="18" charset="0"/>
                <a:cs typeface="Times New Roman" panose="02020603050405020304" pitchFamily="18" charset="0"/>
              </a:rPr>
              <a:t>Two possible capital allocation lines (CALs) are drawn from the risk-free rate (rf = 5%)</a:t>
            </a:r>
          </a:p>
          <a:p>
            <a:r>
              <a:rPr lang="en-US" sz="2000" dirty="0">
                <a:latin typeface="Times New Roman" panose="02020603050405020304" pitchFamily="18" charset="0"/>
                <a:cs typeface="Times New Roman" panose="02020603050405020304" pitchFamily="18" charset="0"/>
              </a:rPr>
              <a:t>to two feasible portfolios. The first possible CAL is drawn through the minimum-variance</a:t>
            </a:r>
          </a:p>
          <a:p>
            <a:r>
              <a:rPr lang="en-US" sz="2000" dirty="0">
                <a:latin typeface="Times New Roman" panose="02020603050405020304" pitchFamily="18" charset="0"/>
                <a:cs typeface="Times New Roman" panose="02020603050405020304" pitchFamily="18" charset="0"/>
              </a:rPr>
              <a:t>portfolio A, which is invested 82% in bonds and 18% in stocks.</a:t>
            </a:r>
          </a:p>
        </p:txBody>
      </p:sp>
      <p:pic>
        <p:nvPicPr>
          <p:cNvPr id="7" name="Picture 6">
            <a:extLst>
              <a:ext uri="{FF2B5EF4-FFF2-40B4-BE49-F238E27FC236}">
                <a16:creationId xmlns:a16="http://schemas.microsoft.com/office/drawing/2014/main" id="{A64241A1-430A-B305-64C9-F20F7FE4DE8A}"/>
              </a:ext>
            </a:extLst>
          </p:cNvPr>
          <p:cNvPicPr>
            <a:picLocks noChangeAspect="1"/>
          </p:cNvPicPr>
          <p:nvPr/>
        </p:nvPicPr>
        <p:blipFill>
          <a:blip r:embed="rId2"/>
          <a:stretch>
            <a:fillRect/>
          </a:stretch>
        </p:blipFill>
        <p:spPr>
          <a:xfrm>
            <a:off x="3634859" y="1563761"/>
            <a:ext cx="4725059" cy="4382112"/>
          </a:xfrm>
          <a:prstGeom prst="rect">
            <a:avLst/>
          </a:prstGeom>
        </p:spPr>
      </p:pic>
    </p:spTree>
    <p:extLst>
      <p:ext uri="{BB962C8B-B14F-4D97-AF65-F5344CB8AC3E}">
        <p14:creationId xmlns:p14="http://schemas.microsoft.com/office/powerpoint/2010/main" val="2911833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A8BFA-D8A7-20F2-EB7E-B3B4173B7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FF694D-9F46-EDBC-60A3-C97996F4E413}"/>
              </a:ext>
            </a:extLst>
          </p:cNvPr>
          <p:cNvSpPr>
            <a:spLocks noGrp="1"/>
          </p:cNvSpPr>
          <p:nvPr>
            <p:ph type="title"/>
          </p:nvPr>
        </p:nvSpPr>
        <p:spPr/>
        <p:txBody>
          <a:bodyPr>
            <a:normAutofit fontScale="90000"/>
          </a:bodyPr>
          <a:lstStyle/>
          <a:p>
            <a:r>
              <a:rPr lang="en-US" dirty="0"/>
              <a:t>Asset Allocation with Stocks, Bonds, and Cash equivalent</a:t>
            </a:r>
            <a:endParaRPr dirty="0"/>
          </a:p>
        </p:txBody>
      </p:sp>
      <p:sp>
        <p:nvSpPr>
          <p:cNvPr id="5" name="TextBox 4">
            <a:extLst>
              <a:ext uri="{FF2B5EF4-FFF2-40B4-BE49-F238E27FC236}">
                <a16:creationId xmlns:a16="http://schemas.microsoft.com/office/drawing/2014/main" id="{0F145C0F-B757-F48F-672A-926225B6E16D}"/>
              </a:ext>
            </a:extLst>
          </p:cNvPr>
          <p:cNvSpPr txBox="1"/>
          <p:nvPr/>
        </p:nvSpPr>
        <p:spPr>
          <a:xfrm>
            <a:off x="277906" y="1563761"/>
            <a:ext cx="3039035" cy="4708981"/>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Now consider the CAL that uses portfolio B</a:t>
            </a:r>
          </a:p>
          <a:p>
            <a:r>
              <a:rPr lang="en-US" sz="2000" dirty="0">
                <a:latin typeface="Times New Roman" panose="02020603050405020304" pitchFamily="18" charset="0"/>
                <a:cs typeface="Times New Roman" panose="02020603050405020304" pitchFamily="18" charset="0"/>
              </a:rPr>
              <a:t>instead of A. Portfolio B invests 70% in bonds and</a:t>
            </a:r>
          </a:p>
          <a:p>
            <a:r>
              <a:rPr lang="en-US" sz="2000" dirty="0">
                <a:latin typeface="Times New Roman" panose="02020603050405020304" pitchFamily="18" charset="0"/>
                <a:cs typeface="Times New Roman" panose="02020603050405020304" pitchFamily="18" charset="0"/>
              </a:rPr>
              <a:t>30% in stocks.</a:t>
            </a:r>
          </a:p>
          <a:p>
            <a:r>
              <a:rPr lang="en-US" sz="2000" dirty="0">
                <a:latin typeface="Times New Roman" panose="02020603050405020304" pitchFamily="18" charset="0"/>
                <a:cs typeface="Times New Roman" panose="02020603050405020304" pitchFamily="18" charset="0"/>
              </a:rPr>
              <a:t>We can continue</a:t>
            </a:r>
          </a:p>
          <a:p>
            <a:r>
              <a:rPr lang="en-US" sz="2000" dirty="0">
                <a:latin typeface="Times New Roman" panose="02020603050405020304" pitchFamily="18" charset="0"/>
                <a:cs typeface="Times New Roman" panose="02020603050405020304" pitchFamily="18" charset="0"/>
              </a:rPr>
              <a:t>to ratchet the CAL upward to the greatest extent</a:t>
            </a:r>
          </a:p>
          <a:p>
            <a:r>
              <a:rPr lang="en-US" sz="2000" dirty="0">
                <a:latin typeface="Times New Roman" panose="02020603050405020304" pitchFamily="18" charset="0"/>
                <a:cs typeface="Times New Roman" panose="02020603050405020304" pitchFamily="18" charset="0"/>
              </a:rPr>
              <a:t>possible, which is where it ultimately reaches the point of tangency with the investment opportunity set. This yields the CAL with the highest feasible Sharpe ratio</a:t>
            </a:r>
          </a:p>
        </p:txBody>
      </p:sp>
      <p:pic>
        <p:nvPicPr>
          <p:cNvPr id="7" name="Picture 6">
            <a:extLst>
              <a:ext uri="{FF2B5EF4-FFF2-40B4-BE49-F238E27FC236}">
                <a16:creationId xmlns:a16="http://schemas.microsoft.com/office/drawing/2014/main" id="{F71BCC11-984F-464A-A727-9A1C0A98F644}"/>
              </a:ext>
            </a:extLst>
          </p:cNvPr>
          <p:cNvPicPr>
            <a:picLocks noChangeAspect="1"/>
          </p:cNvPicPr>
          <p:nvPr/>
        </p:nvPicPr>
        <p:blipFill>
          <a:blip r:embed="rId2"/>
          <a:stretch>
            <a:fillRect/>
          </a:stretch>
        </p:blipFill>
        <p:spPr>
          <a:xfrm>
            <a:off x="3634859" y="1563761"/>
            <a:ext cx="4725059" cy="4382112"/>
          </a:xfrm>
          <a:prstGeom prst="rect">
            <a:avLst/>
          </a:prstGeom>
        </p:spPr>
      </p:pic>
    </p:spTree>
    <p:extLst>
      <p:ext uri="{BB962C8B-B14F-4D97-AF65-F5344CB8AC3E}">
        <p14:creationId xmlns:p14="http://schemas.microsoft.com/office/powerpoint/2010/main" val="466461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F3E03-B6AB-3871-905E-D1BD50F0F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F81CD-B4BA-0046-AAF9-881A4E10D964}"/>
              </a:ext>
            </a:extLst>
          </p:cNvPr>
          <p:cNvSpPr>
            <a:spLocks noGrp="1"/>
          </p:cNvSpPr>
          <p:nvPr>
            <p:ph type="title"/>
          </p:nvPr>
        </p:nvSpPr>
        <p:spPr/>
        <p:txBody>
          <a:bodyPr>
            <a:normAutofit/>
          </a:bodyPr>
          <a:lstStyle/>
          <a:p>
            <a:r>
              <a:rPr lang="en-US" dirty="0"/>
              <a:t>The optimal portfolio</a:t>
            </a:r>
            <a:endParaRPr dirty="0"/>
          </a:p>
        </p:txBody>
      </p:sp>
      <p:sp>
        <p:nvSpPr>
          <p:cNvPr id="10" name="TextBox 9">
            <a:extLst>
              <a:ext uri="{FF2B5EF4-FFF2-40B4-BE49-F238E27FC236}">
                <a16:creationId xmlns:a16="http://schemas.microsoft.com/office/drawing/2014/main" id="{60B269E9-D209-F4CD-CE5D-C20A4ED680B0}"/>
              </a:ext>
            </a:extLst>
          </p:cNvPr>
          <p:cNvSpPr txBox="1"/>
          <p:nvPr/>
        </p:nvSpPr>
        <p:spPr>
          <a:xfrm>
            <a:off x="528916" y="1298993"/>
            <a:ext cx="7019365"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The weights of the optimal risky portfolio</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6BBC6C9-B682-4D3E-F67C-B6C557371953}"/>
                  </a:ext>
                </a:extLst>
              </p:cNvPr>
              <p:cNvSpPr txBox="1"/>
              <p:nvPr/>
            </p:nvSpPr>
            <p:spPr>
              <a:xfrm>
                <a:off x="233082" y="2166835"/>
                <a:ext cx="8534400" cy="7602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𝐸</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𝑓</m:t>
                              </m:r>
                            </m:sub>
                          </m:sSub>
                          <m:r>
                            <a:rPr lang="en-US" b="0" i="1" smtClean="0">
                              <a:latin typeface="Cambria Math" panose="02040503050406030204" pitchFamily="18" charset="0"/>
                            </a:rPr>
                            <m:t>)</m:t>
                          </m:r>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𝐸</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b="0" i="1" smtClean="0">
                                          <a:latin typeface="Cambria Math" panose="02040503050406030204" pitchFamily="18" charset="0"/>
                                        </a:rPr>
                                        <m:t>2</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𝑓</m:t>
                                  </m:r>
                                </m:sub>
                              </m:sSub>
                              <m:r>
                                <a:rPr lang="en-US" i="1">
                                  <a:latin typeface="Cambria Math" panose="02040503050406030204" pitchFamily="18" charset="0"/>
                                </a:rPr>
                                <m:t>)</m:t>
                              </m:r>
                              <m:r>
                                <a:rPr lang="en-US" b="0" i="1" smtClean="0">
                                  <a:latin typeface="Cambria Math" panose="02040503050406030204" pitchFamily="18" charset="0"/>
                                </a:rPr>
                                <m:t>𝑟</m:t>
                              </m:r>
                            </m:e>
                            <m:sub>
                              <m:r>
                                <a:rPr lang="en-US" b="0" i="1" smtClean="0">
                                  <a:latin typeface="Cambria Math" panose="02040503050406030204" pitchFamily="18" charset="0"/>
                                </a:rPr>
                                <m:t>12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2</m:t>
                              </m:r>
                            </m:sub>
                          </m:sSub>
                        </m:num>
                        <m:den>
                          <m:d>
                            <m:dPr>
                              <m:ctrlPr>
                                <a:rPr lang="en-US" i="1">
                                  <a:latin typeface="Cambria Math" panose="02040503050406030204" pitchFamily="18" charset="0"/>
                                </a:rPr>
                              </m:ctrlPr>
                            </m:dPr>
                            <m:e>
                              <m:r>
                                <a:rPr lang="en-US" i="1">
                                  <a:latin typeface="Cambria Math" panose="02040503050406030204" pitchFamily="18" charset="0"/>
                                </a:rPr>
                                <m:t>𝐸</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𝑓</m:t>
                                  </m:r>
                                </m:sub>
                              </m:sSub>
                            </m:e>
                          </m:d>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2</m:t>
                              </m:r>
                            </m:sub>
                            <m:sup>
                              <m:r>
                                <a:rPr lang="en-US" i="1">
                                  <a:latin typeface="Cambria Math" panose="02040503050406030204" pitchFamily="18" charset="0"/>
                                </a:rPr>
                                <m:t>2</m:t>
                              </m:r>
                            </m:sup>
                          </m:sSubSup>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𝐸</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b="0" i="1" smtClean="0">
                                          <a:latin typeface="Cambria Math" panose="02040503050406030204" pitchFamily="18" charset="0"/>
                                        </a:rPr>
                                        <m:t>2</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𝑓</m:t>
                                  </m:r>
                                </m:sub>
                              </m:sSub>
                            </m:e>
                          </m:d>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1</m:t>
                              </m:r>
                            </m:sub>
                            <m:sup>
                              <m:r>
                                <a:rPr lang="en-US" i="1">
                                  <a:latin typeface="Cambria Math" panose="02040503050406030204" pitchFamily="18" charset="0"/>
                                </a:rPr>
                                <m:t>2</m:t>
                              </m:r>
                            </m:sup>
                          </m:sSub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𝐸</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sub>
                                  </m:sSub>
                                </m:e>
                              </m:d>
                              <m:r>
                                <a:rPr lang="en-US" b="0" i="1" smtClean="0">
                                  <a:latin typeface="Cambria Math" panose="02040503050406030204" pitchFamily="18" charset="0"/>
                                </a:rPr>
                                <m:t>+</m:t>
                              </m:r>
                              <m:r>
                                <a:rPr lang="en-US" i="1">
                                  <a:latin typeface="Cambria Math" panose="02040503050406030204" pitchFamily="18" charset="0"/>
                                </a:rPr>
                                <m:t>𝐸</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2</m:t>
                                  </m:r>
                                  <m:r>
                                    <a:rPr lang="en-US" i="1">
                                      <a:latin typeface="Cambria Math" panose="02040503050406030204" pitchFamily="18" charset="0"/>
                                    </a:rPr>
                                    <m:t>𝑟</m:t>
                                  </m:r>
                                </m:e>
                                <m:sub>
                                  <m:r>
                                    <a:rPr lang="en-US" i="1">
                                      <a:latin typeface="Cambria Math" panose="02040503050406030204" pitchFamily="18" charset="0"/>
                                    </a:rPr>
                                    <m:t>𝑓</m:t>
                                  </m:r>
                                </m:sub>
                              </m:sSub>
                              <m:r>
                                <a:rPr lang="en-US" i="1">
                                  <a:latin typeface="Cambria Math" panose="02040503050406030204" pitchFamily="18" charset="0"/>
                                </a:rPr>
                                <m:t>)</m:t>
                              </m:r>
                              <m:r>
                                <a:rPr lang="en-US" i="1">
                                  <a:latin typeface="Cambria Math" panose="02040503050406030204" pitchFamily="18" charset="0"/>
                                </a:rPr>
                                <m:t>𝑟</m:t>
                              </m:r>
                            </m:e>
                            <m:sub>
                              <m:r>
                                <a:rPr lang="en-US" i="1">
                                  <a:latin typeface="Cambria Math" panose="02040503050406030204" pitchFamily="18" charset="0"/>
                                </a:rPr>
                                <m:t>12</m:t>
                              </m:r>
                            </m:sub>
                          </m:s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2</m:t>
                              </m:r>
                            </m:sub>
                          </m:sSub>
                        </m:den>
                      </m:f>
                    </m:oMath>
                  </m:oMathPara>
                </a14:m>
                <a:endParaRPr lang="en-US" dirty="0"/>
              </a:p>
            </p:txBody>
          </p:sp>
        </mc:Choice>
        <mc:Fallback xmlns="">
          <p:sp>
            <p:nvSpPr>
              <p:cNvPr id="12" name="TextBox 11">
                <a:extLst>
                  <a:ext uri="{FF2B5EF4-FFF2-40B4-BE49-F238E27FC236}">
                    <a16:creationId xmlns:a16="http://schemas.microsoft.com/office/drawing/2014/main" id="{A6BBC6C9-B682-4D3E-F67C-B6C557371953}"/>
                  </a:ext>
                </a:extLst>
              </p:cNvPr>
              <p:cNvSpPr txBox="1">
                <a:spLocks noRot="1" noChangeAspect="1" noMove="1" noResize="1" noEditPoints="1" noAdjustHandles="1" noChangeArrowheads="1" noChangeShapeType="1" noTextEdit="1"/>
              </p:cNvSpPr>
              <p:nvPr/>
            </p:nvSpPr>
            <p:spPr>
              <a:xfrm>
                <a:off x="233082" y="2166835"/>
                <a:ext cx="8534400" cy="760273"/>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01228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67706"/>
            <a:ext cx="8157004" cy="994172"/>
          </a:xfrm>
        </p:spPr>
        <p:txBody>
          <a:bodyPr>
            <a:normAutofit/>
          </a:bodyPr>
          <a:lstStyle/>
          <a:p>
            <a:r>
              <a:rPr lang="en-US" dirty="0"/>
              <a:t>The Efficient Frontier</a:t>
            </a:r>
          </a:p>
        </p:txBody>
      </p:sp>
      <p:sp>
        <p:nvSpPr>
          <p:cNvPr id="3" name="Content Placeholder 2"/>
          <p:cNvSpPr>
            <a:spLocks noGrp="1"/>
          </p:cNvSpPr>
          <p:nvPr>
            <p:ph idx="1"/>
          </p:nvPr>
        </p:nvSpPr>
        <p:spPr>
          <a:xfrm>
            <a:off x="628650" y="1638270"/>
            <a:ext cx="7886700" cy="4752024"/>
          </a:xfrm>
        </p:spPr>
        <p:txBody>
          <a:bodyPr>
            <a:normAutofit fontScale="85000" lnSpcReduction="20000"/>
          </a:bodyPr>
          <a:lstStyle/>
          <a:p>
            <a:pPr marL="0" indent="0" algn="just">
              <a:buNone/>
            </a:pPr>
            <a:r>
              <a:rPr lang="en-US" dirty="0"/>
              <a:t>The Efficient Frontier:</a:t>
            </a:r>
          </a:p>
          <a:p>
            <a:pPr marL="0" indent="0" algn="just">
              <a:buNone/>
            </a:pPr>
            <a:r>
              <a:rPr lang="en-US" dirty="0"/>
              <a:t>The efficient frontier represents that set of portfolios that has the maximum rate of return for every given level of risk or the minimum risk for every level of return.</a:t>
            </a:r>
          </a:p>
          <a:p>
            <a:pPr marL="0" indent="0" algn="just">
              <a:buNone/>
            </a:pPr>
            <a:r>
              <a:rPr lang="en-US" dirty="0"/>
              <a:t>No portfolio on the efficient frontier can dominate any other portfolio on the efficient frontier. All of these portfolios have different return and risk measures, with expected rates of return that increase with higher risk. </a:t>
            </a:r>
          </a:p>
          <a:p>
            <a:pPr marL="0" indent="0" algn="just">
              <a:buNone/>
            </a:pPr>
            <a:r>
              <a:rPr lang="en-US" dirty="0"/>
              <a:t>According to mean–variance theory, in determining a strategic asset allocation an investor should choose from among the efficient portfolios consistent with that investor’s risk tolerance</a:t>
            </a:r>
          </a:p>
          <a:p>
            <a:pPr marL="0" indent="0" algn="just">
              <a:buNone/>
            </a:pPr>
            <a:endParaRPr lang="en-US" dirty="0"/>
          </a:p>
        </p:txBody>
      </p:sp>
    </p:spTree>
    <p:extLst>
      <p:ext uri="{BB962C8B-B14F-4D97-AF65-F5344CB8AC3E}">
        <p14:creationId xmlns:p14="http://schemas.microsoft.com/office/powerpoint/2010/main" val="3438166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9E15F4C-A87B-622C-88D9-A40A91CC8692}"/>
              </a:ext>
            </a:extLst>
          </p:cNvPr>
          <p:cNvSpPr>
            <a:spLocks noGrp="1"/>
          </p:cNvSpPr>
          <p:nvPr>
            <p:ph type="title"/>
          </p:nvPr>
        </p:nvSpPr>
        <p:spPr>
          <a:xfrm>
            <a:off x="718297" y="207730"/>
            <a:ext cx="8157004" cy="994172"/>
          </a:xfrm>
        </p:spPr>
        <p:txBody>
          <a:bodyPr>
            <a:normAutofit/>
          </a:bodyPr>
          <a:lstStyle/>
          <a:p>
            <a:r>
              <a:rPr lang="en-US" dirty="0"/>
              <a:t>The Efficient Frontier</a:t>
            </a:r>
          </a:p>
        </p:txBody>
      </p:sp>
      <p:pic>
        <p:nvPicPr>
          <p:cNvPr id="8" name="Picture 7">
            <a:extLst>
              <a:ext uri="{FF2B5EF4-FFF2-40B4-BE49-F238E27FC236}">
                <a16:creationId xmlns:a16="http://schemas.microsoft.com/office/drawing/2014/main" id="{5EB0CC23-A498-580E-DE6B-771C6BEA2169}"/>
              </a:ext>
            </a:extLst>
          </p:cNvPr>
          <p:cNvPicPr>
            <a:picLocks noChangeAspect="1"/>
          </p:cNvPicPr>
          <p:nvPr/>
        </p:nvPicPr>
        <p:blipFill>
          <a:blip r:embed="rId2"/>
          <a:stretch>
            <a:fillRect/>
          </a:stretch>
        </p:blipFill>
        <p:spPr>
          <a:xfrm>
            <a:off x="1378916" y="1336642"/>
            <a:ext cx="6386168" cy="4716862"/>
          </a:xfrm>
          <a:prstGeom prst="rect">
            <a:avLst/>
          </a:prstGeom>
        </p:spPr>
      </p:pic>
    </p:spTree>
    <p:extLst>
      <p:ext uri="{BB962C8B-B14F-4D97-AF65-F5344CB8AC3E}">
        <p14:creationId xmlns:p14="http://schemas.microsoft.com/office/powerpoint/2010/main" val="4014895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8297" y="1526059"/>
            <a:ext cx="7886700" cy="3805881"/>
          </a:xfrm>
        </p:spPr>
        <p:txBody>
          <a:bodyPr>
            <a:normAutofit fontScale="92500" lnSpcReduction="10000"/>
          </a:bodyPr>
          <a:lstStyle/>
          <a:p>
            <a:pPr marL="0" indent="0" algn="just">
              <a:buNone/>
            </a:pPr>
            <a:r>
              <a:rPr lang="en-US" dirty="0"/>
              <a:t>A corner portfolios define a segment of the efficient frontier within which (1) portfolios hold identical assets and (2) the rate of change of asset weights in moving from one portfolio to another is constant. </a:t>
            </a:r>
          </a:p>
          <a:p>
            <a:pPr marL="0" indent="0" algn="just">
              <a:buNone/>
            </a:pPr>
            <a:r>
              <a:rPr lang="en-US" dirty="0"/>
              <a:t>As the minimum-variance frontier passes through a corner portfolio, an asset weight either changes from zero to positive or from positive to zero</a:t>
            </a:r>
          </a:p>
        </p:txBody>
      </p:sp>
      <p:sp>
        <p:nvSpPr>
          <p:cNvPr id="6" name="Title 1">
            <a:extLst>
              <a:ext uri="{FF2B5EF4-FFF2-40B4-BE49-F238E27FC236}">
                <a16:creationId xmlns:a16="http://schemas.microsoft.com/office/drawing/2014/main" id="{C4EF16F6-2914-9908-A017-38ABEB454B56}"/>
              </a:ext>
            </a:extLst>
          </p:cNvPr>
          <p:cNvSpPr>
            <a:spLocks noGrp="1"/>
          </p:cNvSpPr>
          <p:nvPr>
            <p:ph type="title"/>
          </p:nvPr>
        </p:nvSpPr>
        <p:spPr>
          <a:xfrm>
            <a:off x="718297" y="207730"/>
            <a:ext cx="8157004" cy="994172"/>
          </a:xfrm>
        </p:spPr>
        <p:txBody>
          <a:bodyPr>
            <a:normAutofit/>
          </a:bodyPr>
          <a:lstStyle/>
          <a:p>
            <a:r>
              <a:rPr lang="en-US" dirty="0"/>
              <a:t>The Efficient Frontier</a:t>
            </a:r>
          </a:p>
        </p:txBody>
      </p:sp>
    </p:spTree>
    <p:extLst>
      <p:ext uri="{BB962C8B-B14F-4D97-AF65-F5344CB8AC3E}">
        <p14:creationId xmlns:p14="http://schemas.microsoft.com/office/powerpoint/2010/main" val="218210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628649" y="2482849"/>
          <a:ext cx="7543800" cy="2258790"/>
        </p:xfrm>
        <a:graphic>
          <a:graphicData uri="http://schemas.openxmlformats.org/drawingml/2006/table">
            <a:tbl>
              <a:tblPr firstRow="1" bandRow="1">
                <a:tableStyleId>{5C22544A-7EE6-4342-B048-85BDC9FD1C3A}</a:tableStyleId>
              </a:tblPr>
              <a:tblGrid>
                <a:gridCol w="3771900">
                  <a:extLst>
                    <a:ext uri="{9D8B030D-6E8A-4147-A177-3AD203B41FA5}">
                      <a16:colId xmlns:a16="http://schemas.microsoft.com/office/drawing/2014/main" val="860095970"/>
                    </a:ext>
                  </a:extLst>
                </a:gridCol>
                <a:gridCol w="1885950">
                  <a:extLst>
                    <a:ext uri="{9D8B030D-6E8A-4147-A177-3AD203B41FA5}">
                      <a16:colId xmlns:a16="http://schemas.microsoft.com/office/drawing/2014/main" val="1411120519"/>
                    </a:ext>
                  </a:extLst>
                </a:gridCol>
                <a:gridCol w="1885950">
                  <a:extLst>
                    <a:ext uri="{9D8B030D-6E8A-4147-A177-3AD203B41FA5}">
                      <a16:colId xmlns:a16="http://schemas.microsoft.com/office/drawing/2014/main" val="3625327825"/>
                    </a:ext>
                  </a:extLst>
                </a:gridCol>
              </a:tblGrid>
              <a:tr h="293915">
                <a:tc>
                  <a:txBody>
                    <a:bodyPr/>
                    <a:lstStyle/>
                    <a:p>
                      <a:pPr algn="ctr"/>
                      <a:r>
                        <a:rPr lang="en-US" sz="1400" dirty="0">
                          <a:latin typeface="Times New Roman" panose="02020603050405020304" pitchFamily="18" charset="0"/>
                          <a:cs typeface="Times New Roman" panose="02020603050405020304" pitchFamily="18" charset="0"/>
                        </a:rPr>
                        <a:t>Asset</a:t>
                      </a:r>
                      <a:r>
                        <a:rPr lang="en-US" sz="1400" baseline="0" dirty="0">
                          <a:latin typeface="Times New Roman" panose="02020603050405020304" pitchFamily="18" charset="0"/>
                          <a:cs typeface="Times New Roman" panose="02020603050405020304" pitchFamily="18" charset="0"/>
                        </a:rPr>
                        <a:t> class</a:t>
                      </a:r>
                      <a:endParaRPr lang="en-US" sz="14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Expected</a:t>
                      </a:r>
                      <a:r>
                        <a:rPr lang="en-US" sz="1400" baseline="0" dirty="0">
                          <a:latin typeface="Times New Roman" panose="02020603050405020304" pitchFamily="18" charset="0"/>
                          <a:cs typeface="Times New Roman" panose="02020603050405020304" pitchFamily="18" charset="0"/>
                        </a:rPr>
                        <a:t> return (%)</a:t>
                      </a:r>
                      <a:endParaRPr lang="en-US" sz="14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Standard</a:t>
                      </a:r>
                      <a:r>
                        <a:rPr lang="en-US" sz="1400" baseline="0" dirty="0">
                          <a:latin typeface="Times New Roman" panose="02020603050405020304" pitchFamily="18" charset="0"/>
                          <a:cs typeface="Times New Roman" panose="02020603050405020304" pitchFamily="18" charset="0"/>
                        </a:rPr>
                        <a:t> deviation (%)</a:t>
                      </a:r>
                      <a:endParaRPr lang="en-US" sz="14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4493451"/>
                  </a:ext>
                </a:extLst>
              </a:tr>
              <a:tr h="293915">
                <a:tc>
                  <a:txBody>
                    <a:bodyPr/>
                    <a:lstStyle/>
                    <a:p>
                      <a:r>
                        <a:rPr lang="en-US" sz="1400" dirty="0">
                          <a:latin typeface="Times New Roman" panose="02020603050405020304" pitchFamily="18" charset="0"/>
                          <a:cs typeface="Times New Roman" panose="02020603050405020304" pitchFamily="18" charset="0"/>
                        </a:rPr>
                        <a:t>Vietnamese</a:t>
                      </a:r>
                      <a:r>
                        <a:rPr lang="en-US" sz="1400" baseline="0" dirty="0">
                          <a:latin typeface="Times New Roman" panose="02020603050405020304" pitchFamily="18" charset="0"/>
                          <a:cs typeface="Times New Roman" panose="02020603050405020304" pitchFamily="18" charset="0"/>
                        </a:rPr>
                        <a:t> Stocks (1)</a:t>
                      </a:r>
                      <a:endParaRPr lang="en-US" sz="14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10</a:t>
                      </a: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15</a:t>
                      </a:r>
                    </a:p>
                  </a:txBody>
                  <a:tcPr marL="68580" marR="68580" marT="34290" marB="34290"/>
                </a:tc>
                <a:extLst>
                  <a:ext uri="{0D108BD9-81ED-4DB2-BD59-A6C34878D82A}">
                    <a16:rowId xmlns:a16="http://schemas.microsoft.com/office/drawing/2014/main" val="3201626555"/>
                  </a:ext>
                </a:extLst>
              </a:tr>
              <a:tr h="293915">
                <a:tc>
                  <a:txBody>
                    <a:bodyPr/>
                    <a:lstStyle/>
                    <a:p>
                      <a:r>
                        <a:rPr lang="en-US" sz="1400" dirty="0">
                          <a:latin typeface="Times New Roman" panose="02020603050405020304" pitchFamily="18" charset="0"/>
                          <a:cs typeface="Times New Roman" panose="02020603050405020304" pitchFamily="18" charset="0"/>
                        </a:rPr>
                        <a:t>Chinese</a:t>
                      </a:r>
                      <a:r>
                        <a:rPr lang="en-US" sz="1400" baseline="0" dirty="0">
                          <a:latin typeface="Times New Roman" panose="02020603050405020304" pitchFamily="18" charset="0"/>
                          <a:cs typeface="Times New Roman" panose="02020603050405020304" pitchFamily="18" charset="0"/>
                        </a:rPr>
                        <a:t> Stocks (2)</a:t>
                      </a:r>
                      <a:endParaRPr lang="en-US" sz="14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8</a:t>
                      </a: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12</a:t>
                      </a:r>
                    </a:p>
                  </a:txBody>
                  <a:tcPr marL="68580" marR="68580" marT="34290" marB="34290"/>
                </a:tc>
                <a:extLst>
                  <a:ext uri="{0D108BD9-81ED-4DB2-BD59-A6C34878D82A}">
                    <a16:rowId xmlns:a16="http://schemas.microsoft.com/office/drawing/2014/main" val="3801335426"/>
                  </a:ext>
                </a:extLst>
              </a:tr>
              <a:tr h="293915">
                <a:tc>
                  <a:txBody>
                    <a:bodyPr/>
                    <a:lstStyle/>
                    <a:p>
                      <a:r>
                        <a:rPr lang="en-US" sz="1400" dirty="0">
                          <a:latin typeface="Times New Roman" panose="02020603050405020304" pitchFamily="18" charset="0"/>
                          <a:cs typeface="Times New Roman" panose="02020603050405020304" pitchFamily="18" charset="0"/>
                        </a:rPr>
                        <a:t>Vietnamese government</a:t>
                      </a:r>
                      <a:r>
                        <a:rPr lang="en-US" sz="1400" baseline="0" dirty="0">
                          <a:latin typeface="Times New Roman" panose="02020603050405020304" pitchFamily="18" charset="0"/>
                          <a:cs typeface="Times New Roman" panose="02020603050405020304" pitchFamily="18" charset="0"/>
                        </a:rPr>
                        <a:t> 1Y bond (3)</a:t>
                      </a:r>
                      <a:endParaRPr lang="en-US" sz="14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4</a:t>
                      </a: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7</a:t>
                      </a:r>
                    </a:p>
                  </a:txBody>
                  <a:tcPr marL="68580" marR="68580" marT="34290" marB="34290"/>
                </a:tc>
                <a:extLst>
                  <a:ext uri="{0D108BD9-81ED-4DB2-BD59-A6C34878D82A}">
                    <a16:rowId xmlns:a16="http://schemas.microsoft.com/office/drawing/2014/main" val="1663962514"/>
                  </a:ext>
                </a:extLst>
              </a:tr>
              <a:tr h="2939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Vietnamese government</a:t>
                      </a:r>
                      <a:r>
                        <a:rPr lang="en-US" sz="1400" baseline="0" dirty="0">
                          <a:latin typeface="Times New Roman" panose="02020603050405020304" pitchFamily="18" charset="0"/>
                          <a:cs typeface="Times New Roman" panose="02020603050405020304" pitchFamily="18" charset="0"/>
                        </a:rPr>
                        <a:t> 10Y bond (4)</a:t>
                      </a:r>
                      <a:endParaRPr lang="en-US" sz="14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4.5</a:t>
                      </a: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8</a:t>
                      </a:r>
                    </a:p>
                  </a:txBody>
                  <a:tcPr marL="68580" marR="68580" marT="34290" marB="34290"/>
                </a:tc>
                <a:extLst>
                  <a:ext uri="{0D108BD9-81ED-4DB2-BD59-A6C34878D82A}">
                    <a16:rowId xmlns:a16="http://schemas.microsoft.com/office/drawing/2014/main" val="3320753598"/>
                  </a:ext>
                </a:extLst>
              </a:tr>
              <a:tr h="293915">
                <a:tc>
                  <a:txBody>
                    <a:bodyPr/>
                    <a:lstStyle/>
                    <a:p>
                      <a:r>
                        <a:rPr lang="en-US" sz="1400" dirty="0">
                          <a:latin typeface="Times New Roman" panose="02020603050405020304" pitchFamily="18" charset="0"/>
                          <a:cs typeface="Times New Roman" panose="02020603050405020304" pitchFamily="18" charset="0"/>
                        </a:rPr>
                        <a:t>Chinese government 15Y bond (5)</a:t>
                      </a: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5</a:t>
                      </a: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9</a:t>
                      </a:r>
                    </a:p>
                  </a:txBody>
                  <a:tcPr marL="68580" marR="68580" marT="34290" marB="34290"/>
                </a:tc>
                <a:extLst>
                  <a:ext uri="{0D108BD9-81ED-4DB2-BD59-A6C34878D82A}">
                    <a16:rowId xmlns:a16="http://schemas.microsoft.com/office/drawing/2014/main" val="842078271"/>
                  </a:ext>
                </a:extLst>
              </a:tr>
              <a:tr h="2939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Vietnamese corporate</a:t>
                      </a:r>
                      <a:r>
                        <a:rPr lang="en-US" sz="1400" baseline="0" dirty="0">
                          <a:latin typeface="Times New Roman" panose="02020603050405020304" pitchFamily="18" charset="0"/>
                          <a:cs typeface="Times New Roman" panose="02020603050405020304" pitchFamily="18" charset="0"/>
                        </a:rPr>
                        <a:t> 10Y bond (6)</a:t>
                      </a:r>
                      <a:endParaRPr lang="en-US" sz="14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7</a:t>
                      </a:r>
                    </a:p>
                  </a:txBody>
                  <a:tcPr marL="68580" marR="68580" marT="34290" marB="34290"/>
                </a:tc>
                <a:tc>
                  <a:txBody>
                    <a:bodyPr/>
                    <a:lstStyle/>
                    <a:p>
                      <a:pPr algn="ctr"/>
                      <a:r>
                        <a:rPr lang="en-US" sz="1400" dirty="0">
                          <a:latin typeface="Times New Roman" panose="02020603050405020304" pitchFamily="18" charset="0"/>
                          <a:cs typeface="Times New Roman" panose="02020603050405020304" pitchFamily="18" charset="0"/>
                        </a:rPr>
                        <a:t>10</a:t>
                      </a:r>
                    </a:p>
                  </a:txBody>
                  <a:tcPr marL="68580" marR="68580" marT="34290" marB="34290"/>
                </a:tc>
                <a:extLst>
                  <a:ext uri="{0D108BD9-81ED-4DB2-BD59-A6C34878D82A}">
                    <a16:rowId xmlns:a16="http://schemas.microsoft.com/office/drawing/2014/main" val="2260859393"/>
                  </a:ext>
                </a:extLst>
              </a:tr>
            </a:tbl>
          </a:graphicData>
        </a:graphic>
      </p:graphicFrame>
      <p:sp>
        <p:nvSpPr>
          <p:cNvPr id="8" name="Title 1">
            <a:extLst>
              <a:ext uri="{FF2B5EF4-FFF2-40B4-BE49-F238E27FC236}">
                <a16:creationId xmlns:a16="http://schemas.microsoft.com/office/drawing/2014/main" id="{09772634-1815-830D-A671-96A177E3D40D}"/>
              </a:ext>
            </a:extLst>
          </p:cNvPr>
          <p:cNvSpPr>
            <a:spLocks noGrp="1"/>
          </p:cNvSpPr>
          <p:nvPr>
            <p:ph type="title"/>
          </p:nvPr>
        </p:nvSpPr>
        <p:spPr>
          <a:xfrm>
            <a:off x="718297" y="207730"/>
            <a:ext cx="8157004" cy="994172"/>
          </a:xfrm>
        </p:spPr>
        <p:txBody>
          <a:bodyPr>
            <a:normAutofit/>
          </a:bodyPr>
          <a:lstStyle/>
          <a:p>
            <a:r>
              <a:rPr lang="en-US" dirty="0"/>
              <a:t>The Efficient Frontier</a:t>
            </a:r>
          </a:p>
        </p:txBody>
      </p:sp>
    </p:spTree>
    <p:extLst>
      <p:ext uri="{BB962C8B-B14F-4D97-AF65-F5344CB8AC3E}">
        <p14:creationId xmlns:p14="http://schemas.microsoft.com/office/powerpoint/2010/main" val="2253874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576207729"/>
              </p:ext>
            </p:extLst>
          </p:nvPr>
        </p:nvGraphicFramePr>
        <p:xfrm>
          <a:off x="192405" y="1628402"/>
          <a:ext cx="8778240" cy="2964180"/>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872848332"/>
                    </a:ext>
                  </a:extLst>
                </a:gridCol>
                <a:gridCol w="975360">
                  <a:extLst>
                    <a:ext uri="{9D8B030D-6E8A-4147-A177-3AD203B41FA5}">
                      <a16:colId xmlns:a16="http://schemas.microsoft.com/office/drawing/2014/main" val="1637540368"/>
                    </a:ext>
                  </a:extLst>
                </a:gridCol>
                <a:gridCol w="975360">
                  <a:extLst>
                    <a:ext uri="{9D8B030D-6E8A-4147-A177-3AD203B41FA5}">
                      <a16:colId xmlns:a16="http://schemas.microsoft.com/office/drawing/2014/main" val="62396520"/>
                    </a:ext>
                  </a:extLst>
                </a:gridCol>
                <a:gridCol w="975360">
                  <a:extLst>
                    <a:ext uri="{9D8B030D-6E8A-4147-A177-3AD203B41FA5}">
                      <a16:colId xmlns:a16="http://schemas.microsoft.com/office/drawing/2014/main" val="3542268989"/>
                    </a:ext>
                  </a:extLst>
                </a:gridCol>
                <a:gridCol w="975360">
                  <a:extLst>
                    <a:ext uri="{9D8B030D-6E8A-4147-A177-3AD203B41FA5}">
                      <a16:colId xmlns:a16="http://schemas.microsoft.com/office/drawing/2014/main" val="3921395903"/>
                    </a:ext>
                  </a:extLst>
                </a:gridCol>
                <a:gridCol w="975360">
                  <a:extLst>
                    <a:ext uri="{9D8B030D-6E8A-4147-A177-3AD203B41FA5}">
                      <a16:colId xmlns:a16="http://schemas.microsoft.com/office/drawing/2014/main" val="2197415633"/>
                    </a:ext>
                  </a:extLst>
                </a:gridCol>
                <a:gridCol w="975360">
                  <a:extLst>
                    <a:ext uri="{9D8B030D-6E8A-4147-A177-3AD203B41FA5}">
                      <a16:colId xmlns:a16="http://schemas.microsoft.com/office/drawing/2014/main" val="3586183186"/>
                    </a:ext>
                  </a:extLst>
                </a:gridCol>
                <a:gridCol w="975360">
                  <a:extLst>
                    <a:ext uri="{9D8B030D-6E8A-4147-A177-3AD203B41FA5}">
                      <a16:colId xmlns:a16="http://schemas.microsoft.com/office/drawing/2014/main" val="2148977258"/>
                    </a:ext>
                  </a:extLst>
                </a:gridCol>
                <a:gridCol w="975360">
                  <a:extLst>
                    <a:ext uri="{9D8B030D-6E8A-4147-A177-3AD203B41FA5}">
                      <a16:colId xmlns:a16="http://schemas.microsoft.com/office/drawing/2014/main" val="2068311413"/>
                    </a:ext>
                  </a:extLst>
                </a:gridCol>
              </a:tblGrid>
              <a:tr h="278130">
                <a:tc>
                  <a:txBody>
                    <a:bodyPr/>
                    <a:lstStyle/>
                    <a:p>
                      <a:endParaRPr lang="en-US" sz="1400" dirty="0"/>
                    </a:p>
                  </a:txBody>
                  <a:tcPr marL="68580" marR="68580" marT="34290" marB="34290"/>
                </a:tc>
                <a:tc>
                  <a:txBody>
                    <a:bodyPr/>
                    <a:lstStyle/>
                    <a:p>
                      <a:endParaRPr lang="en-US" sz="1400" dirty="0"/>
                    </a:p>
                  </a:txBody>
                  <a:tcPr marL="68580" marR="68580" marT="34290" marB="34290"/>
                </a:tc>
                <a:tc>
                  <a:txBody>
                    <a:bodyPr/>
                    <a:lstStyle/>
                    <a:p>
                      <a:endParaRPr lang="en-US" sz="1400" dirty="0"/>
                    </a:p>
                  </a:txBody>
                  <a:tcPr marL="68580" marR="68580" marT="34290" marB="34290"/>
                </a:tc>
                <a:tc gridSpan="6">
                  <a:txBody>
                    <a:bodyPr/>
                    <a:lstStyle/>
                    <a:p>
                      <a:pPr algn="ctr"/>
                      <a:r>
                        <a:rPr lang="en-US" sz="1400" dirty="0"/>
                        <a:t>Weights</a:t>
                      </a:r>
                      <a:r>
                        <a:rPr lang="en-US" sz="1400" baseline="0" dirty="0"/>
                        <a:t> of asset classes</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578267948"/>
                  </a:ext>
                </a:extLst>
              </a:tr>
              <a:tr h="685800">
                <a:tc>
                  <a:txBody>
                    <a:bodyPr/>
                    <a:lstStyle/>
                    <a:p>
                      <a:r>
                        <a:rPr lang="en-US" sz="1400" dirty="0"/>
                        <a:t>Corner</a:t>
                      </a:r>
                      <a:r>
                        <a:rPr lang="en-US" sz="1400" baseline="0" dirty="0"/>
                        <a:t> portfolios</a:t>
                      </a:r>
                      <a:endParaRPr lang="en-US" sz="1400" dirty="0"/>
                    </a:p>
                  </a:txBody>
                  <a:tcPr marL="68580" marR="68580" marT="34290" marB="34290"/>
                </a:tc>
                <a:tc>
                  <a:txBody>
                    <a:bodyPr/>
                    <a:lstStyle/>
                    <a:p>
                      <a:r>
                        <a:rPr lang="en-US" sz="1400" dirty="0"/>
                        <a:t>Expected</a:t>
                      </a:r>
                      <a:r>
                        <a:rPr lang="en-US" sz="1400" baseline="0" dirty="0"/>
                        <a:t> returns (%)</a:t>
                      </a:r>
                      <a:endParaRPr lang="en-US" sz="1400" dirty="0"/>
                    </a:p>
                  </a:txBody>
                  <a:tcPr marL="68580" marR="68580" marT="34290" marB="34290"/>
                </a:tc>
                <a:tc>
                  <a:txBody>
                    <a:bodyPr/>
                    <a:lstStyle/>
                    <a:p>
                      <a:r>
                        <a:rPr lang="en-US" sz="1400" dirty="0"/>
                        <a:t>Standard</a:t>
                      </a:r>
                      <a:r>
                        <a:rPr lang="en-US" sz="1400" baseline="0" dirty="0"/>
                        <a:t> deviations (%)</a:t>
                      </a:r>
                      <a:endParaRPr lang="en-US" sz="1400" dirty="0"/>
                    </a:p>
                  </a:txBody>
                  <a:tcPr marL="68580" marR="68580" marT="34290" marB="34290"/>
                </a:tc>
                <a:tc>
                  <a:txBody>
                    <a:bodyPr/>
                    <a:lstStyle/>
                    <a:p>
                      <a:pPr algn="ctr"/>
                      <a:r>
                        <a:rPr lang="en-US" sz="1400" dirty="0"/>
                        <a:t>1</a:t>
                      </a:r>
                    </a:p>
                  </a:txBody>
                  <a:tcPr marL="68580" marR="68580" marT="34290" marB="34290"/>
                </a:tc>
                <a:tc>
                  <a:txBody>
                    <a:bodyPr/>
                    <a:lstStyle/>
                    <a:p>
                      <a:pPr algn="ctr"/>
                      <a:r>
                        <a:rPr lang="en-US" sz="1400" dirty="0"/>
                        <a:t>2</a:t>
                      </a:r>
                    </a:p>
                  </a:txBody>
                  <a:tcPr marL="68580" marR="68580" marT="34290" marB="34290"/>
                </a:tc>
                <a:tc>
                  <a:txBody>
                    <a:bodyPr/>
                    <a:lstStyle/>
                    <a:p>
                      <a:pPr algn="ctr"/>
                      <a:r>
                        <a:rPr lang="en-US" sz="1400" dirty="0"/>
                        <a:t>3</a:t>
                      </a:r>
                    </a:p>
                  </a:txBody>
                  <a:tcPr marL="68580" marR="68580" marT="34290" marB="34290"/>
                </a:tc>
                <a:tc>
                  <a:txBody>
                    <a:bodyPr/>
                    <a:lstStyle/>
                    <a:p>
                      <a:pPr algn="ctr"/>
                      <a:r>
                        <a:rPr lang="en-US" sz="1400" dirty="0"/>
                        <a:t>4</a:t>
                      </a:r>
                    </a:p>
                  </a:txBody>
                  <a:tcPr marL="68580" marR="68580" marT="34290" marB="34290"/>
                </a:tc>
                <a:tc>
                  <a:txBody>
                    <a:bodyPr/>
                    <a:lstStyle/>
                    <a:p>
                      <a:pPr algn="ctr"/>
                      <a:r>
                        <a:rPr lang="en-US" sz="1400" dirty="0"/>
                        <a:t>5</a:t>
                      </a:r>
                    </a:p>
                  </a:txBody>
                  <a:tcPr marL="68580" marR="68580" marT="34290" marB="34290"/>
                </a:tc>
                <a:tc>
                  <a:txBody>
                    <a:bodyPr/>
                    <a:lstStyle/>
                    <a:p>
                      <a:pPr algn="ctr"/>
                      <a:r>
                        <a:rPr lang="en-US" sz="1400" dirty="0"/>
                        <a:t>6</a:t>
                      </a:r>
                    </a:p>
                  </a:txBody>
                  <a:tcPr marL="68580" marR="68580" marT="34290" marB="34290"/>
                </a:tc>
                <a:extLst>
                  <a:ext uri="{0D108BD9-81ED-4DB2-BD59-A6C34878D82A}">
                    <a16:rowId xmlns:a16="http://schemas.microsoft.com/office/drawing/2014/main" val="4026507417"/>
                  </a:ext>
                </a:extLst>
              </a:tr>
              <a:tr h="278130">
                <a:tc>
                  <a:txBody>
                    <a:bodyPr/>
                    <a:lstStyle/>
                    <a:p>
                      <a:pPr algn="ctr"/>
                      <a:r>
                        <a:rPr lang="en-US" sz="1400" dirty="0"/>
                        <a:t>1</a:t>
                      </a:r>
                    </a:p>
                  </a:txBody>
                  <a:tcPr marL="68580" marR="68580" marT="34290" marB="34290"/>
                </a:tc>
                <a:tc>
                  <a:txBody>
                    <a:bodyPr/>
                    <a:lstStyle/>
                    <a:p>
                      <a:pPr algn="ctr"/>
                      <a:r>
                        <a:rPr lang="en-US" sz="1400" dirty="0"/>
                        <a:t>10</a:t>
                      </a:r>
                    </a:p>
                  </a:txBody>
                  <a:tcPr marL="68580" marR="68580" marT="34290" marB="34290"/>
                </a:tc>
                <a:tc>
                  <a:txBody>
                    <a:bodyPr/>
                    <a:lstStyle/>
                    <a:p>
                      <a:pPr algn="ctr"/>
                      <a:r>
                        <a:rPr lang="en-US" sz="1400" dirty="0"/>
                        <a:t>15</a:t>
                      </a:r>
                    </a:p>
                  </a:txBody>
                  <a:tcPr marL="68580" marR="68580" marT="34290" marB="34290"/>
                </a:tc>
                <a:tc>
                  <a:txBody>
                    <a:bodyPr/>
                    <a:lstStyle/>
                    <a:p>
                      <a:pPr algn="ctr"/>
                      <a:r>
                        <a:rPr lang="en-US" sz="1400" dirty="0"/>
                        <a:t>100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extLst>
                  <a:ext uri="{0D108BD9-81ED-4DB2-BD59-A6C34878D82A}">
                    <a16:rowId xmlns:a16="http://schemas.microsoft.com/office/drawing/2014/main" val="2593698331"/>
                  </a:ext>
                </a:extLst>
              </a:tr>
              <a:tr h="278130">
                <a:tc>
                  <a:txBody>
                    <a:bodyPr/>
                    <a:lstStyle/>
                    <a:p>
                      <a:pPr algn="ctr"/>
                      <a:r>
                        <a:rPr lang="en-US" sz="1400" dirty="0"/>
                        <a:t>2</a:t>
                      </a:r>
                    </a:p>
                  </a:txBody>
                  <a:tcPr marL="68580" marR="68580" marT="34290" marB="34290"/>
                </a:tc>
                <a:tc>
                  <a:txBody>
                    <a:bodyPr/>
                    <a:lstStyle/>
                    <a:p>
                      <a:pPr algn="ctr"/>
                      <a:r>
                        <a:rPr lang="en-US" sz="1400" dirty="0"/>
                        <a:t>8.86</a:t>
                      </a:r>
                    </a:p>
                  </a:txBody>
                  <a:tcPr marL="68580" marR="68580" marT="34290" marB="34290"/>
                </a:tc>
                <a:tc>
                  <a:txBody>
                    <a:bodyPr/>
                    <a:lstStyle/>
                    <a:p>
                      <a:pPr algn="ctr"/>
                      <a:r>
                        <a:rPr lang="en-US" sz="1400" dirty="0"/>
                        <a:t>11.04</a:t>
                      </a:r>
                    </a:p>
                  </a:txBody>
                  <a:tcPr marL="68580" marR="68580" marT="34290" marB="34290"/>
                </a:tc>
                <a:tc>
                  <a:txBody>
                    <a:bodyPr/>
                    <a:lstStyle/>
                    <a:p>
                      <a:pPr algn="ctr"/>
                      <a:r>
                        <a:rPr lang="en-US" sz="1400" dirty="0"/>
                        <a:t>61.9</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38.1</a:t>
                      </a:r>
                    </a:p>
                  </a:txBody>
                  <a:tcPr marL="68580" marR="68580" marT="34290" marB="34290"/>
                </a:tc>
                <a:extLst>
                  <a:ext uri="{0D108BD9-81ED-4DB2-BD59-A6C34878D82A}">
                    <a16:rowId xmlns:a16="http://schemas.microsoft.com/office/drawing/2014/main" val="3059767294"/>
                  </a:ext>
                </a:extLst>
              </a:tr>
              <a:tr h="278130">
                <a:tc>
                  <a:txBody>
                    <a:bodyPr/>
                    <a:lstStyle/>
                    <a:p>
                      <a:pPr algn="ctr"/>
                      <a:r>
                        <a:rPr lang="en-US" sz="1400" dirty="0"/>
                        <a:t>3</a:t>
                      </a:r>
                    </a:p>
                  </a:txBody>
                  <a:tcPr marL="68580" marR="68580" marT="34290" marB="34290"/>
                </a:tc>
                <a:tc>
                  <a:txBody>
                    <a:bodyPr/>
                    <a:lstStyle/>
                    <a:p>
                      <a:pPr algn="ctr"/>
                      <a:r>
                        <a:rPr lang="en-US" sz="1400" dirty="0"/>
                        <a:t>8.35</a:t>
                      </a:r>
                    </a:p>
                  </a:txBody>
                  <a:tcPr marL="68580" marR="68580" marT="34290" marB="34290"/>
                </a:tc>
                <a:tc>
                  <a:txBody>
                    <a:bodyPr/>
                    <a:lstStyle/>
                    <a:p>
                      <a:pPr algn="ctr"/>
                      <a:r>
                        <a:rPr lang="en-US" sz="1400" dirty="0"/>
                        <a:t>9.8</a:t>
                      </a:r>
                    </a:p>
                  </a:txBody>
                  <a:tcPr marL="68580" marR="68580" marT="34290" marB="34290"/>
                </a:tc>
                <a:tc>
                  <a:txBody>
                    <a:bodyPr/>
                    <a:lstStyle/>
                    <a:p>
                      <a:pPr algn="ctr"/>
                      <a:r>
                        <a:rPr lang="en-US" sz="1400" dirty="0"/>
                        <a:t>40.31</a:t>
                      </a:r>
                    </a:p>
                  </a:txBody>
                  <a:tcPr marL="68580" marR="68580" marT="34290" marB="34290"/>
                </a:tc>
                <a:tc>
                  <a:txBody>
                    <a:bodyPr/>
                    <a:lstStyle/>
                    <a:p>
                      <a:pPr algn="ctr"/>
                      <a:r>
                        <a:rPr lang="en-US" sz="1400" dirty="0"/>
                        <a:t>13.85</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45.83</a:t>
                      </a:r>
                    </a:p>
                  </a:txBody>
                  <a:tcPr marL="68580" marR="68580" marT="34290" marB="34290"/>
                </a:tc>
                <a:extLst>
                  <a:ext uri="{0D108BD9-81ED-4DB2-BD59-A6C34878D82A}">
                    <a16:rowId xmlns:a16="http://schemas.microsoft.com/office/drawing/2014/main" val="2006537804"/>
                  </a:ext>
                </a:extLst>
              </a:tr>
              <a:tr h="278130">
                <a:tc>
                  <a:txBody>
                    <a:bodyPr/>
                    <a:lstStyle/>
                    <a:p>
                      <a:pPr algn="ctr"/>
                      <a:r>
                        <a:rPr lang="en-US" sz="1400" dirty="0"/>
                        <a:t>4</a:t>
                      </a:r>
                    </a:p>
                  </a:txBody>
                  <a:tcPr marL="68580" marR="68580" marT="34290" marB="34290"/>
                </a:tc>
                <a:tc>
                  <a:txBody>
                    <a:bodyPr/>
                    <a:lstStyle/>
                    <a:p>
                      <a:pPr algn="ctr"/>
                      <a:r>
                        <a:rPr lang="en-US" sz="1400" dirty="0"/>
                        <a:t>7.94</a:t>
                      </a:r>
                    </a:p>
                  </a:txBody>
                  <a:tcPr marL="68580" marR="68580" marT="34290" marB="34290"/>
                </a:tc>
                <a:tc>
                  <a:txBody>
                    <a:bodyPr/>
                    <a:lstStyle/>
                    <a:p>
                      <a:pPr algn="ctr"/>
                      <a:r>
                        <a:rPr lang="en-US" sz="1400" dirty="0"/>
                        <a:t>8.99</a:t>
                      </a:r>
                    </a:p>
                  </a:txBody>
                  <a:tcPr marL="68580" marR="68580" marT="34290" marB="34290"/>
                </a:tc>
                <a:tc>
                  <a:txBody>
                    <a:bodyPr/>
                    <a:lstStyle/>
                    <a:p>
                      <a:pPr algn="ctr"/>
                      <a:r>
                        <a:rPr lang="en-US" sz="1400" dirty="0"/>
                        <a:t>32.53</a:t>
                      </a:r>
                    </a:p>
                  </a:txBody>
                  <a:tcPr marL="68580" marR="68580" marT="34290" marB="34290"/>
                </a:tc>
                <a:tc>
                  <a:txBody>
                    <a:bodyPr/>
                    <a:lstStyle/>
                    <a:p>
                      <a:pPr algn="ctr"/>
                      <a:r>
                        <a:rPr lang="en-US" sz="1400" dirty="0"/>
                        <a:t>14.3</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8.74</a:t>
                      </a:r>
                    </a:p>
                  </a:txBody>
                  <a:tcPr marL="68580" marR="68580" marT="34290" marB="34290"/>
                </a:tc>
                <a:tc>
                  <a:txBody>
                    <a:bodyPr/>
                    <a:lstStyle/>
                    <a:p>
                      <a:pPr algn="ctr"/>
                      <a:r>
                        <a:rPr lang="en-US" sz="1400" dirty="0"/>
                        <a:t>44.44</a:t>
                      </a:r>
                    </a:p>
                  </a:txBody>
                  <a:tcPr marL="68580" marR="68580" marT="34290" marB="34290"/>
                </a:tc>
                <a:extLst>
                  <a:ext uri="{0D108BD9-81ED-4DB2-BD59-A6C34878D82A}">
                    <a16:rowId xmlns:a16="http://schemas.microsoft.com/office/drawing/2014/main" val="2282358069"/>
                  </a:ext>
                </a:extLst>
              </a:tr>
              <a:tr h="278130">
                <a:tc>
                  <a:txBody>
                    <a:bodyPr/>
                    <a:lstStyle/>
                    <a:p>
                      <a:pPr algn="ctr"/>
                      <a:r>
                        <a:rPr lang="en-US" sz="1400" dirty="0"/>
                        <a:t>5</a:t>
                      </a:r>
                    </a:p>
                  </a:txBody>
                  <a:tcPr marL="68580" marR="68580" marT="34290" marB="34290"/>
                </a:tc>
                <a:tc>
                  <a:txBody>
                    <a:bodyPr/>
                    <a:lstStyle/>
                    <a:p>
                      <a:pPr algn="ctr"/>
                      <a:r>
                        <a:rPr lang="en-US" sz="1400" dirty="0"/>
                        <a:t>7.3</a:t>
                      </a:r>
                    </a:p>
                  </a:txBody>
                  <a:tcPr marL="68580" marR="68580" marT="34290" marB="34290"/>
                </a:tc>
                <a:tc>
                  <a:txBody>
                    <a:bodyPr/>
                    <a:lstStyle/>
                    <a:p>
                      <a:pPr algn="ctr"/>
                      <a:r>
                        <a:rPr lang="en-US" sz="1400" dirty="0"/>
                        <a:t>7.82</a:t>
                      </a:r>
                    </a:p>
                  </a:txBody>
                  <a:tcPr marL="68580" marR="68580" marT="34290" marB="34290"/>
                </a:tc>
                <a:tc>
                  <a:txBody>
                    <a:bodyPr/>
                    <a:lstStyle/>
                    <a:p>
                      <a:pPr algn="ctr"/>
                      <a:r>
                        <a:rPr lang="en-US" sz="1400" dirty="0"/>
                        <a:t>19.93</a:t>
                      </a:r>
                    </a:p>
                  </a:txBody>
                  <a:tcPr marL="68580" marR="68580" marT="34290" marB="34290"/>
                </a:tc>
                <a:tc>
                  <a:txBody>
                    <a:bodyPr/>
                    <a:lstStyle/>
                    <a:p>
                      <a:pPr algn="ctr"/>
                      <a:r>
                        <a:rPr lang="en-US" sz="1400" dirty="0"/>
                        <a:t>21.09</a:t>
                      </a:r>
                    </a:p>
                  </a:txBody>
                  <a:tcPr marL="68580" marR="68580" marT="34290" marB="34290"/>
                </a:tc>
                <a:tc>
                  <a:txBody>
                    <a:bodyPr/>
                    <a:lstStyle/>
                    <a:p>
                      <a:pPr algn="ctr"/>
                      <a:r>
                        <a:rPr lang="en-US" sz="1400" dirty="0"/>
                        <a:t>16.85</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42.13</a:t>
                      </a:r>
                    </a:p>
                  </a:txBody>
                  <a:tcPr marL="68580" marR="68580" marT="34290" marB="34290"/>
                </a:tc>
                <a:extLst>
                  <a:ext uri="{0D108BD9-81ED-4DB2-BD59-A6C34878D82A}">
                    <a16:rowId xmlns:a16="http://schemas.microsoft.com/office/drawing/2014/main" val="701757440"/>
                  </a:ext>
                </a:extLst>
              </a:tr>
              <a:tr h="278130">
                <a:tc>
                  <a:txBody>
                    <a:bodyPr/>
                    <a:lstStyle/>
                    <a:p>
                      <a:pPr algn="ctr"/>
                      <a:r>
                        <a:rPr lang="en-US" sz="1400" dirty="0"/>
                        <a:t>6</a:t>
                      </a:r>
                    </a:p>
                  </a:txBody>
                  <a:tcPr marL="68580" marR="68580" marT="34290" marB="34290"/>
                </a:tc>
                <a:tc>
                  <a:txBody>
                    <a:bodyPr/>
                    <a:lstStyle/>
                    <a:p>
                      <a:pPr algn="ctr"/>
                      <a:r>
                        <a:rPr lang="en-US" sz="1400" dirty="0"/>
                        <a:t>6.13</a:t>
                      </a:r>
                    </a:p>
                  </a:txBody>
                  <a:tcPr marL="68580" marR="68580" marT="34290" marB="34290"/>
                </a:tc>
                <a:tc>
                  <a:txBody>
                    <a:bodyPr/>
                    <a:lstStyle/>
                    <a:p>
                      <a:pPr algn="ctr"/>
                      <a:r>
                        <a:rPr lang="en-US" sz="1400" dirty="0"/>
                        <a:t>5.94</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26.61</a:t>
                      </a:r>
                    </a:p>
                  </a:txBody>
                  <a:tcPr marL="68580" marR="68580" marT="34290" marB="34290"/>
                </a:tc>
                <a:tc>
                  <a:txBody>
                    <a:bodyPr/>
                    <a:lstStyle/>
                    <a:p>
                      <a:pPr algn="ctr"/>
                      <a:r>
                        <a:rPr lang="en-US" sz="1400" dirty="0"/>
                        <a:t>37.81</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35.58</a:t>
                      </a:r>
                    </a:p>
                  </a:txBody>
                  <a:tcPr marL="68580" marR="68580" marT="34290" marB="34290"/>
                </a:tc>
                <a:extLst>
                  <a:ext uri="{0D108BD9-81ED-4DB2-BD59-A6C34878D82A}">
                    <a16:rowId xmlns:a16="http://schemas.microsoft.com/office/drawing/2014/main" val="1140702666"/>
                  </a:ext>
                </a:extLst>
              </a:tr>
              <a:tr h="278130">
                <a:tc>
                  <a:txBody>
                    <a:bodyPr/>
                    <a:lstStyle/>
                    <a:p>
                      <a:pPr algn="ctr"/>
                      <a:r>
                        <a:rPr lang="en-US" sz="1400" dirty="0"/>
                        <a:t>7</a:t>
                      </a:r>
                    </a:p>
                  </a:txBody>
                  <a:tcPr marL="68580" marR="68580" marT="34290" marB="34290"/>
                </a:tc>
                <a:tc>
                  <a:txBody>
                    <a:bodyPr/>
                    <a:lstStyle/>
                    <a:p>
                      <a:pPr algn="ctr"/>
                      <a:r>
                        <a:rPr lang="en-US" sz="1400" dirty="0"/>
                        <a:t>5.33</a:t>
                      </a:r>
                    </a:p>
                  </a:txBody>
                  <a:tcPr marL="68580" marR="68580" marT="34290" marB="34290"/>
                </a:tc>
                <a:tc>
                  <a:txBody>
                    <a:bodyPr/>
                    <a:lstStyle/>
                    <a:p>
                      <a:pPr algn="ctr"/>
                      <a:r>
                        <a:rPr lang="en-US" sz="1400" dirty="0"/>
                        <a:t>5.37</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13.01</a:t>
                      </a:r>
                    </a:p>
                  </a:txBody>
                  <a:tcPr marL="68580" marR="68580" marT="34290" marB="34290"/>
                </a:tc>
                <a:tc>
                  <a:txBody>
                    <a:bodyPr/>
                    <a:lstStyle/>
                    <a:p>
                      <a:pPr algn="ctr"/>
                      <a:r>
                        <a:rPr lang="en-US" sz="1400" dirty="0"/>
                        <a:t>59.94</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0</a:t>
                      </a:r>
                    </a:p>
                  </a:txBody>
                  <a:tcPr marL="68580" marR="68580" marT="34290" marB="34290"/>
                </a:tc>
                <a:tc>
                  <a:txBody>
                    <a:bodyPr/>
                    <a:lstStyle/>
                    <a:p>
                      <a:pPr algn="ctr"/>
                      <a:r>
                        <a:rPr lang="en-US" sz="1400" dirty="0"/>
                        <a:t>27.06</a:t>
                      </a:r>
                    </a:p>
                  </a:txBody>
                  <a:tcPr marL="68580" marR="68580" marT="34290" marB="34290"/>
                </a:tc>
                <a:extLst>
                  <a:ext uri="{0D108BD9-81ED-4DB2-BD59-A6C34878D82A}">
                    <a16:rowId xmlns:a16="http://schemas.microsoft.com/office/drawing/2014/main" val="1865879526"/>
                  </a:ext>
                </a:extLst>
              </a:tr>
            </a:tbl>
          </a:graphicData>
        </a:graphic>
      </p:graphicFrame>
      <p:sp>
        <p:nvSpPr>
          <p:cNvPr id="4" name="Title 1">
            <a:extLst>
              <a:ext uri="{FF2B5EF4-FFF2-40B4-BE49-F238E27FC236}">
                <a16:creationId xmlns:a16="http://schemas.microsoft.com/office/drawing/2014/main" id="{94585C07-3DD3-8AB7-ADDF-4EE3566C282B}"/>
              </a:ext>
            </a:extLst>
          </p:cNvPr>
          <p:cNvSpPr txBox="1">
            <a:spLocks/>
          </p:cNvSpPr>
          <p:nvPr/>
        </p:nvSpPr>
        <p:spPr>
          <a:xfrm>
            <a:off x="718297" y="207730"/>
            <a:ext cx="8157004" cy="99417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The Efficient Frontier</a:t>
            </a:r>
          </a:p>
        </p:txBody>
      </p:sp>
    </p:spTree>
    <p:extLst>
      <p:ext uri="{BB962C8B-B14F-4D97-AF65-F5344CB8AC3E}">
        <p14:creationId xmlns:p14="http://schemas.microsoft.com/office/powerpoint/2010/main" val="4176385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95889" y="1893808"/>
            <a:ext cx="6100763" cy="3721894"/>
          </a:xfrm>
          <a:prstGeom prst="rect">
            <a:avLst/>
          </a:prstGeom>
        </p:spPr>
      </p:pic>
      <p:sp>
        <p:nvSpPr>
          <p:cNvPr id="3" name="Title 1">
            <a:extLst>
              <a:ext uri="{FF2B5EF4-FFF2-40B4-BE49-F238E27FC236}">
                <a16:creationId xmlns:a16="http://schemas.microsoft.com/office/drawing/2014/main" id="{A41808F5-99B6-35DD-F160-7E38E09DA9AF}"/>
              </a:ext>
            </a:extLst>
          </p:cNvPr>
          <p:cNvSpPr txBox="1">
            <a:spLocks/>
          </p:cNvSpPr>
          <p:nvPr/>
        </p:nvSpPr>
        <p:spPr>
          <a:xfrm>
            <a:off x="718297" y="207730"/>
            <a:ext cx="8157004" cy="99417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The Efficient Frontier</a:t>
            </a:r>
          </a:p>
        </p:txBody>
      </p:sp>
    </p:spTree>
    <p:extLst>
      <p:ext uri="{BB962C8B-B14F-4D97-AF65-F5344CB8AC3E}">
        <p14:creationId xmlns:p14="http://schemas.microsoft.com/office/powerpoint/2010/main" val="3635709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727916"/>
            <a:ext cx="7886700" cy="3805881"/>
          </a:xfrm>
        </p:spPr>
        <p:txBody>
          <a:bodyPr>
            <a:normAutofit/>
          </a:bodyPr>
          <a:lstStyle/>
          <a:p>
            <a:pPr marL="0" indent="0" algn="just">
              <a:buNone/>
            </a:pPr>
            <a:r>
              <a:rPr lang="en-US" dirty="0"/>
              <a:t>Corner portfolios allow us to create other minimum-variance portfolios</a:t>
            </a:r>
          </a:p>
          <a:p>
            <a:pPr marL="0" indent="0" algn="just">
              <a:buNone/>
            </a:pPr>
            <a:r>
              <a:rPr lang="en-US" dirty="0"/>
              <a:t>Suppose we want to find the composition of the efficient portfolio with an 8 percent expected return.</a:t>
            </a:r>
          </a:p>
        </p:txBody>
      </p:sp>
      <p:sp>
        <p:nvSpPr>
          <p:cNvPr id="6" name="Title 1">
            <a:extLst>
              <a:ext uri="{FF2B5EF4-FFF2-40B4-BE49-F238E27FC236}">
                <a16:creationId xmlns:a16="http://schemas.microsoft.com/office/drawing/2014/main" id="{F79875B7-2C60-F0BC-9772-A27CE24306BF}"/>
              </a:ext>
            </a:extLst>
          </p:cNvPr>
          <p:cNvSpPr txBox="1">
            <a:spLocks/>
          </p:cNvSpPr>
          <p:nvPr/>
        </p:nvSpPr>
        <p:spPr>
          <a:xfrm>
            <a:off x="718297" y="207730"/>
            <a:ext cx="8157004" cy="99417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The Efficient Frontier</a:t>
            </a:r>
          </a:p>
        </p:txBody>
      </p:sp>
    </p:spTree>
    <p:extLst>
      <p:ext uri="{BB962C8B-B14F-4D97-AF65-F5344CB8AC3E}">
        <p14:creationId xmlns:p14="http://schemas.microsoft.com/office/powerpoint/2010/main" val="1212815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24EFB-1D33-1248-1DB4-25B4ADC1A4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75A443-7416-2C49-F76B-CD70E48D01C1}"/>
              </a:ext>
            </a:extLst>
          </p:cNvPr>
          <p:cNvSpPr>
            <a:spLocks noGrp="1"/>
          </p:cNvSpPr>
          <p:nvPr>
            <p:ph idx="1"/>
          </p:nvPr>
        </p:nvSpPr>
        <p:spPr>
          <a:xfrm>
            <a:off x="628650" y="1307205"/>
            <a:ext cx="7886700" cy="3805881"/>
          </a:xfrm>
        </p:spPr>
        <p:txBody>
          <a:bodyPr>
            <a:normAutofit fontScale="77500" lnSpcReduction="20000"/>
          </a:bodyPr>
          <a:lstStyle/>
          <a:p>
            <a:pPr marL="0" indent="0" algn="just">
              <a:buNone/>
            </a:pPr>
            <a:r>
              <a:rPr lang="en-US" dirty="0"/>
              <a:t>As chief investment officer of a small endowment fund, you are considering expanding the fund’s strategic asset allocation from just common stock (CS) and fixed-income (FI) to include private real estate partnerships (PR) as well:</a:t>
            </a:r>
          </a:p>
          <a:p>
            <a:pPr marL="0" indent="0" algn="just">
              <a:buNone/>
            </a:pPr>
            <a:r>
              <a:rPr lang="en-US" dirty="0"/>
              <a:t>Current Allocation: 60 percent of Asset CS, 40 percent of Asset FI</a:t>
            </a:r>
          </a:p>
          <a:p>
            <a:pPr marL="0" indent="0" algn="just">
              <a:buNone/>
            </a:pPr>
            <a:r>
              <a:rPr lang="en-US" dirty="0"/>
              <a:t>Proposed Allocation: 50 percent of Asset CS, 30 percent of Asset FI, 20 percent of Asset PR</a:t>
            </a:r>
          </a:p>
          <a:p>
            <a:pPr marL="0" indent="0" algn="just">
              <a:buNone/>
            </a:pPr>
            <a:r>
              <a:rPr lang="en-US" dirty="0"/>
              <a:t>You also consider the following historical data for the three risky asset classes (CS, FI, and PR) and the risk-free rate (RFR) over a recent investment period</a:t>
            </a:r>
          </a:p>
        </p:txBody>
      </p:sp>
      <p:sp>
        <p:nvSpPr>
          <p:cNvPr id="6" name="Title 1">
            <a:extLst>
              <a:ext uri="{FF2B5EF4-FFF2-40B4-BE49-F238E27FC236}">
                <a16:creationId xmlns:a16="http://schemas.microsoft.com/office/drawing/2014/main" id="{668D9EF3-E589-0870-EBFF-220E9ECAE1BA}"/>
              </a:ext>
            </a:extLst>
          </p:cNvPr>
          <p:cNvSpPr txBox="1">
            <a:spLocks/>
          </p:cNvSpPr>
          <p:nvPr/>
        </p:nvSpPr>
        <p:spPr>
          <a:xfrm>
            <a:off x="718297" y="207730"/>
            <a:ext cx="8157004" cy="99417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The Efficient Frontier</a:t>
            </a:r>
          </a:p>
        </p:txBody>
      </p:sp>
    </p:spTree>
    <p:extLst>
      <p:ext uri="{BB962C8B-B14F-4D97-AF65-F5344CB8AC3E}">
        <p14:creationId xmlns:p14="http://schemas.microsoft.com/office/powerpoint/2010/main" val="1719385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64F20-F6A1-C0F4-8D96-7D470D2B73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ECA56A-1A13-0CED-8472-7B943C538026}"/>
              </a:ext>
            </a:extLst>
          </p:cNvPr>
          <p:cNvSpPr>
            <a:spLocks noGrp="1"/>
          </p:cNvSpPr>
          <p:nvPr>
            <p:ph idx="1"/>
          </p:nvPr>
        </p:nvSpPr>
        <p:spPr>
          <a:xfrm>
            <a:off x="628650" y="1307205"/>
            <a:ext cx="8157004" cy="1498748"/>
          </a:xfrm>
        </p:spPr>
        <p:txBody>
          <a:bodyPr>
            <a:normAutofit fontScale="62500" lnSpcReduction="20000"/>
          </a:bodyPr>
          <a:lstStyle/>
          <a:p>
            <a:pPr marL="0" indent="0" algn="just">
              <a:buNone/>
            </a:pPr>
            <a:r>
              <a:rPr lang="en-US" dirty="0"/>
              <a:t>a. Calculate the expected return for the Current and Proposed Allocations.</a:t>
            </a:r>
          </a:p>
          <a:p>
            <a:pPr marL="0" indent="0" algn="just">
              <a:buNone/>
            </a:pPr>
            <a:r>
              <a:rPr lang="en-US" dirty="0"/>
              <a:t>b. Calculate the standard deviation for the Current and Proposed Allocations.</a:t>
            </a:r>
          </a:p>
          <a:p>
            <a:pPr marL="0" indent="0" algn="just">
              <a:buNone/>
            </a:pPr>
            <a:r>
              <a:rPr lang="en-US" dirty="0"/>
              <a:t>c. For both the Current and Proposed Allocations, calculate the expected risk premium per unit of risk</a:t>
            </a:r>
          </a:p>
        </p:txBody>
      </p:sp>
      <p:pic>
        <p:nvPicPr>
          <p:cNvPr id="5" name="Picture 4">
            <a:extLst>
              <a:ext uri="{FF2B5EF4-FFF2-40B4-BE49-F238E27FC236}">
                <a16:creationId xmlns:a16="http://schemas.microsoft.com/office/drawing/2014/main" id="{C8C669D9-78BC-ACE8-64E6-F965EC26E84E}"/>
              </a:ext>
            </a:extLst>
          </p:cNvPr>
          <p:cNvPicPr>
            <a:picLocks noChangeAspect="1"/>
          </p:cNvPicPr>
          <p:nvPr/>
        </p:nvPicPr>
        <p:blipFill>
          <a:blip r:embed="rId2"/>
          <a:stretch>
            <a:fillRect/>
          </a:stretch>
        </p:blipFill>
        <p:spPr>
          <a:xfrm>
            <a:off x="331690" y="2705069"/>
            <a:ext cx="8543611" cy="2644186"/>
          </a:xfrm>
          <a:prstGeom prst="rect">
            <a:avLst/>
          </a:prstGeom>
        </p:spPr>
      </p:pic>
      <p:sp>
        <p:nvSpPr>
          <p:cNvPr id="7" name="Title 1">
            <a:extLst>
              <a:ext uri="{FF2B5EF4-FFF2-40B4-BE49-F238E27FC236}">
                <a16:creationId xmlns:a16="http://schemas.microsoft.com/office/drawing/2014/main" id="{2D5ED1F0-09CE-A9BE-1DDD-5F2A849511A6}"/>
              </a:ext>
            </a:extLst>
          </p:cNvPr>
          <p:cNvSpPr txBox="1">
            <a:spLocks/>
          </p:cNvSpPr>
          <p:nvPr/>
        </p:nvSpPr>
        <p:spPr>
          <a:xfrm>
            <a:off x="718297" y="207730"/>
            <a:ext cx="8157004" cy="99417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The Efficient Frontier</a:t>
            </a:r>
          </a:p>
        </p:txBody>
      </p:sp>
    </p:spTree>
    <p:extLst>
      <p:ext uri="{BB962C8B-B14F-4D97-AF65-F5344CB8AC3E}">
        <p14:creationId xmlns:p14="http://schemas.microsoft.com/office/powerpoint/2010/main" val="288682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7859E5E7-3530-42FB-A49C-AFFBB5834908}"/>
              </a:ext>
            </a:extLst>
          </p:cNvPr>
          <p:cNvSpPr>
            <a:spLocks noGrp="1" noChangeArrowheads="1"/>
          </p:cNvSpPr>
          <p:nvPr>
            <p:ph idx="1"/>
          </p:nvPr>
        </p:nvSpPr>
        <p:spPr/>
        <p:txBody>
          <a:bodyPr/>
          <a:lstStyle/>
          <a:p>
            <a:pPr lvl="1" eaLnBrk="1" hangingPunct="1">
              <a:lnSpc>
                <a:spcPct val="90000"/>
              </a:lnSpc>
              <a:spcBef>
                <a:spcPts val="600"/>
              </a:spcBef>
            </a:pPr>
            <a:r>
              <a:rPr lang="en-US" altLang="en-US" sz="2400" dirty="0"/>
              <a:t>Share of common stock is more difficult to value in practice than a bond for at least three reasons:</a:t>
            </a:r>
          </a:p>
          <a:p>
            <a:pPr marL="869278" lvl="1" indent="-457200" eaLnBrk="1" hangingPunct="1">
              <a:lnSpc>
                <a:spcPct val="90000"/>
              </a:lnSpc>
              <a:spcBef>
                <a:spcPts val="600"/>
              </a:spcBef>
              <a:buFont typeface="+mj-lt"/>
              <a:buAutoNum type="arabicPeriod"/>
            </a:pPr>
            <a:r>
              <a:rPr lang="en-US" altLang="en-US" sz="2200" dirty="0"/>
              <a:t>With common stock, not even the promised cash flows are known in advance</a:t>
            </a:r>
          </a:p>
          <a:p>
            <a:pPr marL="869278" lvl="1" indent="-457200" eaLnBrk="1" hangingPunct="1">
              <a:lnSpc>
                <a:spcPct val="90000"/>
              </a:lnSpc>
              <a:spcBef>
                <a:spcPts val="600"/>
              </a:spcBef>
              <a:buFont typeface="+mj-lt"/>
              <a:buAutoNum type="arabicPeriod"/>
            </a:pPr>
            <a:r>
              <a:rPr lang="en-US" altLang="en-US" sz="2200" dirty="0"/>
              <a:t>Life of the investment is essentially forever because common stock has no maturity</a:t>
            </a:r>
          </a:p>
          <a:p>
            <a:pPr marL="869278" lvl="1" indent="-457200" eaLnBrk="1" hangingPunct="1">
              <a:lnSpc>
                <a:spcPct val="90000"/>
              </a:lnSpc>
              <a:spcBef>
                <a:spcPts val="600"/>
              </a:spcBef>
              <a:buFont typeface="+mj-lt"/>
              <a:buAutoNum type="arabicPeriod"/>
            </a:pPr>
            <a:r>
              <a:rPr lang="en-US" altLang="en-US" sz="2200" dirty="0"/>
              <a:t>No way to easily observe the rate of return that the market requires</a:t>
            </a:r>
          </a:p>
          <a:p>
            <a:pPr lvl="1" eaLnBrk="1" hangingPunct="1">
              <a:lnSpc>
                <a:spcPct val="90000"/>
              </a:lnSpc>
              <a:spcBef>
                <a:spcPts val="600"/>
              </a:spcBef>
            </a:pPr>
            <a:r>
              <a:rPr lang="en-US" altLang="en-US" sz="2400" dirty="0"/>
              <a:t>There are two ways to evaluate equity: discounted cash flow analysis and relative valuation</a:t>
            </a:r>
          </a:p>
        </p:txBody>
      </p:sp>
      <p:sp>
        <p:nvSpPr>
          <p:cNvPr id="8194" name="Rectangle 2">
            <a:extLst>
              <a:ext uri="{FF2B5EF4-FFF2-40B4-BE49-F238E27FC236}">
                <a16:creationId xmlns:a16="http://schemas.microsoft.com/office/drawing/2014/main" id="{7BCF8C48-AD02-43D2-BD54-306710C0F48D}"/>
              </a:ext>
            </a:extLst>
          </p:cNvPr>
          <p:cNvSpPr>
            <a:spLocks noGrp="1" noChangeArrowheads="1"/>
          </p:cNvSpPr>
          <p:nvPr>
            <p:ph type="title"/>
          </p:nvPr>
        </p:nvSpPr>
        <p:spPr/>
        <p:txBody>
          <a:bodyPr/>
          <a:lstStyle/>
          <a:p>
            <a:pPr eaLnBrk="1" hangingPunct="1">
              <a:defRPr/>
            </a:pPr>
            <a:r>
              <a:rPr lang="en-US" altLang="en-US" sz="3600" dirty="0"/>
              <a:t>EQUITY valuation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7859E5E7-3530-42FB-A49C-AFFBB5834908}"/>
              </a:ext>
            </a:extLst>
          </p:cNvPr>
          <p:cNvSpPr>
            <a:spLocks noGrp="1" noChangeArrowheads="1"/>
          </p:cNvSpPr>
          <p:nvPr>
            <p:ph idx="1"/>
          </p:nvPr>
        </p:nvSpPr>
        <p:spPr>
          <a:xfrm>
            <a:off x="584906" y="1491033"/>
            <a:ext cx="8431036" cy="4993290"/>
          </a:xfrm>
        </p:spPr>
        <p:txBody>
          <a:bodyPr/>
          <a:lstStyle/>
          <a:p>
            <a:pPr eaLnBrk="1" hangingPunct="1">
              <a:lnSpc>
                <a:spcPct val="90000"/>
              </a:lnSpc>
              <a:spcBef>
                <a:spcPts val="600"/>
              </a:spcBef>
            </a:pPr>
            <a:r>
              <a:rPr lang="en-US" sz="2200" b="0" i="0" u="none" strike="noStrike" baseline="0" dirty="0">
                <a:solidFill>
                  <a:srgbClr val="221E1F"/>
                </a:solidFill>
              </a:rPr>
              <a:t>Imagine you are considering buying a share of stock today. You plan to sell the stock in one year. You somehow know that the stock will be worth $70 at that time. You predict the stock will also pay a $10 per share dividend at the end of the year. If you require a 25% return on your investment, what is the most you would pay for the stock? In other words, what is the present value of the $10 dividend along with the $70 ending value at 25%? </a:t>
            </a:r>
          </a:p>
          <a:p>
            <a:pPr lvl="1" eaLnBrk="1" hangingPunct="1">
              <a:lnSpc>
                <a:spcPct val="90000"/>
              </a:lnSpc>
              <a:spcBef>
                <a:spcPts val="600"/>
              </a:spcBef>
            </a:pPr>
            <a:r>
              <a:rPr lang="en-US" sz="2100" b="0" i="1" u="none" strike="noStrike" baseline="0" dirty="0">
                <a:solidFill>
                  <a:srgbClr val="221E1F"/>
                </a:solidFill>
              </a:rPr>
              <a:t>Present value </a:t>
            </a:r>
            <a:r>
              <a:rPr lang="en-US" sz="2100" b="0" i="0" u="none" strike="noStrike" baseline="0" dirty="0">
                <a:solidFill>
                  <a:srgbClr val="221E1F"/>
                </a:solidFill>
              </a:rPr>
              <a:t>= ($10 + 70)/1.25 = </a:t>
            </a:r>
            <a:r>
              <a:rPr lang="en-US" sz="2100" b="1" i="0" u="none" strike="noStrike" baseline="0" dirty="0">
                <a:solidFill>
                  <a:schemeClr val="accent1">
                    <a:lumMod val="75000"/>
                  </a:schemeClr>
                </a:solidFill>
              </a:rPr>
              <a:t>$64 </a:t>
            </a:r>
          </a:p>
          <a:p>
            <a:pPr lvl="1" eaLnBrk="1" hangingPunct="1">
              <a:lnSpc>
                <a:spcPct val="90000"/>
              </a:lnSpc>
              <a:spcBef>
                <a:spcPts val="600"/>
              </a:spcBef>
            </a:pPr>
            <a:endParaRPr lang="en-US" sz="2100" b="1" i="0" u="none" strike="noStrike" baseline="0" dirty="0">
              <a:solidFill>
                <a:schemeClr val="accent1">
                  <a:lumMod val="75000"/>
                </a:schemeClr>
              </a:solidFill>
            </a:endParaRPr>
          </a:p>
          <a:p>
            <a:pPr eaLnBrk="1" hangingPunct="1">
              <a:lnSpc>
                <a:spcPct val="90000"/>
              </a:lnSpc>
              <a:spcBef>
                <a:spcPts val="600"/>
              </a:spcBef>
            </a:pPr>
            <a:r>
              <a:rPr lang="en-US" sz="2200" dirty="0">
                <a:solidFill>
                  <a:srgbClr val="221E1F"/>
                </a:solidFill>
                <a:latin typeface="+mj-lt"/>
              </a:rPr>
              <a:t>L</a:t>
            </a:r>
            <a:r>
              <a:rPr lang="en-US" sz="2200" b="0" i="0" u="none" strike="noStrike" baseline="0" dirty="0">
                <a:solidFill>
                  <a:srgbClr val="221E1F"/>
                </a:solidFill>
                <a:latin typeface="+mj-lt"/>
              </a:rPr>
              <a:t>et </a:t>
            </a:r>
            <a:r>
              <a:rPr lang="en-US" sz="2200" b="0" i="1" u="none" strike="noStrike" baseline="0" dirty="0">
                <a:solidFill>
                  <a:srgbClr val="221E1F"/>
                </a:solidFill>
                <a:latin typeface="+mj-lt"/>
              </a:rPr>
              <a:t>P</a:t>
            </a:r>
            <a:r>
              <a:rPr lang="en-US" sz="2200" b="0" i="0" u="none" strike="noStrike" baseline="-25000" dirty="0">
                <a:solidFill>
                  <a:srgbClr val="221E1F"/>
                </a:solidFill>
                <a:latin typeface="+mj-lt"/>
              </a:rPr>
              <a:t>0</a:t>
            </a:r>
            <a:r>
              <a:rPr lang="en-US" sz="2200" b="0" i="0" u="none" strike="noStrike" baseline="0" dirty="0">
                <a:solidFill>
                  <a:srgbClr val="221E1F"/>
                </a:solidFill>
                <a:latin typeface="+mj-lt"/>
              </a:rPr>
              <a:t> be the current price of the stock, and assign </a:t>
            </a:r>
            <a:r>
              <a:rPr lang="en-US" sz="2200" b="0" i="1" u="none" strike="noStrike" baseline="0" dirty="0">
                <a:solidFill>
                  <a:srgbClr val="221E1F"/>
                </a:solidFill>
                <a:latin typeface="+mj-lt"/>
              </a:rPr>
              <a:t>P</a:t>
            </a:r>
            <a:r>
              <a:rPr lang="en-US" sz="2200" b="0" i="0" u="none" strike="noStrike" baseline="-25000" dirty="0">
                <a:solidFill>
                  <a:srgbClr val="221E1F"/>
                </a:solidFill>
                <a:latin typeface="+mj-lt"/>
              </a:rPr>
              <a:t>1</a:t>
            </a:r>
            <a:r>
              <a:rPr lang="en-US" sz="2200" b="0" i="0" u="none" strike="noStrike" baseline="0" dirty="0">
                <a:solidFill>
                  <a:srgbClr val="221E1F"/>
                </a:solidFill>
                <a:latin typeface="+mj-lt"/>
              </a:rPr>
              <a:t> to be the price in one period. If </a:t>
            </a:r>
            <a:r>
              <a:rPr lang="en-US" sz="2200" b="0" i="1" u="none" strike="noStrike" baseline="0" dirty="0">
                <a:solidFill>
                  <a:srgbClr val="221E1F"/>
                </a:solidFill>
                <a:latin typeface="+mj-lt"/>
              </a:rPr>
              <a:t>D</a:t>
            </a:r>
            <a:r>
              <a:rPr lang="en-US" sz="2200" b="0" i="0" u="none" strike="noStrike" baseline="-25000" dirty="0">
                <a:solidFill>
                  <a:srgbClr val="221E1F"/>
                </a:solidFill>
                <a:latin typeface="+mj-lt"/>
              </a:rPr>
              <a:t>1</a:t>
            </a:r>
            <a:r>
              <a:rPr lang="en-US" sz="2200" b="0" i="0" u="none" strike="noStrike" baseline="0" dirty="0">
                <a:solidFill>
                  <a:srgbClr val="221E1F"/>
                </a:solidFill>
                <a:latin typeface="+mj-lt"/>
              </a:rPr>
              <a:t> is the cash dividend paid at the end of the period and </a:t>
            </a:r>
            <a:r>
              <a:rPr lang="en-US" sz="2200" b="0" i="1" u="none" strike="noStrike" baseline="0" dirty="0">
                <a:solidFill>
                  <a:srgbClr val="221E1F"/>
                </a:solidFill>
              </a:rPr>
              <a:t>R </a:t>
            </a:r>
            <a:r>
              <a:rPr lang="en-US" sz="2200" b="0" i="0" u="none" strike="noStrike" baseline="0" dirty="0">
                <a:solidFill>
                  <a:srgbClr val="221E1F"/>
                </a:solidFill>
              </a:rPr>
              <a:t>is the required return in the market on this investment , </a:t>
            </a:r>
            <a:r>
              <a:rPr lang="en-US" sz="2200" b="0" i="0" u="none" strike="noStrike" baseline="0" dirty="0">
                <a:solidFill>
                  <a:srgbClr val="221E1F"/>
                </a:solidFill>
                <a:latin typeface="+mj-lt"/>
              </a:rPr>
              <a:t>then: </a:t>
            </a:r>
            <a:endParaRPr lang="en-US" altLang="en-US" sz="2200" b="1" dirty="0">
              <a:solidFill>
                <a:schemeClr val="accent1">
                  <a:lumMod val="75000"/>
                </a:schemeClr>
              </a:solidFill>
              <a:latin typeface="+mj-lt"/>
            </a:endParaRPr>
          </a:p>
        </p:txBody>
      </p:sp>
      <p:sp>
        <p:nvSpPr>
          <p:cNvPr id="8194" name="Rectangle 2">
            <a:extLst>
              <a:ext uri="{FF2B5EF4-FFF2-40B4-BE49-F238E27FC236}">
                <a16:creationId xmlns:a16="http://schemas.microsoft.com/office/drawing/2014/main" id="{7BCF8C48-AD02-43D2-BD54-306710C0F48D}"/>
              </a:ext>
            </a:extLst>
          </p:cNvPr>
          <p:cNvSpPr>
            <a:spLocks noGrp="1" noChangeArrowheads="1"/>
          </p:cNvSpPr>
          <p:nvPr>
            <p:ph type="title"/>
          </p:nvPr>
        </p:nvSpPr>
        <p:spPr/>
        <p:txBody>
          <a:bodyPr/>
          <a:lstStyle/>
          <a:p>
            <a:pPr eaLnBrk="1" hangingPunct="1">
              <a:defRPr/>
            </a:pPr>
            <a:r>
              <a:rPr lang="en-US" altLang="en-US" sz="3600" dirty="0"/>
              <a:t>discounted cash flow</a:t>
            </a:r>
          </a:p>
        </p:txBody>
      </p:sp>
      <p:pic>
        <p:nvPicPr>
          <p:cNvPr id="4" name="Picture 3">
            <a:extLst>
              <a:ext uri="{FF2B5EF4-FFF2-40B4-BE49-F238E27FC236}">
                <a16:creationId xmlns:a16="http://schemas.microsoft.com/office/drawing/2014/main" id="{034C755C-1218-4A16-86D9-5D128F57559F}"/>
              </a:ext>
            </a:extLst>
          </p:cNvPr>
          <p:cNvPicPr>
            <a:picLocks noChangeAspect="1"/>
          </p:cNvPicPr>
          <p:nvPr/>
        </p:nvPicPr>
        <p:blipFill>
          <a:blip r:embed="rId3"/>
          <a:stretch>
            <a:fillRect/>
          </a:stretch>
        </p:blipFill>
        <p:spPr>
          <a:xfrm>
            <a:off x="3028950" y="5562600"/>
            <a:ext cx="3086100" cy="514350"/>
          </a:xfrm>
          <a:prstGeom prst="rect">
            <a:avLst/>
          </a:prstGeom>
        </p:spPr>
      </p:pic>
    </p:spTree>
    <p:extLst>
      <p:ext uri="{BB962C8B-B14F-4D97-AF65-F5344CB8AC3E}">
        <p14:creationId xmlns:p14="http://schemas.microsoft.com/office/powerpoint/2010/main" val="406632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89A7F39-8947-4DF1-81AF-125A3A3FEA9B}"/>
              </a:ext>
            </a:extLst>
          </p:cNvPr>
          <p:cNvPicPr>
            <a:picLocks noChangeAspect="1"/>
          </p:cNvPicPr>
          <p:nvPr/>
        </p:nvPicPr>
        <p:blipFill>
          <a:blip r:embed="rId3"/>
          <a:stretch>
            <a:fillRect/>
          </a:stretch>
        </p:blipFill>
        <p:spPr>
          <a:xfrm>
            <a:off x="2915531" y="3276600"/>
            <a:ext cx="4114800" cy="1799729"/>
          </a:xfrm>
          <a:prstGeom prst="rect">
            <a:avLst/>
          </a:prstGeom>
        </p:spPr>
      </p:pic>
      <p:sp>
        <p:nvSpPr>
          <p:cNvPr id="17411" name="Rectangle 3">
            <a:extLst>
              <a:ext uri="{FF2B5EF4-FFF2-40B4-BE49-F238E27FC236}">
                <a16:creationId xmlns:a16="http://schemas.microsoft.com/office/drawing/2014/main" id="{7859E5E7-3530-42FB-A49C-AFFBB5834908}"/>
              </a:ext>
            </a:extLst>
          </p:cNvPr>
          <p:cNvSpPr>
            <a:spLocks noGrp="1" noChangeArrowheads="1"/>
          </p:cNvSpPr>
          <p:nvPr>
            <p:ph idx="1"/>
          </p:nvPr>
        </p:nvSpPr>
        <p:spPr>
          <a:xfrm>
            <a:off x="584906" y="1491033"/>
            <a:ext cx="8431036" cy="4993290"/>
          </a:xfrm>
        </p:spPr>
        <p:txBody>
          <a:bodyPr/>
          <a:lstStyle/>
          <a:p>
            <a:pPr algn="just"/>
            <a:r>
              <a:rPr lang="en-US" sz="2200" dirty="0">
                <a:solidFill>
                  <a:srgbClr val="221E1F"/>
                </a:solidFill>
              </a:rPr>
              <a:t>S</a:t>
            </a:r>
            <a:r>
              <a:rPr lang="en-US" sz="2200" b="0" i="0" u="none" strike="noStrike" baseline="0" dirty="0">
                <a:solidFill>
                  <a:srgbClr val="221E1F"/>
                </a:solidFill>
              </a:rPr>
              <a:t>uppose we somehow knew the price in two periods, </a:t>
            </a:r>
            <a:r>
              <a:rPr lang="en-US" sz="2200" b="0" i="1" u="none" strike="noStrike" baseline="0" dirty="0">
                <a:solidFill>
                  <a:srgbClr val="221E1F"/>
                </a:solidFill>
              </a:rPr>
              <a:t>P</a:t>
            </a:r>
            <a:r>
              <a:rPr lang="en-US" sz="2200" b="0" i="0" u="none" strike="noStrike" baseline="-25000" dirty="0">
                <a:solidFill>
                  <a:srgbClr val="221E1F"/>
                </a:solidFill>
              </a:rPr>
              <a:t>2</a:t>
            </a:r>
            <a:r>
              <a:rPr lang="en-US" sz="2200" b="0" i="0" u="none" strike="noStrike" baseline="0" dirty="0">
                <a:solidFill>
                  <a:srgbClr val="221E1F"/>
                </a:solidFill>
              </a:rPr>
              <a:t>. Given a predicted dividend in two periods, </a:t>
            </a:r>
            <a:r>
              <a:rPr lang="en-US" sz="2200" b="0" i="1" u="none" strike="noStrike" baseline="0" dirty="0">
                <a:solidFill>
                  <a:srgbClr val="221E1F"/>
                </a:solidFill>
              </a:rPr>
              <a:t>D</a:t>
            </a:r>
            <a:r>
              <a:rPr lang="en-US" sz="2200" b="0" i="0" u="none" strike="noStrike" baseline="-25000" dirty="0">
                <a:solidFill>
                  <a:srgbClr val="221E1F"/>
                </a:solidFill>
              </a:rPr>
              <a:t>2</a:t>
            </a:r>
            <a:r>
              <a:rPr lang="en-US" sz="2200" b="0" i="0" u="none" strike="noStrike" baseline="0" dirty="0">
                <a:solidFill>
                  <a:srgbClr val="221E1F"/>
                </a:solidFill>
              </a:rPr>
              <a:t>, the stock price in one period would be: </a:t>
            </a:r>
          </a:p>
          <a:p>
            <a:pPr marL="114664" indent="0" algn="just">
              <a:buNone/>
            </a:pPr>
            <a:endParaRPr lang="en-US" sz="2200" b="0" i="0" u="none" strike="noStrike" baseline="0" dirty="0">
              <a:solidFill>
                <a:srgbClr val="221E1F"/>
              </a:solidFill>
            </a:endParaRPr>
          </a:p>
          <a:p>
            <a:pPr algn="just"/>
            <a:r>
              <a:rPr lang="en-US" sz="2200" b="0" i="0" u="none" strike="noStrike" baseline="0" dirty="0">
                <a:solidFill>
                  <a:srgbClr val="221E1F"/>
                </a:solidFill>
              </a:rPr>
              <a:t>Substitute this expression for </a:t>
            </a:r>
            <a:r>
              <a:rPr lang="en-US" sz="2200" b="0" i="1" u="none" strike="noStrike" baseline="0" dirty="0">
                <a:solidFill>
                  <a:srgbClr val="221E1F"/>
                </a:solidFill>
              </a:rPr>
              <a:t>P</a:t>
            </a:r>
            <a:r>
              <a:rPr lang="en-US" sz="2200" b="0" i="0" u="none" strike="noStrike" baseline="-25000" dirty="0">
                <a:solidFill>
                  <a:srgbClr val="221E1F"/>
                </a:solidFill>
              </a:rPr>
              <a:t>1</a:t>
            </a:r>
            <a:r>
              <a:rPr lang="en-US" sz="2200" b="0" i="0" u="none" strike="noStrike" baseline="0" dirty="0">
                <a:solidFill>
                  <a:srgbClr val="221E1F"/>
                </a:solidFill>
              </a:rPr>
              <a:t> into our expression for </a:t>
            </a:r>
            <a:r>
              <a:rPr lang="en-US" sz="2200" b="0" i="1" u="none" strike="noStrike" baseline="0" dirty="0">
                <a:solidFill>
                  <a:srgbClr val="221E1F"/>
                </a:solidFill>
              </a:rPr>
              <a:t>P</a:t>
            </a:r>
            <a:r>
              <a:rPr lang="en-US" sz="2200" b="0" i="0" u="none" strike="noStrike" baseline="-25000" dirty="0">
                <a:solidFill>
                  <a:srgbClr val="221E1F"/>
                </a:solidFill>
              </a:rPr>
              <a:t>0</a:t>
            </a:r>
            <a:endParaRPr lang="en-US" sz="2200" b="0" i="0" u="none" strike="noStrike" baseline="0" dirty="0">
              <a:solidFill>
                <a:srgbClr val="221E1F"/>
              </a:solidFill>
            </a:endParaRPr>
          </a:p>
          <a:p>
            <a:pPr algn="just"/>
            <a:endParaRPr lang="en-US" sz="2200" dirty="0">
              <a:solidFill>
                <a:srgbClr val="221E1F"/>
              </a:solidFill>
            </a:endParaRPr>
          </a:p>
          <a:p>
            <a:pPr marL="114664" indent="0" algn="just">
              <a:buNone/>
            </a:pPr>
            <a:endParaRPr lang="en-US" sz="2200" dirty="0">
              <a:solidFill>
                <a:srgbClr val="221E1F"/>
              </a:solidFill>
            </a:endParaRPr>
          </a:p>
          <a:p>
            <a:pPr algn="just"/>
            <a:endParaRPr lang="en-US" sz="2200" b="0" i="0" u="none" strike="noStrike" baseline="0" dirty="0">
              <a:solidFill>
                <a:srgbClr val="221E1F"/>
              </a:solidFill>
            </a:endParaRPr>
          </a:p>
          <a:p>
            <a:pPr algn="just"/>
            <a:endParaRPr lang="en-US" sz="2200" b="0" i="0" u="none" strike="noStrike" baseline="0" dirty="0">
              <a:solidFill>
                <a:srgbClr val="221E1F"/>
              </a:solidFill>
            </a:endParaRPr>
          </a:p>
          <a:p>
            <a:pPr algn="just"/>
            <a:r>
              <a:rPr lang="en-US" sz="2200" dirty="0">
                <a:solidFill>
                  <a:srgbClr val="221E1F"/>
                </a:solidFill>
              </a:rPr>
              <a:t>T</a:t>
            </a:r>
            <a:r>
              <a:rPr lang="en-US" sz="2200" b="0" i="0" u="none" strike="noStrike" baseline="0" dirty="0">
                <a:solidFill>
                  <a:srgbClr val="221E1F"/>
                </a:solidFill>
              </a:rPr>
              <a:t>he price of the stock today is equal to the present value of all of the future dividends </a:t>
            </a:r>
          </a:p>
        </p:txBody>
      </p:sp>
      <p:pic>
        <p:nvPicPr>
          <p:cNvPr id="9" name="Picture 8">
            <a:extLst>
              <a:ext uri="{FF2B5EF4-FFF2-40B4-BE49-F238E27FC236}">
                <a16:creationId xmlns:a16="http://schemas.microsoft.com/office/drawing/2014/main" id="{F8D19A1D-21D6-4F2E-B98C-88836DFA4305}"/>
              </a:ext>
            </a:extLst>
          </p:cNvPr>
          <p:cNvPicPr>
            <a:picLocks noChangeAspect="1"/>
          </p:cNvPicPr>
          <p:nvPr/>
        </p:nvPicPr>
        <p:blipFill>
          <a:blip r:embed="rId4"/>
          <a:stretch>
            <a:fillRect/>
          </a:stretch>
        </p:blipFill>
        <p:spPr>
          <a:xfrm>
            <a:off x="1386769" y="5638800"/>
            <a:ext cx="7172325" cy="1009650"/>
          </a:xfrm>
          <a:prstGeom prst="rect">
            <a:avLst/>
          </a:prstGeom>
        </p:spPr>
      </p:pic>
      <p:sp>
        <p:nvSpPr>
          <p:cNvPr id="8194" name="Rectangle 2">
            <a:extLst>
              <a:ext uri="{FF2B5EF4-FFF2-40B4-BE49-F238E27FC236}">
                <a16:creationId xmlns:a16="http://schemas.microsoft.com/office/drawing/2014/main" id="{7BCF8C48-AD02-43D2-BD54-306710C0F48D}"/>
              </a:ext>
            </a:extLst>
          </p:cNvPr>
          <p:cNvSpPr>
            <a:spLocks noGrp="1" noChangeArrowheads="1"/>
          </p:cNvSpPr>
          <p:nvPr>
            <p:ph type="title"/>
          </p:nvPr>
        </p:nvSpPr>
        <p:spPr/>
        <p:txBody>
          <a:bodyPr/>
          <a:lstStyle/>
          <a:p>
            <a:pPr eaLnBrk="1" hangingPunct="1">
              <a:defRPr/>
            </a:pPr>
            <a:r>
              <a:rPr lang="en-US" altLang="en-US" sz="3600" dirty="0"/>
              <a:t>discounted cash flow</a:t>
            </a:r>
            <a:br>
              <a:rPr lang="en-US" altLang="en-US" sz="3600" dirty="0"/>
            </a:br>
            <a:r>
              <a:rPr lang="en-US" altLang="en-US" sz="3600" dirty="0"/>
              <a:t>(continued)</a:t>
            </a:r>
          </a:p>
        </p:txBody>
      </p:sp>
      <p:pic>
        <p:nvPicPr>
          <p:cNvPr id="5" name="Picture 4">
            <a:extLst>
              <a:ext uri="{FF2B5EF4-FFF2-40B4-BE49-F238E27FC236}">
                <a16:creationId xmlns:a16="http://schemas.microsoft.com/office/drawing/2014/main" id="{D1125140-941E-4593-BA4A-44911DD1FFAE}"/>
              </a:ext>
            </a:extLst>
          </p:cNvPr>
          <p:cNvPicPr>
            <a:picLocks noChangeAspect="1"/>
          </p:cNvPicPr>
          <p:nvPr/>
        </p:nvPicPr>
        <p:blipFill>
          <a:blip r:embed="rId5"/>
          <a:stretch>
            <a:fillRect/>
          </a:stretch>
        </p:blipFill>
        <p:spPr>
          <a:xfrm>
            <a:off x="3109910" y="2341689"/>
            <a:ext cx="2924175" cy="533400"/>
          </a:xfrm>
          <a:prstGeom prst="rect">
            <a:avLst/>
          </a:prstGeom>
        </p:spPr>
      </p:pic>
    </p:spTree>
    <p:extLst>
      <p:ext uri="{BB962C8B-B14F-4D97-AF65-F5344CB8AC3E}">
        <p14:creationId xmlns:p14="http://schemas.microsoft.com/office/powerpoint/2010/main" val="1435328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a:extLst>
              <a:ext uri="{FF2B5EF4-FFF2-40B4-BE49-F238E27FC236}">
                <a16:creationId xmlns:a16="http://schemas.microsoft.com/office/drawing/2014/main" id="{4FDBF88D-1571-4AAD-80F2-65BDC33A75C6}"/>
              </a:ext>
            </a:extLst>
          </p:cNvPr>
          <p:cNvSpPr txBox="1">
            <a:spLocks noChangeArrowheads="1"/>
          </p:cNvSpPr>
          <p:nvPr/>
        </p:nvSpPr>
        <p:spPr bwMode="auto">
          <a:xfrm>
            <a:off x="584906" y="1491033"/>
            <a:ext cx="8431036" cy="499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0" rIns="91400" bIns="45700" numCol="1" anchor="t" anchorCtr="0" compatLnSpc="1">
            <a:prstTxWarp prst="textNoShape">
              <a:avLst/>
            </a:prstTxWarp>
          </a:bodyPr>
          <a:lstStyle>
            <a:lvl1pPr marL="342204" indent="-227540" algn="l" defTabSz="913740" rtl="0" eaLnBrk="0" fontAlgn="base" hangingPunct="0">
              <a:spcBef>
                <a:spcPct val="20000"/>
              </a:spcBef>
              <a:spcAft>
                <a:spcPct val="0"/>
              </a:spcAft>
              <a:buClr>
                <a:schemeClr val="accent1"/>
              </a:buClr>
              <a:buFont typeface="Arial" panose="020B0604020202020204" pitchFamily="34" charset="0"/>
              <a:buChar char="•"/>
              <a:defRPr sz="2400" kern="1200">
                <a:solidFill>
                  <a:schemeClr val="tx2"/>
                </a:solidFill>
                <a:latin typeface="+mn-lt"/>
                <a:ea typeface="+mn-ea"/>
                <a:cs typeface="+mn-cs"/>
              </a:defRPr>
            </a:lvl1pPr>
            <a:lvl2pPr marL="639618" indent="-227540" algn="l" defTabSz="913740" rtl="0" eaLnBrk="0" fontAlgn="base" hangingPunct="0">
              <a:spcBef>
                <a:spcPct val="20000"/>
              </a:spcBef>
              <a:spcAft>
                <a:spcPct val="0"/>
              </a:spcAft>
              <a:buClr>
                <a:schemeClr val="accent2"/>
              </a:buClr>
              <a:buFont typeface="Arial" panose="020B0604020202020204" pitchFamily="34" charset="0"/>
              <a:buChar char="•"/>
              <a:defRPr kern="1200">
                <a:solidFill>
                  <a:schemeClr val="tx2"/>
                </a:solidFill>
                <a:latin typeface="+mn-lt"/>
                <a:ea typeface="+mn-ea"/>
                <a:cs typeface="+mn-cs"/>
              </a:defRPr>
            </a:lvl2pPr>
            <a:lvl3pPr marL="913740" indent="-227540" algn="l" defTabSz="913740" rtl="0" eaLnBrk="0" fontAlgn="base" hangingPunct="0">
              <a:spcBef>
                <a:spcPct val="20000"/>
              </a:spcBef>
              <a:spcAft>
                <a:spcPct val="0"/>
              </a:spcAft>
              <a:buClr>
                <a:srgbClr val="4A66AC"/>
              </a:buClr>
              <a:buFont typeface="Arial" panose="020B0604020202020204" pitchFamily="34" charset="0"/>
              <a:buChar char="•"/>
              <a:defRPr sz="1800" kern="1200">
                <a:solidFill>
                  <a:schemeClr val="tx2"/>
                </a:solidFill>
                <a:latin typeface="+mn-lt"/>
                <a:ea typeface="+mn-ea"/>
                <a:cs typeface="+mn-cs"/>
              </a:defRPr>
            </a:lvl3pPr>
            <a:lvl4pPr marL="1279237" indent="-227540" algn="l" defTabSz="913740" rtl="0" eaLnBrk="0" fontAlgn="base" hangingPunct="0">
              <a:spcBef>
                <a:spcPct val="20000"/>
              </a:spcBef>
              <a:spcAft>
                <a:spcPct val="0"/>
              </a:spcAft>
              <a:buClr>
                <a:srgbClr val="008080"/>
              </a:buClr>
              <a:buFont typeface="Arial" panose="020B0604020202020204" pitchFamily="34" charset="0"/>
              <a:buChar char="•"/>
              <a:defRPr sz="1600" kern="1200">
                <a:solidFill>
                  <a:schemeClr val="tx2"/>
                </a:solidFill>
                <a:latin typeface="+mn-lt"/>
                <a:ea typeface="+mn-ea"/>
                <a:cs typeface="+mn-cs"/>
              </a:defRPr>
            </a:lvl4pPr>
            <a:lvl5pPr marL="1553356" indent="-227540" algn="l" defTabSz="913740" rtl="0" eaLnBrk="0" fontAlgn="base" hangingPunct="0">
              <a:spcBef>
                <a:spcPct val="20000"/>
              </a:spcBef>
              <a:spcAft>
                <a:spcPct val="0"/>
              </a:spcAft>
              <a:buClr>
                <a:srgbClr val="5AA2AE"/>
              </a:buClr>
              <a:buFont typeface="Arial" panose="020B0604020202020204" pitchFamily="34" charset="0"/>
              <a:buChar char="•"/>
              <a:defRPr sz="1600" kern="1200">
                <a:solidFill>
                  <a:schemeClr val="tx2"/>
                </a:solidFill>
                <a:latin typeface="+mn-lt"/>
                <a:ea typeface="+mn-ea"/>
                <a:cs typeface="+mn-cs"/>
              </a:defRPr>
            </a:lvl5pPr>
            <a:lvl6pPr marL="1736661" indent="-182804" algn="l" defTabSz="914032"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0872" indent="-182804" algn="l" defTabSz="914032"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3677" indent="-182804" algn="l" defTabSz="914032"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6485" indent="-182804" algn="l" defTabSz="914032"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marL="342204" marR="0" lvl="0" indent="-22754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Char char="•"/>
              <a:tabLst/>
              <a:defRPr/>
            </a:pPr>
            <a:r>
              <a:rPr kumimoji="0" lang="en-US" sz="2200" b="0" i="0" u="none" strike="noStrike" kern="1200" cap="none" spc="0" normalizeH="0" baseline="0" noProof="0" dirty="0">
                <a:ln>
                  <a:noFill/>
                </a:ln>
                <a:solidFill>
                  <a:srgbClr val="221E1F"/>
                </a:solidFill>
                <a:effectLst/>
                <a:uLnTx/>
                <a:uFillTx/>
                <a:latin typeface="Calibri" panose="020F0502020204030204"/>
                <a:ea typeface="+mn-ea"/>
                <a:cs typeface="+mn-cs"/>
              </a:rPr>
              <a:t>A share of common stock in a company with a constant dividend is much like a share of preferred stock </a:t>
            </a:r>
          </a:p>
          <a:p>
            <a:pPr marL="342204" marR="0" lvl="0" indent="-22754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Char char="•"/>
              <a:tabLst/>
              <a:defRPr/>
            </a:pPr>
            <a:r>
              <a:rPr kumimoji="0" lang="en-US" sz="2200" b="0" i="0" u="none" strike="noStrike" kern="1200" cap="none" spc="0" normalizeH="0" baseline="0" noProof="0" dirty="0">
                <a:ln>
                  <a:noFill/>
                </a:ln>
                <a:solidFill>
                  <a:srgbClr val="221E1F"/>
                </a:solidFill>
                <a:effectLst/>
                <a:uLnTx/>
                <a:uFillTx/>
                <a:latin typeface="Calibri" panose="020F0502020204030204"/>
                <a:ea typeface="+mn-ea"/>
                <a:cs typeface="+mn-cs"/>
              </a:rPr>
              <a:t>Dividend on a share of preferred stock has zero growth and is constant through time; for a zero-growth share of common stock, this implies that: </a:t>
            </a:r>
          </a:p>
          <a:p>
            <a:pPr marL="114664" marR="0" lvl="0" indent="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None/>
              <a:tabLst/>
              <a:defRPr/>
            </a:pPr>
            <a:endParaRPr kumimoji="0" lang="en-US" altLang="en-US" sz="2200" b="0" i="0" u="none" strike="noStrike" kern="1200" cap="none" spc="0" normalizeH="0" baseline="0" noProof="0" dirty="0">
              <a:ln>
                <a:noFill/>
              </a:ln>
              <a:solidFill>
                <a:srgbClr val="221E1F"/>
              </a:solidFill>
              <a:effectLst/>
              <a:uLnTx/>
              <a:uFillTx/>
              <a:latin typeface="Calibri" panose="020F0502020204030204"/>
              <a:ea typeface="+mn-ea"/>
              <a:cs typeface="+mn-cs"/>
            </a:endParaRPr>
          </a:p>
          <a:p>
            <a:pPr marL="342204" marR="0" lvl="0" indent="-22754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Char char="•"/>
              <a:tabLst/>
              <a:defRPr/>
            </a:pPr>
            <a:r>
              <a:rPr kumimoji="0" lang="en-US" altLang="en-US" sz="2200" b="0" i="0" u="none" strike="noStrike" kern="1200" cap="none" spc="0" normalizeH="0" baseline="0" noProof="0" dirty="0">
                <a:ln>
                  <a:noFill/>
                </a:ln>
                <a:solidFill>
                  <a:srgbClr val="221E1F"/>
                </a:solidFill>
                <a:effectLst/>
                <a:uLnTx/>
                <a:uFillTx/>
                <a:latin typeface="Calibri" panose="020F0502020204030204"/>
                <a:ea typeface="+mn-ea"/>
                <a:cs typeface="+mn-cs"/>
              </a:rPr>
              <a:t>Value of the stock is:</a:t>
            </a:r>
          </a:p>
          <a:p>
            <a:pPr marL="342204" marR="0" lvl="0" indent="-22754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Char char="•"/>
              <a:tabLst/>
              <a:defRPr/>
            </a:pPr>
            <a:endParaRPr kumimoji="0" lang="en-US" altLang="en-US" sz="2200" b="0" i="0" u="none" strike="noStrike" kern="1200" cap="none" spc="0" normalizeH="0" baseline="0" noProof="0" dirty="0">
              <a:ln>
                <a:noFill/>
              </a:ln>
              <a:solidFill>
                <a:srgbClr val="221E1F"/>
              </a:solidFill>
              <a:effectLst/>
              <a:uLnTx/>
              <a:uFillTx/>
              <a:latin typeface="Calibri" panose="020F0502020204030204"/>
              <a:ea typeface="+mn-ea"/>
              <a:cs typeface="+mn-cs"/>
            </a:endParaRPr>
          </a:p>
          <a:p>
            <a:pPr marL="114664" marR="0" lvl="0" indent="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None/>
              <a:tabLst/>
              <a:defRPr/>
            </a:pPr>
            <a:endParaRPr kumimoji="0" lang="en-US" altLang="en-US" sz="2200" b="0" i="0" u="none" strike="noStrike" kern="1200" cap="none" spc="0" normalizeH="0" baseline="0" noProof="0" dirty="0">
              <a:ln>
                <a:noFill/>
              </a:ln>
              <a:solidFill>
                <a:srgbClr val="221E1F"/>
              </a:solidFill>
              <a:effectLst/>
              <a:uLnTx/>
              <a:uFillTx/>
              <a:latin typeface="Calibri" panose="020F0502020204030204"/>
              <a:ea typeface="+mn-ea"/>
              <a:cs typeface="+mn-cs"/>
            </a:endParaRPr>
          </a:p>
          <a:p>
            <a:pPr marL="342204" marR="0" lvl="0" indent="-22754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Char char="•"/>
              <a:tabLst/>
              <a:defRPr/>
            </a:pPr>
            <a:r>
              <a:rPr kumimoji="0" lang="en-US" altLang="en-US" sz="2200" b="0" i="0" u="none" strike="noStrike" kern="1200" cap="none" spc="0" normalizeH="0" baseline="0" noProof="0" dirty="0">
                <a:ln>
                  <a:noFill/>
                </a:ln>
                <a:solidFill>
                  <a:srgbClr val="221E1F"/>
                </a:solidFill>
                <a:effectLst/>
                <a:uLnTx/>
                <a:uFillTx/>
                <a:latin typeface="Calibri" panose="020F0502020204030204"/>
                <a:ea typeface="+mn-ea"/>
                <a:cs typeface="+mn-cs"/>
              </a:rPr>
              <a:t>Stock may be viewed as ordinary perpetuity with cash flow equal to </a:t>
            </a:r>
            <a:r>
              <a:rPr kumimoji="0" lang="en-US" altLang="en-US" sz="2200" b="0" i="1" u="none" strike="noStrike" kern="1200" cap="none" spc="0" normalizeH="0" baseline="0" noProof="0" dirty="0">
                <a:ln>
                  <a:noFill/>
                </a:ln>
                <a:solidFill>
                  <a:srgbClr val="221E1F"/>
                </a:solidFill>
                <a:effectLst/>
                <a:uLnTx/>
                <a:uFillTx/>
                <a:latin typeface="Calibri" panose="020F0502020204030204"/>
                <a:ea typeface="+mn-ea"/>
                <a:cs typeface="+mn-cs"/>
              </a:rPr>
              <a:t>D</a:t>
            </a:r>
            <a:r>
              <a:rPr kumimoji="0" lang="en-US" altLang="en-US" sz="2200" b="0" i="0" u="none" strike="noStrike" kern="1200" cap="none" spc="0" normalizeH="0" baseline="0" noProof="0" dirty="0">
                <a:ln>
                  <a:noFill/>
                </a:ln>
                <a:solidFill>
                  <a:srgbClr val="221E1F"/>
                </a:solidFill>
                <a:effectLst/>
                <a:uLnTx/>
                <a:uFillTx/>
                <a:latin typeface="Calibri" panose="020F0502020204030204"/>
                <a:ea typeface="+mn-ea"/>
                <a:cs typeface="+mn-cs"/>
              </a:rPr>
              <a:t> every period, with the per-share value given by:</a:t>
            </a:r>
          </a:p>
          <a:p>
            <a:pPr marL="342204" marR="0" lvl="0" indent="-22754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Char char="•"/>
              <a:tabLst/>
              <a:defRPr/>
            </a:pPr>
            <a:endParaRPr kumimoji="0" lang="en-US" altLang="en-US" sz="2200" b="0" i="0" u="none" strike="noStrike" kern="1200" cap="none" spc="0" normalizeH="0" baseline="0" noProof="0" dirty="0">
              <a:ln>
                <a:noFill/>
              </a:ln>
              <a:solidFill>
                <a:srgbClr val="221E1F"/>
              </a:solidFill>
              <a:effectLst/>
              <a:uLnTx/>
              <a:uFillTx/>
              <a:latin typeface="Calibri" panose="020F0502020204030204"/>
              <a:ea typeface="+mn-ea"/>
              <a:cs typeface="+mn-cs"/>
            </a:endParaRPr>
          </a:p>
          <a:p>
            <a:pPr marL="342204" marR="0" lvl="0" indent="-22754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Char char="•"/>
              <a:tabLst/>
              <a:defRPr/>
            </a:pPr>
            <a:endParaRPr kumimoji="0" lang="en-US" altLang="en-US" sz="2200" b="0" i="0" u="none" strike="noStrike" kern="1200" cap="none" spc="0" normalizeH="0" baseline="0" noProof="0" dirty="0">
              <a:ln>
                <a:noFill/>
              </a:ln>
              <a:solidFill>
                <a:srgbClr val="221E1F"/>
              </a:solidFill>
              <a:effectLst/>
              <a:uLnTx/>
              <a:uFillTx/>
              <a:latin typeface="Calibri" panose="020F0502020204030204"/>
              <a:ea typeface="+mn-ea"/>
              <a:cs typeface="+mn-cs"/>
            </a:endParaRPr>
          </a:p>
          <a:p>
            <a:pPr marL="639618" marR="0" lvl="1" indent="-227540" algn="l" defTabSz="913740" rtl="0" eaLnBrk="1" fontAlgn="base" latinLnBrk="0" hangingPunct="1">
              <a:lnSpc>
                <a:spcPct val="90000"/>
              </a:lnSpc>
              <a:spcBef>
                <a:spcPts val="600"/>
              </a:spcBef>
              <a:spcAft>
                <a:spcPct val="0"/>
              </a:spcAft>
              <a:buClr>
                <a:srgbClr val="726056"/>
              </a:buClr>
              <a:buSzTx/>
              <a:buFont typeface="Arial" panose="020B0604020202020204" pitchFamily="34" charset="0"/>
              <a:buChar char="•"/>
              <a:tabLst/>
              <a:defRPr/>
            </a:pPr>
            <a:r>
              <a:rPr kumimoji="0" lang="en-US" altLang="en-US" sz="2100" b="0" i="0" u="none" strike="noStrike" kern="1200" cap="none" spc="0" normalizeH="0" baseline="0" noProof="0" dirty="0">
                <a:ln>
                  <a:noFill/>
                </a:ln>
                <a:solidFill>
                  <a:srgbClr val="221E1F"/>
                </a:solidFill>
                <a:effectLst/>
                <a:uLnTx/>
                <a:uFillTx/>
                <a:latin typeface="Calibri" panose="020F0502020204030204"/>
                <a:ea typeface="+mn-ea"/>
                <a:cs typeface="+mn-cs"/>
              </a:rPr>
              <a:t>Where </a:t>
            </a:r>
            <a:r>
              <a:rPr kumimoji="0" lang="en-US" altLang="en-US" sz="2100" b="0" i="1" u="none" strike="noStrike" kern="1200" cap="none" spc="0" normalizeH="0" baseline="0" noProof="0" dirty="0">
                <a:ln>
                  <a:noFill/>
                </a:ln>
                <a:solidFill>
                  <a:srgbClr val="221E1F"/>
                </a:solidFill>
                <a:effectLst/>
                <a:uLnTx/>
                <a:uFillTx/>
                <a:latin typeface="Calibri" panose="020F0502020204030204"/>
                <a:ea typeface="+mn-ea"/>
                <a:cs typeface="+mn-cs"/>
              </a:rPr>
              <a:t>R</a:t>
            </a:r>
            <a:r>
              <a:rPr kumimoji="0" lang="en-US" altLang="en-US" sz="2100" b="0" i="0" u="none" strike="noStrike" kern="1200" cap="none" spc="0" normalizeH="0" baseline="0" noProof="0" dirty="0">
                <a:ln>
                  <a:noFill/>
                </a:ln>
                <a:solidFill>
                  <a:srgbClr val="221E1F"/>
                </a:solidFill>
                <a:effectLst/>
                <a:uLnTx/>
                <a:uFillTx/>
                <a:latin typeface="Calibri" panose="020F0502020204030204"/>
                <a:ea typeface="+mn-ea"/>
                <a:cs typeface="+mn-cs"/>
              </a:rPr>
              <a:t> is the required return</a:t>
            </a:r>
          </a:p>
          <a:p>
            <a:pPr marL="342204" marR="0" lvl="0" indent="-22754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Char char="•"/>
              <a:tabLst/>
              <a:defRPr/>
            </a:pPr>
            <a:endParaRPr kumimoji="0" lang="en-US" altLang="en-US" sz="2200" b="0" i="0" u="none" strike="noStrike" kern="1200" cap="none" spc="0" normalizeH="0" baseline="0" noProof="0" dirty="0">
              <a:ln>
                <a:noFill/>
              </a:ln>
              <a:solidFill>
                <a:srgbClr val="221E1F"/>
              </a:solidFill>
              <a:effectLst/>
              <a:uLnTx/>
              <a:uFillTx/>
              <a:latin typeface="Calibri" panose="020F0502020204030204"/>
              <a:ea typeface="+mn-ea"/>
              <a:cs typeface="+mn-cs"/>
            </a:endParaRPr>
          </a:p>
          <a:p>
            <a:pPr marL="342204" marR="0" lvl="0" indent="-22754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Char char="•"/>
              <a:tabLst/>
              <a:defRPr/>
            </a:pPr>
            <a:endParaRPr kumimoji="0" lang="en-US" altLang="en-US" sz="2200" b="0" i="0" u="none" strike="noStrike" kern="1200" cap="none" spc="0" normalizeH="0" baseline="0" noProof="0" dirty="0">
              <a:ln>
                <a:noFill/>
              </a:ln>
              <a:solidFill>
                <a:srgbClr val="221E1F"/>
              </a:solidFill>
              <a:effectLst/>
              <a:uLnTx/>
              <a:uFillTx/>
              <a:latin typeface="Calibri" panose="020F0502020204030204"/>
              <a:ea typeface="+mn-ea"/>
              <a:cs typeface="+mn-cs"/>
            </a:endParaRPr>
          </a:p>
          <a:p>
            <a:pPr marL="342204" marR="0" lvl="0" indent="-22754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Char char="•"/>
              <a:tabLst/>
              <a:defRPr/>
            </a:pPr>
            <a:endParaRPr kumimoji="0" lang="en-US" altLang="en-US" sz="2200" b="0" i="0" u="none" strike="noStrike" kern="1200" cap="none" spc="0" normalizeH="0" baseline="0" noProof="0" dirty="0">
              <a:ln>
                <a:noFill/>
              </a:ln>
              <a:solidFill>
                <a:srgbClr val="221E1F"/>
              </a:solidFill>
              <a:effectLst/>
              <a:uLnTx/>
              <a:uFillTx/>
              <a:latin typeface="Calibri" panose="020F0502020204030204"/>
              <a:ea typeface="+mn-ea"/>
              <a:cs typeface="+mn-cs"/>
            </a:endParaRPr>
          </a:p>
          <a:p>
            <a:pPr marL="342204" marR="0" lvl="0" indent="-22754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Char char="•"/>
              <a:tabLst/>
              <a:defRPr/>
            </a:pPr>
            <a:endParaRPr kumimoji="0" lang="en-US" altLang="en-US" sz="2200" b="0" i="0" u="none" strike="noStrike" kern="1200" cap="none" spc="0" normalizeH="0" baseline="0" noProof="0" dirty="0">
              <a:ln>
                <a:noFill/>
              </a:ln>
              <a:solidFill>
                <a:srgbClr val="221E1F"/>
              </a:solidFill>
              <a:effectLst/>
              <a:uLnTx/>
              <a:uFillTx/>
              <a:latin typeface="Calibri" panose="020F0502020204030204"/>
              <a:ea typeface="+mn-ea"/>
              <a:cs typeface="+mn-cs"/>
            </a:endParaRPr>
          </a:p>
          <a:p>
            <a:pPr marL="342204" marR="0" lvl="0" indent="-227540" algn="l" defTabSz="913740" rtl="0" eaLnBrk="1" fontAlgn="base" latinLnBrk="0" hangingPunct="1">
              <a:lnSpc>
                <a:spcPct val="90000"/>
              </a:lnSpc>
              <a:spcBef>
                <a:spcPts val="600"/>
              </a:spcBef>
              <a:spcAft>
                <a:spcPct val="0"/>
              </a:spcAft>
              <a:buClr>
                <a:srgbClr val="AD0101"/>
              </a:buClr>
              <a:buSzTx/>
              <a:buFont typeface="Arial" panose="020B0604020202020204" pitchFamily="34" charset="0"/>
              <a:buChar char="•"/>
              <a:tabLst/>
              <a:defRPr/>
            </a:pPr>
            <a:endParaRPr kumimoji="0" lang="en-US" altLang="en-US" sz="2200" b="0" i="0" u="none" strike="noStrike" kern="1200" cap="none" spc="0" normalizeH="0" baseline="0" noProof="0" dirty="0">
              <a:ln>
                <a:noFill/>
              </a:ln>
              <a:solidFill>
                <a:srgbClr val="AD0101">
                  <a:lumMod val="75000"/>
                </a:srgbClr>
              </a:solidFill>
              <a:effectLst/>
              <a:uLnTx/>
              <a:uFillTx/>
              <a:latin typeface="Calibri" panose="020F0502020204030204"/>
              <a:ea typeface="+mn-ea"/>
              <a:cs typeface="+mn-cs"/>
            </a:endParaRPr>
          </a:p>
        </p:txBody>
      </p:sp>
      <p:pic>
        <p:nvPicPr>
          <p:cNvPr id="4" name="Content Placeholder 3">
            <a:extLst>
              <a:ext uri="{FF2B5EF4-FFF2-40B4-BE49-F238E27FC236}">
                <a16:creationId xmlns:a16="http://schemas.microsoft.com/office/drawing/2014/main" id="{5640E942-CF04-437C-8692-079D7CF99229}"/>
              </a:ext>
            </a:extLst>
          </p:cNvPr>
          <p:cNvPicPr>
            <a:picLocks noGrp="1" noChangeAspect="1"/>
          </p:cNvPicPr>
          <p:nvPr>
            <p:ph idx="1"/>
          </p:nvPr>
        </p:nvPicPr>
        <p:blipFill>
          <a:blip r:embed="rId3"/>
          <a:stretch>
            <a:fillRect/>
          </a:stretch>
        </p:blipFill>
        <p:spPr>
          <a:xfrm>
            <a:off x="2878580" y="2988824"/>
            <a:ext cx="3386839" cy="462868"/>
          </a:xfrm>
        </p:spPr>
      </p:pic>
      <p:sp>
        <p:nvSpPr>
          <p:cNvPr id="8194" name="Rectangle 2">
            <a:extLst>
              <a:ext uri="{FF2B5EF4-FFF2-40B4-BE49-F238E27FC236}">
                <a16:creationId xmlns:a16="http://schemas.microsoft.com/office/drawing/2014/main" id="{7BCF8C48-AD02-43D2-BD54-306710C0F48D}"/>
              </a:ext>
            </a:extLst>
          </p:cNvPr>
          <p:cNvSpPr>
            <a:spLocks noGrp="1" noChangeArrowheads="1"/>
          </p:cNvSpPr>
          <p:nvPr>
            <p:ph type="title"/>
          </p:nvPr>
        </p:nvSpPr>
        <p:spPr/>
        <p:txBody>
          <a:bodyPr/>
          <a:lstStyle/>
          <a:p>
            <a:pPr eaLnBrk="1" hangingPunct="1">
              <a:defRPr/>
            </a:pPr>
            <a:r>
              <a:rPr lang="en-US" altLang="en-US" sz="3600" dirty="0"/>
              <a:t>Zero growth</a:t>
            </a:r>
          </a:p>
        </p:txBody>
      </p:sp>
      <p:pic>
        <p:nvPicPr>
          <p:cNvPr id="8" name="Picture 7">
            <a:extLst>
              <a:ext uri="{FF2B5EF4-FFF2-40B4-BE49-F238E27FC236}">
                <a16:creationId xmlns:a16="http://schemas.microsoft.com/office/drawing/2014/main" id="{10DBD22B-2610-4847-BC09-486C3571E23E}"/>
              </a:ext>
            </a:extLst>
          </p:cNvPr>
          <p:cNvPicPr>
            <a:picLocks noChangeAspect="1"/>
          </p:cNvPicPr>
          <p:nvPr/>
        </p:nvPicPr>
        <p:blipFill>
          <a:blip r:embed="rId4"/>
          <a:stretch>
            <a:fillRect/>
          </a:stretch>
        </p:blipFill>
        <p:spPr>
          <a:xfrm>
            <a:off x="975170" y="3886200"/>
            <a:ext cx="7440603" cy="843659"/>
          </a:xfrm>
          <a:prstGeom prst="rect">
            <a:avLst/>
          </a:prstGeom>
        </p:spPr>
      </p:pic>
      <p:pic>
        <p:nvPicPr>
          <p:cNvPr id="11" name="Picture 10">
            <a:extLst>
              <a:ext uri="{FF2B5EF4-FFF2-40B4-BE49-F238E27FC236}">
                <a16:creationId xmlns:a16="http://schemas.microsoft.com/office/drawing/2014/main" id="{4C3A109E-1CFA-4E1D-945C-9E03D3168DA7}"/>
              </a:ext>
            </a:extLst>
          </p:cNvPr>
          <p:cNvPicPr>
            <a:picLocks noChangeAspect="1"/>
          </p:cNvPicPr>
          <p:nvPr/>
        </p:nvPicPr>
        <p:blipFill>
          <a:blip r:embed="rId5"/>
          <a:stretch>
            <a:fillRect/>
          </a:stretch>
        </p:blipFill>
        <p:spPr>
          <a:xfrm>
            <a:off x="3744706" y="5486400"/>
            <a:ext cx="1654585" cy="525265"/>
          </a:xfrm>
          <a:prstGeom prst="rect">
            <a:avLst/>
          </a:prstGeom>
        </p:spPr>
      </p:pic>
    </p:spTree>
    <p:extLst>
      <p:ext uri="{BB962C8B-B14F-4D97-AF65-F5344CB8AC3E}">
        <p14:creationId xmlns:p14="http://schemas.microsoft.com/office/powerpoint/2010/main" val="2293096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a:extLst>
              <a:ext uri="{FF2B5EF4-FFF2-40B4-BE49-F238E27FC236}">
                <a16:creationId xmlns:a16="http://schemas.microsoft.com/office/drawing/2014/main" id="{4FDBF88D-1571-4AAD-80F2-65BDC33A75C6}"/>
              </a:ext>
            </a:extLst>
          </p:cNvPr>
          <p:cNvSpPr txBox="1">
            <a:spLocks noChangeArrowheads="1"/>
          </p:cNvSpPr>
          <p:nvPr/>
        </p:nvSpPr>
        <p:spPr bwMode="auto">
          <a:xfrm>
            <a:off x="636764" y="1497650"/>
            <a:ext cx="8431036" cy="499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0" rIns="91400" bIns="45700" numCol="1" anchor="t" anchorCtr="0" compatLnSpc="1">
            <a:prstTxWarp prst="textNoShape">
              <a:avLst/>
            </a:prstTxWarp>
          </a:bodyPr>
          <a:lstStyle>
            <a:lvl1pPr marL="342204" indent="-227540" algn="l" defTabSz="913740" rtl="0" eaLnBrk="0" fontAlgn="base" hangingPunct="0">
              <a:spcBef>
                <a:spcPct val="20000"/>
              </a:spcBef>
              <a:spcAft>
                <a:spcPct val="0"/>
              </a:spcAft>
              <a:buClr>
                <a:schemeClr val="accent1"/>
              </a:buClr>
              <a:buFont typeface="Arial" panose="020B0604020202020204" pitchFamily="34" charset="0"/>
              <a:buChar char="•"/>
              <a:defRPr sz="2400" kern="1200">
                <a:solidFill>
                  <a:schemeClr val="tx2"/>
                </a:solidFill>
                <a:latin typeface="+mn-lt"/>
                <a:ea typeface="+mn-ea"/>
                <a:cs typeface="+mn-cs"/>
              </a:defRPr>
            </a:lvl1pPr>
            <a:lvl2pPr marL="639618" indent="-227540" algn="l" defTabSz="913740" rtl="0" eaLnBrk="0" fontAlgn="base" hangingPunct="0">
              <a:spcBef>
                <a:spcPct val="20000"/>
              </a:spcBef>
              <a:spcAft>
                <a:spcPct val="0"/>
              </a:spcAft>
              <a:buClr>
                <a:schemeClr val="accent2"/>
              </a:buClr>
              <a:buFont typeface="Arial" panose="020B0604020202020204" pitchFamily="34" charset="0"/>
              <a:buChar char="•"/>
              <a:defRPr kern="1200">
                <a:solidFill>
                  <a:schemeClr val="tx2"/>
                </a:solidFill>
                <a:latin typeface="+mn-lt"/>
                <a:ea typeface="+mn-ea"/>
                <a:cs typeface="+mn-cs"/>
              </a:defRPr>
            </a:lvl2pPr>
            <a:lvl3pPr marL="913740" indent="-227540" algn="l" defTabSz="913740" rtl="0" eaLnBrk="0" fontAlgn="base" hangingPunct="0">
              <a:spcBef>
                <a:spcPct val="20000"/>
              </a:spcBef>
              <a:spcAft>
                <a:spcPct val="0"/>
              </a:spcAft>
              <a:buClr>
                <a:srgbClr val="4A66AC"/>
              </a:buClr>
              <a:buFont typeface="Arial" panose="020B0604020202020204" pitchFamily="34" charset="0"/>
              <a:buChar char="•"/>
              <a:defRPr sz="1800" kern="1200">
                <a:solidFill>
                  <a:schemeClr val="tx2"/>
                </a:solidFill>
                <a:latin typeface="+mn-lt"/>
                <a:ea typeface="+mn-ea"/>
                <a:cs typeface="+mn-cs"/>
              </a:defRPr>
            </a:lvl3pPr>
            <a:lvl4pPr marL="1279237" indent="-227540" algn="l" defTabSz="913740" rtl="0" eaLnBrk="0" fontAlgn="base" hangingPunct="0">
              <a:spcBef>
                <a:spcPct val="20000"/>
              </a:spcBef>
              <a:spcAft>
                <a:spcPct val="0"/>
              </a:spcAft>
              <a:buClr>
                <a:srgbClr val="008080"/>
              </a:buClr>
              <a:buFont typeface="Arial" panose="020B0604020202020204" pitchFamily="34" charset="0"/>
              <a:buChar char="•"/>
              <a:defRPr sz="1600" kern="1200">
                <a:solidFill>
                  <a:schemeClr val="tx2"/>
                </a:solidFill>
                <a:latin typeface="+mn-lt"/>
                <a:ea typeface="+mn-ea"/>
                <a:cs typeface="+mn-cs"/>
              </a:defRPr>
            </a:lvl4pPr>
            <a:lvl5pPr marL="1553356" indent="-227540" algn="l" defTabSz="913740" rtl="0" eaLnBrk="0" fontAlgn="base" hangingPunct="0">
              <a:spcBef>
                <a:spcPct val="20000"/>
              </a:spcBef>
              <a:spcAft>
                <a:spcPct val="0"/>
              </a:spcAft>
              <a:buClr>
                <a:srgbClr val="5AA2AE"/>
              </a:buClr>
              <a:buFont typeface="Arial" panose="020B0604020202020204" pitchFamily="34" charset="0"/>
              <a:buChar char="•"/>
              <a:defRPr sz="1600" kern="1200">
                <a:solidFill>
                  <a:schemeClr val="tx2"/>
                </a:solidFill>
                <a:latin typeface="+mn-lt"/>
                <a:ea typeface="+mn-ea"/>
                <a:cs typeface="+mn-cs"/>
              </a:defRPr>
            </a:lvl5pPr>
            <a:lvl6pPr marL="1736661" indent="-182804" algn="l" defTabSz="914032"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0872" indent="-182804" algn="l" defTabSz="914032"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3677" indent="-182804" algn="l" defTabSz="914032"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6485" indent="-182804" algn="l" defTabSz="914032"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marL="342204" marR="0" lvl="0" indent="-227540" algn="just" defTabSz="913740" rtl="0" eaLnBrk="0" fontAlgn="base" latinLnBrk="0" hangingPunct="0">
              <a:lnSpc>
                <a:spcPct val="100000"/>
              </a:lnSpc>
              <a:spcBef>
                <a:spcPct val="20000"/>
              </a:spcBef>
              <a:spcAft>
                <a:spcPct val="0"/>
              </a:spcAft>
              <a:buClr>
                <a:srgbClr val="AD0101"/>
              </a:buClr>
              <a:buSzTx/>
              <a:buFont typeface="Arial" panose="020B0604020202020204" pitchFamily="34" charset="0"/>
              <a:buChar char="•"/>
              <a:tabLst/>
              <a:defRPr/>
            </a:pPr>
            <a:r>
              <a:rPr kumimoji="0" lang="en-US" sz="2300" b="0" i="0" u="none" strike="noStrike" kern="1200" cap="none" spc="0" normalizeH="0" baseline="0" noProof="0" dirty="0">
                <a:ln>
                  <a:noFill/>
                </a:ln>
                <a:solidFill>
                  <a:srgbClr val="221E1F"/>
                </a:solidFill>
                <a:effectLst/>
                <a:uLnTx/>
                <a:uFillTx/>
                <a:latin typeface="Calibri" panose="020F0502020204030204"/>
                <a:ea typeface="+mn-ea"/>
                <a:cs typeface="+mn-cs"/>
              </a:rPr>
              <a:t>Suppose we know that the dividend for some company always grows at a steady rate. Call this growth rate </a:t>
            </a:r>
            <a:r>
              <a:rPr kumimoji="0" lang="en-US" sz="2300" b="0" i="1" u="none" strike="noStrike" kern="1200" cap="none" spc="0" normalizeH="0" baseline="0" noProof="0" dirty="0">
                <a:ln>
                  <a:noFill/>
                </a:ln>
                <a:solidFill>
                  <a:srgbClr val="221E1F"/>
                </a:solidFill>
                <a:effectLst/>
                <a:uLnTx/>
                <a:uFillTx/>
                <a:latin typeface="Calibri" panose="020F0502020204030204"/>
                <a:ea typeface="+mn-ea"/>
                <a:cs typeface="+mn-cs"/>
              </a:rPr>
              <a:t>g. </a:t>
            </a:r>
            <a:r>
              <a:rPr kumimoji="0" lang="en-US" sz="2300" b="0" i="0" u="none" strike="noStrike" kern="1200" cap="none" spc="0" normalizeH="0" baseline="0" noProof="0" dirty="0">
                <a:ln>
                  <a:noFill/>
                </a:ln>
                <a:solidFill>
                  <a:srgbClr val="221E1F"/>
                </a:solidFill>
                <a:effectLst/>
                <a:uLnTx/>
                <a:uFillTx/>
                <a:latin typeface="Calibri" panose="020F0502020204030204"/>
                <a:ea typeface="+mn-ea"/>
                <a:cs typeface="+mn-cs"/>
              </a:rPr>
              <a:t>If we let </a:t>
            </a:r>
            <a:r>
              <a:rPr kumimoji="0" lang="en-US" sz="2300" b="0" i="1" u="none" strike="noStrike" kern="1200" cap="none" spc="0" normalizeH="0" baseline="0" noProof="0" dirty="0">
                <a:ln>
                  <a:noFill/>
                </a:ln>
                <a:solidFill>
                  <a:srgbClr val="221E1F"/>
                </a:solidFill>
                <a:effectLst/>
                <a:uLnTx/>
                <a:uFillTx/>
                <a:latin typeface="Calibri" panose="020F0502020204030204"/>
                <a:ea typeface="+mn-ea"/>
                <a:cs typeface="+mn-cs"/>
              </a:rPr>
              <a:t>D</a:t>
            </a:r>
            <a:r>
              <a:rPr kumimoji="0" lang="en-US" sz="2300" b="0" i="0" u="none" strike="noStrike" kern="1200" cap="none" spc="0" normalizeH="0" baseline="-25000" noProof="0" dirty="0">
                <a:ln>
                  <a:noFill/>
                </a:ln>
                <a:solidFill>
                  <a:srgbClr val="221E1F"/>
                </a:solidFill>
                <a:effectLst/>
                <a:uLnTx/>
                <a:uFillTx/>
                <a:latin typeface="Calibri" panose="020F0502020204030204"/>
                <a:ea typeface="+mn-ea"/>
                <a:cs typeface="+mn-cs"/>
              </a:rPr>
              <a:t>0</a:t>
            </a:r>
            <a:r>
              <a:rPr kumimoji="0" lang="en-US" sz="2300" b="0" i="0" u="none" strike="noStrike" kern="1200" cap="none" spc="0" normalizeH="0" baseline="0" noProof="0" dirty="0">
                <a:ln>
                  <a:noFill/>
                </a:ln>
                <a:solidFill>
                  <a:srgbClr val="221E1F"/>
                </a:solidFill>
                <a:effectLst/>
                <a:uLnTx/>
                <a:uFillTx/>
                <a:latin typeface="Calibri" panose="020F0502020204030204"/>
                <a:ea typeface="+mn-ea"/>
                <a:cs typeface="+mn-cs"/>
              </a:rPr>
              <a:t> be the dividend just paid, then the next dividend, </a:t>
            </a:r>
            <a:r>
              <a:rPr kumimoji="0" lang="en-US" sz="2300" b="0" i="1" u="none" strike="noStrike" kern="1200" cap="none" spc="0" normalizeH="0" baseline="0" noProof="0" dirty="0">
                <a:ln>
                  <a:noFill/>
                </a:ln>
                <a:solidFill>
                  <a:srgbClr val="221E1F"/>
                </a:solidFill>
                <a:effectLst/>
                <a:uLnTx/>
                <a:uFillTx/>
                <a:latin typeface="Calibri" panose="020F0502020204030204"/>
                <a:ea typeface="+mn-ea"/>
                <a:cs typeface="+mn-cs"/>
              </a:rPr>
              <a:t>D</a:t>
            </a:r>
            <a:r>
              <a:rPr kumimoji="0" lang="en-US" sz="2300" b="0" i="0" u="none" strike="noStrike" kern="1200" cap="none" spc="0" normalizeH="0" baseline="-25000" noProof="0" dirty="0">
                <a:ln>
                  <a:noFill/>
                </a:ln>
                <a:solidFill>
                  <a:srgbClr val="221E1F"/>
                </a:solidFill>
                <a:effectLst/>
                <a:uLnTx/>
                <a:uFillTx/>
                <a:latin typeface="Calibri" panose="020F0502020204030204"/>
                <a:ea typeface="+mn-ea"/>
                <a:cs typeface="+mn-cs"/>
              </a:rPr>
              <a:t>1</a:t>
            </a:r>
            <a:r>
              <a:rPr kumimoji="0" lang="en-US" sz="2300" b="0" i="0" u="none" strike="noStrike" kern="1200" cap="none" spc="0" normalizeH="0" baseline="0" noProof="0" dirty="0">
                <a:ln>
                  <a:noFill/>
                </a:ln>
                <a:solidFill>
                  <a:srgbClr val="221E1F"/>
                </a:solidFill>
                <a:effectLst/>
                <a:uLnTx/>
                <a:uFillTx/>
                <a:latin typeface="Calibri" panose="020F0502020204030204"/>
                <a:ea typeface="+mn-ea"/>
                <a:cs typeface="+mn-cs"/>
              </a:rPr>
              <a:t>, is: </a:t>
            </a:r>
          </a:p>
          <a:p>
            <a:pPr marL="686200" marR="0" lvl="2" indent="0" algn="l" defTabSz="913740" rtl="0" eaLnBrk="0" fontAlgn="base" latinLnBrk="0" hangingPunct="0">
              <a:lnSpc>
                <a:spcPct val="100000"/>
              </a:lnSpc>
              <a:spcBef>
                <a:spcPct val="20000"/>
              </a:spcBef>
              <a:spcAft>
                <a:spcPct val="0"/>
              </a:spcAft>
              <a:buClr>
                <a:srgbClr val="4A66AC"/>
              </a:buClr>
              <a:buSzTx/>
              <a:buFont typeface="Arial" panose="020B0604020202020204" pitchFamily="34" charset="0"/>
              <a:buNone/>
              <a:tabLst/>
              <a:defRPr/>
            </a:pPr>
            <a:r>
              <a:rPr kumimoji="0" lang="en-US" sz="2200" b="0" i="1" u="none" strike="noStrike" kern="1200" cap="none" spc="0" normalizeH="0" baseline="0" noProof="0" dirty="0">
                <a:ln>
                  <a:noFill/>
                </a:ln>
                <a:solidFill>
                  <a:srgbClr val="221E1F"/>
                </a:solidFill>
                <a:effectLst/>
                <a:uLnTx/>
                <a:uFillTx/>
                <a:latin typeface="Calibri" panose="020F0502020204030204"/>
                <a:ea typeface="+mn-ea"/>
                <a:cs typeface="+mn-cs"/>
              </a:rPr>
              <a:t>D</a:t>
            </a:r>
            <a:r>
              <a:rPr kumimoji="0" lang="en-US" sz="2200" b="0" i="0" u="none" strike="noStrike" kern="1200" cap="none" spc="0" normalizeH="0" baseline="-25000" noProof="0" dirty="0">
                <a:ln>
                  <a:noFill/>
                </a:ln>
                <a:solidFill>
                  <a:srgbClr val="221E1F"/>
                </a:solidFill>
                <a:effectLst/>
                <a:uLnTx/>
                <a:uFillTx/>
                <a:latin typeface="Calibri" panose="020F0502020204030204"/>
                <a:ea typeface="+mn-ea"/>
                <a:cs typeface="+mn-cs"/>
              </a:rPr>
              <a:t>1</a:t>
            </a:r>
            <a:r>
              <a:rPr kumimoji="0" lang="en-US" sz="2200" b="0" i="0" u="none" strike="noStrike" kern="1200" cap="none" spc="0" normalizeH="0" baseline="0" noProof="0" dirty="0">
                <a:ln>
                  <a:noFill/>
                </a:ln>
                <a:solidFill>
                  <a:srgbClr val="221E1F"/>
                </a:solidFill>
                <a:effectLst/>
                <a:uLnTx/>
                <a:uFillTx/>
                <a:latin typeface="Calibri" panose="020F0502020204030204"/>
                <a:ea typeface="+mn-ea"/>
                <a:cs typeface="+mn-cs"/>
              </a:rPr>
              <a:t> = </a:t>
            </a:r>
            <a:r>
              <a:rPr kumimoji="0" lang="en-US" sz="2200" b="0" i="1" u="none" strike="noStrike" kern="1200" cap="none" spc="0" normalizeH="0" baseline="0" noProof="0" dirty="0">
                <a:ln>
                  <a:noFill/>
                </a:ln>
                <a:solidFill>
                  <a:srgbClr val="221E1F"/>
                </a:solidFill>
                <a:effectLst/>
                <a:uLnTx/>
                <a:uFillTx/>
                <a:latin typeface="Calibri" panose="020F0502020204030204"/>
                <a:ea typeface="+mn-ea"/>
                <a:cs typeface="+mn-cs"/>
              </a:rPr>
              <a:t>D</a:t>
            </a:r>
            <a:r>
              <a:rPr kumimoji="0" lang="en-US" sz="2200" b="0" i="0" u="none" strike="noStrike" kern="1200" cap="none" spc="0" normalizeH="0" baseline="-25000" noProof="0" dirty="0">
                <a:ln>
                  <a:noFill/>
                </a:ln>
                <a:solidFill>
                  <a:srgbClr val="221E1F"/>
                </a:solidFill>
                <a:effectLst/>
                <a:uLnTx/>
                <a:uFillTx/>
                <a:latin typeface="Calibri" panose="020F0502020204030204"/>
                <a:ea typeface="+mn-ea"/>
                <a:cs typeface="+mn-cs"/>
              </a:rPr>
              <a:t>0</a:t>
            </a:r>
            <a:r>
              <a:rPr kumimoji="0" lang="en-US" sz="2200" b="0" i="0" u="none" strike="noStrike" kern="1200" cap="none" spc="0" normalizeH="0" baseline="0" noProof="0" dirty="0">
                <a:ln>
                  <a:noFill/>
                </a:ln>
                <a:solidFill>
                  <a:srgbClr val="221E1F"/>
                </a:solidFill>
                <a:effectLst/>
                <a:uLnTx/>
                <a:uFillTx/>
                <a:latin typeface="Calibri" panose="020F0502020204030204"/>
                <a:ea typeface="+mn-ea"/>
                <a:cs typeface="+mn-cs"/>
              </a:rPr>
              <a:t> × (1 + </a:t>
            </a:r>
            <a:r>
              <a:rPr kumimoji="0" lang="en-US" sz="2200" b="0" i="1" u="none" strike="noStrike" kern="1200" cap="none" spc="0" normalizeH="0" baseline="0" noProof="0" dirty="0">
                <a:ln>
                  <a:noFill/>
                </a:ln>
                <a:solidFill>
                  <a:srgbClr val="221E1F"/>
                </a:solidFill>
                <a:effectLst/>
                <a:uLnTx/>
                <a:uFillTx/>
                <a:latin typeface="Calibri" panose="020F0502020204030204"/>
                <a:ea typeface="+mn-ea"/>
                <a:cs typeface="+mn-cs"/>
              </a:rPr>
              <a:t>g</a:t>
            </a:r>
            <a:r>
              <a:rPr kumimoji="0" lang="en-US" sz="2200" b="0" i="0" u="none" strike="noStrike" kern="1200" cap="none" spc="0" normalizeH="0" baseline="0" noProof="0" dirty="0">
                <a:ln>
                  <a:noFill/>
                </a:ln>
                <a:solidFill>
                  <a:srgbClr val="221E1F"/>
                </a:solidFill>
                <a:effectLst/>
                <a:uLnTx/>
                <a:uFillTx/>
                <a:latin typeface="Calibri" panose="020F0502020204030204"/>
                <a:ea typeface="+mn-ea"/>
                <a:cs typeface="+mn-cs"/>
              </a:rPr>
              <a:t>) </a:t>
            </a:r>
          </a:p>
          <a:p>
            <a:pPr marL="342204" marR="0" lvl="0" indent="-227540" algn="just" defTabSz="913740" rtl="0" eaLnBrk="0" fontAlgn="base" latinLnBrk="0" hangingPunct="0">
              <a:lnSpc>
                <a:spcPct val="100000"/>
              </a:lnSpc>
              <a:spcBef>
                <a:spcPct val="20000"/>
              </a:spcBef>
              <a:spcAft>
                <a:spcPct val="0"/>
              </a:spcAft>
              <a:buClr>
                <a:srgbClr val="AD0101"/>
              </a:buClr>
              <a:buSzTx/>
              <a:buFont typeface="Arial" panose="020B0604020202020204" pitchFamily="34" charset="0"/>
              <a:buChar char="•"/>
              <a:tabLst/>
              <a:defRPr/>
            </a:pPr>
            <a:r>
              <a:rPr kumimoji="0" lang="en-US" sz="2300" b="0" i="0" u="none" strike="noStrike" kern="1200" cap="none" spc="0" normalizeH="0" baseline="0" noProof="0" dirty="0">
                <a:ln>
                  <a:noFill/>
                </a:ln>
                <a:solidFill>
                  <a:srgbClr val="221E1F"/>
                </a:solidFill>
                <a:effectLst/>
                <a:uLnTx/>
                <a:uFillTx/>
                <a:latin typeface="Calibri" panose="020F0502020204030204"/>
                <a:ea typeface="+mn-ea"/>
                <a:cs typeface="+mn-cs"/>
              </a:rPr>
              <a:t>The dividend in two periods is: </a:t>
            </a:r>
          </a:p>
          <a:p>
            <a:pPr marL="685836" marR="0" lvl="2" indent="0" algn="l" defTabSz="913740" rtl="0" eaLnBrk="0" fontAlgn="base" latinLnBrk="0" hangingPunct="0">
              <a:lnSpc>
                <a:spcPct val="100000"/>
              </a:lnSpc>
              <a:spcBef>
                <a:spcPct val="20000"/>
              </a:spcBef>
              <a:spcAft>
                <a:spcPct val="0"/>
              </a:spcAft>
              <a:buClr>
                <a:srgbClr val="4A66AC"/>
              </a:buClr>
              <a:buSzTx/>
              <a:buFont typeface="Arial" panose="020B0604020202020204" pitchFamily="34" charset="0"/>
              <a:buNone/>
              <a:tabLst/>
              <a:defRPr/>
            </a:pPr>
            <a:r>
              <a:rPr kumimoji="0" lang="nn-NO" sz="2200" b="0" i="1" u="none" strike="noStrike" kern="1200" cap="none" spc="0" normalizeH="0" baseline="0" noProof="0" dirty="0">
                <a:ln>
                  <a:noFill/>
                </a:ln>
                <a:solidFill>
                  <a:srgbClr val="221E1F"/>
                </a:solidFill>
                <a:effectLst/>
                <a:uLnTx/>
                <a:uFillTx/>
                <a:latin typeface="Calibri" panose="020F0502020204030204"/>
                <a:ea typeface="+mn-ea"/>
                <a:cs typeface="+mn-cs"/>
              </a:rPr>
              <a:t>D</a:t>
            </a:r>
            <a:r>
              <a:rPr kumimoji="0" lang="nn-NO" sz="2200" b="0" i="0" u="none" strike="noStrike" kern="1200" cap="none" spc="0" normalizeH="0" baseline="-25000" noProof="0" dirty="0">
                <a:ln>
                  <a:noFill/>
                </a:ln>
                <a:solidFill>
                  <a:srgbClr val="221E1F"/>
                </a:solidFill>
                <a:effectLst/>
                <a:uLnTx/>
                <a:uFillTx/>
                <a:latin typeface="Calibri" panose="020F0502020204030204"/>
                <a:ea typeface="+mn-ea"/>
                <a:cs typeface="+mn-cs"/>
              </a:rPr>
              <a:t>2</a:t>
            </a:r>
            <a:r>
              <a:rPr kumimoji="0" lang="nn-NO" sz="2200" b="0" i="0" u="none" strike="noStrike" kern="1200" cap="none" spc="0" normalizeH="0" baseline="0" noProof="0" dirty="0">
                <a:ln>
                  <a:noFill/>
                </a:ln>
                <a:solidFill>
                  <a:srgbClr val="221E1F"/>
                </a:solidFill>
                <a:effectLst/>
                <a:uLnTx/>
                <a:uFillTx/>
                <a:latin typeface="Calibri" panose="020F0502020204030204"/>
                <a:ea typeface="+mn-ea"/>
                <a:cs typeface="+mn-cs"/>
              </a:rPr>
              <a:t> = </a:t>
            </a:r>
            <a:r>
              <a:rPr kumimoji="0" lang="nn-NO" sz="2200" b="0" i="1" u="none" strike="noStrike" kern="1200" cap="none" spc="0" normalizeH="0" baseline="0" noProof="0" dirty="0">
                <a:ln>
                  <a:noFill/>
                </a:ln>
                <a:solidFill>
                  <a:srgbClr val="221E1F"/>
                </a:solidFill>
                <a:effectLst/>
                <a:uLnTx/>
                <a:uFillTx/>
                <a:latin typeface="Calibri" panose="020F0502020204030204"/>
                <a:ea typeface="+mn-ea"/>
                <a:cs typeface="+mn-cs"/>
              </a:rPr>
              <a:t>D</a:t>
            </a:r>
            <a:r>
              <a:rPr kumimoji="0" lang="nn-NO" sz="2200" b="0" i="0" u="none" strike="noStrike" kern="1200" cap="none" spc="0" normalizeH="0" baseline="-25000" noProof="0" dirty="0">
                <a:ln>
                  <a:noFill/>
                </a:ln>
                <a:solidFill>
                  <a:srgbClr val="221E1F"/>
                </a:solidFill>
                <a:effectLst/>
                <a:uLnTx/>
                <a:uFillTx/>
                <a:latin typeface="Calibri" panose="020F0502020204030204"/>
                <a:ea typeface="+mn-ea"/>
                <a:cs typeface="+mn-cs"/>
              </a:rPr>
              <a:t>1</a:t>
            </a:r>
            <a:r>
              <a:rPr kumimoji="0" lang="nn-NO" sz="2200" b="0" i="0" u="none" strike="noStrike" kern="1200" cap="none" spc="0" normalizeH="0" baseline="0" noProof="0" dirty="0">
                <a:ln>
                  <a:noFill/>
                </a:ln>
                <a:solidFill>
                  <a:srgbClr val="221E1F"/>
                </a:solidFill>
                <a:effectLst/>
                <a:uLnTx/>
                <a:uFillTx/>
                <a:latin typeface="Calibri" panose="020F0502020204030204"/>
                <a:ea typeface="+mn-ea"/>
                <a:cs typeface="+mn-cs"/>
              </a:rPr>
              <a:t> × (1 + </a:t>
            </a:r>
            <a:r>
              <a:rPr kumimoji="0" lang="nn-NO" sz="2200" b="0" i="1" u="none" strike="noStrike" kern="1200" cap="none" spc="0" normalizeH="0" baseline="0" noProof="0" dirty="0">
                <a:ln>
                  <a:noFill/>
                </a:ln>
                <a:solidFill>
                  <a:srgbClr val="221E1F"/>
                </a:solidFill>
                <a:effectLst/>
                <a:uLnTx/>
                <a:uFillTx/>
                <a:latin typeface="Calibri" panose="020F0502020204030204"/>
                <a:ea typeface="+mn-ea"/>
                <a:cs typeface="+mn-cs"/>
              </a:rPr>
              <a:t>g</a:t>
            </a:r>
            <a:r>
              <a:rPr kumimoji="0" lang="nn-NO" sz="2200" b="0" i="0" u="none" strike="noStrike" kern="1200" cap="none" spc="0" normalizeH="0" baseline="0" noProof="0" dirty="0">
                <a:ln>
                  <a:noFill/>
                </a:ln>
                <a:solidFill>
                  <a:srgbClr val="221E1F"/>
                </a:solidFill>
                <a:effectLst/>
                <a:uLnTx/>
                <a:uFillTx/>
                <a:latin typeface="Calibri" panose="020F0502020204030204"/>
                <a:ea typeface="+mn-ea"/>
                <a:cs typeface="+mn-cs"/>
              </a:rPr>
              <a:t>) </a:t>
            </a:r>
          </a:p>
          <a:p>
            <a:pPr marL="685800" marR="0" lvl="2" indent="347663" algn="l" defTabSz="913740" rtl="0" eaLnBrk="0" fontAlgn="base" latinLnBrk="0" hangingPunct="0">
              <a:lnSpc>
                <a:spcPct val="100000"/>
              </a:lnSpc>
              <a:spcBef>
                <a:spcPct val="20000"/>
              </a:spcBef>
              <a:spcAft>
                <a:spcPct val="0"/>
              </a:spcAft>
              <a:buClr>
                <a:srgbClr val="4A66AC"/>
              </a:buClr>
              <a:buSzTx/>
              <a:buFont typeface="Arial" panose="020B0604020202020204" pitchFamily="34" charset="0"/>
              <a:buNone/>
              <a:tabLst/>
              <a:defRPr/>
            </a:pPr>
            <a:r>
              <a:rPr kumimoji="0" lang="nn-NO" sz="2200" b="0" i="0" u="none" strike="noStrike" kern="1200" cap="none" spc="0" normalizeH="0" baseline="0" noProof="0" dirty="0">
                <a:ln>
                  <a:noFill/>
                </a:ln>
                <a:solidFill>
                  <a:srgbClr val="221E1F"/>
                </a:solidFill>
                <a:effectLst/>
                <a:uLnTx/>
                <a:uFillTx/>
                <a:latin typeface="Calibri" panose="020F0502020204030204"/>
                <a:ea typeface="+mn-ea"/>
                <a:cs typeface="+mn-cs"/>
              </a:rPr>
              <a:t>= [</a:t>
            </a:r>
            <a:r>
              <a:rPr kumimoji="0" lang="nn-NO" sz="2200" b="0" i="1" u="none" strike="noStrike" kern="1200" cap="none" spc="0" normalizeH="0" baseline="0" noProof="0" dirty="0">
                <a:ln>
                  <a:noFill/>
                </a:ln>
                <a:solidFill>
                  <a:srgbClr val="221E1F"/>
                </a:solidFill>
                <a:effectLst/>
                <a:uLnTx/>
                <a:uFillTx/>
                <a:latin typeface="Calibri" panose="020F0502020204030204"/>
                <a:ea typeface="+mn-ea"/>
                <a:cs typeface="+mn-cs"/>
              </a:rPr>
              <a:t>D</a:t>
            </a:r>
            <a:r>
              <a:rPr kumimoji="0" lang="nn-NO" sz="2200" b="0" i="0" u="none" strike="noStrike" kern="1200" cap="none" spc="0" normalizeH="0" baseline="-25000" noProof="0" dirty="0">
                <a:ln>
                  <a:noFill/>
                </a:ln>
                <a:solidFill>
                  <a:srgbClr val="221E1F"/>
                </a:solidFill>
                <a:effectLst/>
                <a:uLnTx/>
                <a:uFillTx/>
                <a:latin typeface="Calibri" panose="020F0502020204030204"/>
                <a:ea typeface="+mn-ea"/>
                <a:cs typeface="+mn-cs"/>
              </a:rPr>
              <a:t>0</a:t>
            </a:r>
            <a:r>
              <a:rPr kumimoji="0" lang="nn-NO" sz="2200" b="0" i="0" u="none" strike="noStrike" kern="1200" cap="none" spc="0" normalizeH="0" baseline="0" noProof="0" dirty="0">
                <a:ln>
                  <a:noFill/>
                </a:ln>
                <a:solidFill>
                  <a:srgbClr val="221E1F"/>
                </a:solidFill>
                <a:effectLst/>
                <a:uLnTx/>
                <a:uFillTx/>
                <a:latin typeface="Calibri" panose="020F0502020204030204"/>
                <a:ea typeface="+mn-ea"/>
                <a:cs typeface="+mn-cs"/>
              </a:rPr>
              <a:t> × (1 + </a:t>
            </a:r>
            <a:r>
              <a:rPr kumimoji="0" lang="nn-NO" sz="2200" b="0" i="1" u="none" strike="noStrike" kern="1200" cap="none" spc="0" normalizeH="0" baseline="0" noProof="0" dirty="0">
                <a:ln>
                  <a:noFill/>
                </a:ln>
                <a:solidFill>
                  <a:srgbClr val="221E1F"/>
                </a:solidFill>
                <a:effectLst/>
                <a:uLnTx/>
                <a:uFillTx/>
                <a:latin typeface="Calibri" panose="020F0502020204030204"/>
                <a:ea typeface="+mn-ea"/>
                <a:cs typeface="+mn-cs"/>
              </a:rPr>
              <a:t>g </a:t>
            </a:r>
            <a:r>
              <a:rPr kumimoji="0" lang="nn-NO" sz="2200" b="0" i="0" u="none" strike="noStrike" kern="1200" cap="none" spc="0" normalizeH="0" baseline="0" noProof="0" dirty="0">
                <a:ln>
                  <a:noFill/>
                </a:ln>
                <a:solidFill>
                  <a:srgbClr val="221E1F"/>
                </a:solidFill>
                <a:effectLst/>
                <a:uLnTx/>
                <a:uFillTx/>
                <a:latin typeface="Calibri" panose="020F0502020204030204"/>
                <a:ea typeface="+mn-ea"/>
                <a:cs typeface="+mn-cs"/>
              </a:rPr>
              <a:t>)] × (1 + </a:t>
            </a:r>
            <a:r>
              <a:rPr kumimoji="0" lang="nn-NO" sz="2200" b="0" i="1" u="none" strike="noStrike" kern="1200" cap="none" spc="0" normalizeH="0" baseline="0" noProof="0" dirty="0">
                <a:ln>
                  <a:noFill/>
                </a:ln>
                <a:solidFill>
                  <a:srgbClr val="221E1F"/>
                </a:solidFill>
                <a:effectLst/>
                <a:uLnTx/>
                <a:uFillTx/>
                <a:latin typeface="Calibri" panose="020F0502020204030204"/>
                <a:ea typeface="+mn-ea"/>
                <a:cs typeface="+mn-cs"/>
              </a:rPr>
              <a:t>g</a:t>
            </a:r>
            <a:r>
              <a:rPr kumimoji="0" lang="nn-NO" sz="2200" b="0" i="0" u="none" strike="noStrike" kern="1200" cap="none" spc="0" normalizeH="0" baseline="0" noProof="0" dirty="0">
                <a:ln>
                  <a:noFill/>
                </a:ln>
                <a:solidFill>
                  <a:srgbClr val="221E1F"/>
                </a:solidFill>
                <a:effectLst/>
                <a:uLnTx/>
                <a:uFillTx/>
                <a:latin typeface="Calibri" panose="020F0502020204030204"/>
                <a:ea typeface="+mn-ea"/>
                <a:cs typeface="+mn-cs"/>
              </a:rPr>
              <a:t>) </a:t>
            </a:r>
          </a:p>
          <a:p>
            <a:pPr marL="685800" marR="0" lvl="2" indent="347663" algn="l" defTabSz="913740" rtl="0" eaLnBrk="0" fontAlgn="base" latinLnBrk="0" hangingPunct="0">
              <a:lnSpc>
                <a:spcPct val="100000"/>
              </a:lnSpc>
              <a:spcBef>
                <a:spcPct val="20000"/>
              </a:spcBef>
              <a:spcAft>
                <a:spcPct val="0"/>
              </a:spcAft>
              <a:buClr>
                <a:srgbClr val="4A66AC"/>
              </a:buClr>
              <a:buSzTx/>
              <a:buFont typeface="Arial" panose="020B0604020202020204" pitchFamily="34" charset="0"/>
              <a:buNone/>
              <a:tabLst/>
              <a:defRPr/>
            </a:pPr>
            <a:r>
              <a:rPr kumimoji="0" lang="nn-NO" sz="2200" b="0" i="0" u="none" strike="noStrike" kern="1200" cap="none" spc="0" normalizeH="0" baseline="0" noProof="0" dirty="0">
                <a:ln>
                  <a:noFill/>
                </a:ln>
                <a:solidFill>
                  <a:srgbClr val="221E1F"/>
                </a:solidFill>
                <a:effectLst/>
                <a:uLnTx/>
                <a:uFillTx/>
                <a:latin typeface="Calibri" panose="020F0502020204030204"/>
                <a:ea typeface="+mn-ea"/>
                <a:cs typeface="+mn-cs"/>
              </a:rPr>
              <a:t>= </a:t>
            </a:r>
            <a:r>
              <a:rPr kumimoji="0" lang="nn-NO" sz="2200" b="0" i="1" u="none" strike="noStrike" kern="1200" cap="none" spc="0" normalizeH="0" baseline="0" noProof="0" dirty="0">
                <a:ln>
                  <a:noFill/>
                </a:ln>
                <a:solidFill>
                  <a:srgbClr val="221E1F"/>
                </a:solidFill>
                <a:effectLst/>
                <a:uLnTx/>
                <a:uFillTx/>
                <a:latin typeface="Calibri" panose="020F0502020204030204"/>
                <a:ea typeface="+mn-ea"/>
                <a:cs typeface="+mn-cs"/>
              </a:rPr>
              <a:t>D</a:t>
            </a:r>
            <a:r>
              <a:rPr kumimoji="0" lang="nn-NO" sz="2200" b="0" i="0" u="none" strike="noStrike" kern="1200" cap="none" spc="0" normalizeH="0" baseline="-25000" noProof="0" dirty="0">
                <a:ln>
                  <a:noFill/>
                </a:ln>
                <a:solidFill>
                  <a:srgbClr val="221E1F"/>
                </a:solidFill>
                <a:effectLst/>
                <a:uLnTx/>
                <a:uFillTx/>
                <a:latin typeface="Calibri" panose="020F0502020204030204"/>
                <a:ea typeface="+mn-ea"/>
                <a:cs typeface="+mn-cs"/>
              </a:rPr>
              <a:t>0</a:t>
            </a:r>
            <a:r>
              <a:rPr kumimoji="0" lang="nn-NO" sz="2200" b="0" i="0" u="none" strike="noStrike" kern="1200" cap="none" spc="0" normalizeH="0" baseline="0" noProof="0" dirty="0">
                <a:ln>
                  <a:noFill/>
                </a:ln>
                <a:solidFill>
                  <a:srgbClr val="221E1F"/>
                </a:solidFill>
                <a:effectLst/>
                <a:uLnTx/>
                <a:uFillTx/>
                <a:latin typeface="Calibri" panose="020F0502020204030204"/>
                <a:ea typeface="+mn-ea"/>
                <a:cs typeface="+mn-cs"/>
              </a:rPr>
              <a:t> × ( 1 + </a:t>
            </a:r>
            <a:r>
              <a:rPr kumimoji="0" lang="nn-NO" sz="2200" b="0" i="1" u="none" strike="noStrike" kern="1200" cap="none" spc="0" normalizeH="0" baseline="0" noProof="0" dirty="0">
                <a:ln>
                  <a:noFill/>
                </a:ln>
                <a:solidFill>
                  <a:srgbClr val="221E1F"/>
                </a:solidFill>
                <a:effectLst/>
                <a:uLnTx/>
                <a:uFillTx/>
                <a:latin typeface="Calibri" panose="020F0502020204030204"/>
                <a:ea typeface="+mn-ea"/>
                <a:cs typeface="+mn-cs"/>
              </a:rPr>
              <a:t>g </a:t>
            </a:r>
            <a:r>
              <a:rPr kumimoji="0" lang="nn-NO" sz="2200" b="0" i="0" u="none" strike="noStrike" kern="1200" cap="none" spc="0" normalizeH="0" baseline="0" noProof="0" dirty="0">
                <a:ln>
                  <a:noFill/>
                </a:ln>
                <a:solidFill>
                  <a:srgbClr val="221E1F"/>
                </a:solidFill>
                <a:effectLst/>
                <a:uLnTx/>
                <a:uFillTx/>
                <a:latin typeface="Calibri" panose="020F0502020204030204"/>
                <a:ea typeface="+mn-ea"/>
                <a:cs typeface="+mn-cs"/>
              </a:rPr>
              <a:t>)</a:t>
            </a:r>
            <a:r>
              <a:rPr kumimoji="0" lang="nn-NO" sz="2200" b="0" i="0" u="none" strike="noStrike" kern="1200" cap="none" spc="0" normalizeH="0" baseline="30000" noProof="0" dirty="0">
                <a:ln>
                  <a:noFill/>
                </a:ln>
                <a:solidFill>
                  <a:srgbClr val="221E1F"/>
                </a:solidFill>
                <a:effectLst/>
                <a:uLnTx/>
                <a:uFillTx/>
                <a:latin typeface="Calibri" panose="020F0502020204030204"/>
                <a:ea typeface="+mn-ea"/>
                <a:cs typeface="+mn-cs"/>
              </a:rPr>
              <a:t>2</a:t>
            </a:r>
            <a:r>
              <a:rPr kumimoji="0" lang="nn-NO" sz="2200" b="0" i="0" u="none" strike="noStrike" kern="1200" cap="none" spc="0" normalizeH="0" baseline="0" noProof="0" dirty="0">
                <a:ln>
                  <a:noFill/>
                </a:ln>
                <a:solidFill>
                  <a:srgbClr val="221E1F"/>
                </a:solidFill>
                <a:effectLst/>
                <a:uLnTx/>
                <a:uFillTx/>
                <a:latin typeface="Calibri" panose="020F0502020204030204"/>
                <a:ea typeface="+mn-ea"/>
                <a:cs typeface="+mn-cs"/>
              </a:rPr>
              <a:t> </a:t>
            </a:r>
            <a:endParaRPr kumimoji="0" lang="en-US" sz="2200" b="0" i="0" u="none" strike="noStrike" kern="1200" cap="none" spc="0" normalizeH="0" baseline="0" noProof="0" dirty="0">
              <a:ln>
                <a:noFill/>
              </a:ln>
              <a:solidFill>
                <a:srgbClr val="221E1F"/>
              </a:solidFill>
              <a:effectLst/>
              <a:uLnTx/>
              <a:uFillTx/>
              <a:latin typeface="Calibri" panose="020F0502020204030204"/>
              <a:ea typeface="+mn-ea"/>
              <a:cs typeface="+mn-cs"/>
            </a:endParaRPr>
          </a:p>
          <a:p>
            <a:pPr marL="342204" marR="0" lvl="0" indent="-227540" algn="just" defTabSz="913740" rtl="0" eaLnBrk="0" fontAlgn="base" latinLnBrk="0" hangingPunct="0">
              <a:lnSpc>
                <a:spcPct val="100000"/>
              </a:lnSpc>
              <a:spcBef>
                <a:spcPct val="20000"/>
              </a:spcBef>
              <a:spcAft>
                <a:spcPct val="0"/>
              </a:spcAft>
              <a:buClr>
                <a:srgbClr val="AD0101"/>
              </a:buClr>
              <a:buSzTx/>
              <a:buFont typeface="Arial" panose="020B0604020202020204" pitchFamily="34" charset="0"/>
              <a:buChar char="•"/>
              <a:tabLst/>
              <a:defRPr/>
            </a:pPr>
            <a:r>
              <a:rPr kumimoji="0" lang="en-US" sz="2300" b="0" i="0" u="none" strike="noStrike" kern="1200" cap="none" spc="0" normalizeH="0" baseline="0" noProof="0" dirty="0">
                <a:ln>
                  <a:noFill/>
                </a:ln>
                <a:solidFill>
                  <a:srgbClr val="221E1F"/>
                </a:solidFill>
                <a:effectLst/>
                <a:uLnTx/>
                <a:uFillTx/>
                <a:latin typeface="Calibri" panose="020F0502020204030204"/>
                <a:ea typeface="+mn-ea"/>
                <a:cs typeface="+mn-cs"/>
              </a:rPr>
              <a:t>We could repeat this process to come up with the dividend at any point in the future</a:t>
            </a:r>
          </a:p>
          <a:p>
            <a:pPr marL="342204" marR="0" lvl="0" indent="-227540" algn="just" defTabSz="913740" rtl="0" eaLnBrk="0" fontAlgn="base" latinLnBrk="0" hangingPunct="0">
              <a:lnSpc>
                <a:spcPct val="100000"/>
              </a:lnSpc>
              <a:spcBef>
                <a:spcPct val="20000"/>
              </a:spcBef>
              <a:spcAft>
                <a:spcPct val="0"/>
              </a:spcAft>
              <a:buClr>
                <a:srgbClr val="AD0101"/>
              </a:buClr>
              <a:buSzTx/>
              <a:buFont typeface="Arial" panose="020B0604020202020204" pitchFamily="34" charset="0"/>
              <a:buChar char="•"/>
              <a:tabLst/>
              <a:defRPr/>
            </a:pPr>
            <a:r>
              <a:rPr kumimoji="0" lang="en-US" sz="2300" b="0" i="0" u="none" strike="noStrike" kern="1200" cap="none" spc="0" normalizeH="0" baseline="0" noProof="0" dirty="0">
                <a:ln>
                  <a:noFill/>
                </a:ln>
                <a:solidFill>
                  <a:srgbClr val="221E1F"/>
                </a:solidFill>
                <a:effectLst/>
                <a:uLnTx/>
                <a:uFillTx/>
                <a:latin typeface="Calibri" panose="020F0502020204030204"/>
                <a:ea typeface="+mn-ea"/>
                <a:cs typeface="+mn-cs"/>
              </a:rPr>
              <a:t>The dividend </a:t>
            </a:r>
            <a:r>
              <a:rPr kumimoji="0" lang="en-US" sz="2300" b="0" i="1" u="none" strike="noStrike" kern="1200" cap="none" spc="0" normalizeH="0" baseline="0" noProof="0" dirty="0">
                <a:ln>
                  <a:noFill/>
                </a:ln>
                <a:solidFill>
                  <a:srgbClr val="221E1F"/>
                </a:solidFill>
                <a:effectLst/>
                <a:uLnTx/>
                <a:uFillTx/>
                <a:latin typeface="Calibri" panose="020F0502020204030204"/>
                <a:ea typeface="+mn-ea"/>
                <a:cs typeface="+mn-cs"/>
              </a:rPr>
              <a:t>t </a:t>
            </a:r>
            <a:r>
              <a:rPr kumimoji="0" lang="en-US" sz="2300" b="0" i="0" u="none" strike="noStrike" kern="1200" cap="none" spc="0" normalizeH="0" baseline="0" noProof="0" dirty="0">
                <a:ln>
                  <a:noFill/>
                </a:ln>
                <a:solidFill>
                  <a:srgbClr val="221E1F"/>
                </a:solidFill>
                <a:effectLst/>
                <a:uLnTx/>
                <a:uFillTx/>
                <a:latin typeface="Calibri" panose="020F0502020204030204"/>
                <a:ea typeface="+mn-ea"/>
                <a:cs typeface="+mn-cs"/>
              </a:rPr>
              <a:t>periods into the future, </a:t>
            </a:r>
            <a:r>
              <a:rPr kumimoji="0" lang="en-US" sz="2300" b="0" i="1" u="none" strike="noStrike" kern="1200" cap="none" spc="0" normalizeH="0" baseline="0" noProof="0" dirty="0">
                <a:ln>
                  <a:noFill/>
                </a:ln>
                <a:solidFill>
                  <a:srgbClr val="221E1F"/>
                </a:solidFill>
                <a:effectLst/>
                <a:uLnTx/>
                <a:uFillTx/>
                <a:latin typeface="Calibri" panose="020F0502020204030204"/>
                <a:ea typeface="+mn-ea"/>
                <a:cs typeface="+mn-cs"/>
              </a:rPr>
              <a:t>D</a:t>
            </a:r>
            <a:r>
              <a:rPr kumimoji="0" lang="en-US" sz="2300" b="0" i="1" u="none" strike="noStrike" kern="1200" cap="none" spc="0" normalizeH="0" baseline="-25000" noProof="0" dirty="0">
                <a:ln>
                  <a:noFill/>
                </a:ln>
                <a:solidFill>
                  <a:srgbClr val="221E1F"/>
                </a:solidFill>
                <a:effectLst/>
                <a:uLnTx/>
                <a:uFillTx/>
                <a:latin typeface="Calibri" panose="020F0502020204030204"/>
                <a:ea typeface="+mn-ea"/>
                <a:cs typeface="+mn-cs"/>
              </a:rPr>
              <a:t>t</a:t>
            </a:r>
            <a:r>
              <a:rPr kumimoji="0" lang="en-US" sz="2300" b="0" i="0" u="none" strike="noStrike" kern="1200" cap="none" spc="0" normalizeH="0" baseline="0" noProof="0" dirty="0">
                <a:ln>
                  <a:noFill/>
                </a:ln>
                <a:solidFill>
                  <a:srgbClr val="221E1F"/>
                </a:solidFill>
                <a:effectLst/>
                <a:uLnTx/>
                <a:uFillTx/>
                <a:latin typeface="Calibri" panose="020F0502020204030204"/>
                <a:ea typeface="+mn-ea"/>
                <a:cs typeface="+mn-cs"/>
              </a:rPr>
              <a:t>, is given by: </a:t>
            </a:r>
          </a:p>
          <a:p>
            <a:pPr marL="685836" marR="0" lvl="2" indent="4763" algn="l" defTabSz="913740" rtl="0" eaLnBrk="0" fontAlgn="base" latinLnBrk="0" hangingPunct="0">
              <a:lnSpc>
                <a:spcPct val="100000"/>
              </a:lnSpc>
              <a:spcBef>
                <a:spcPct val="20000"/>
              </a:spcBef>
              <a:spcAft>
                <a:spcPct val="0"/>
              </a:spcAft>
              <a:buClr>
                <a:srgbClr val="4A66AC"/>
              </a:buClr>
              <a:buSzTx/>
              <a:buFont typeface="Arial" panose="020B0604020202020204" pitchFamily="34" charset="0"/>
              <a:buNone/>
              <a:tabLst/>
              <a:defRPr/>
            </a:pPr>
            <a:r>
              <a:rPr kumimoji="0" lang="de-DE" sz="2200" b="0" i="1" u="none" strike="noStrike" kern="1200" cap="none" spc="0" normalizeH="0" baseline="0" noProof="0" dirty="0">
                <a:ln>
                  <a:noFill/>
                </a:ln>
                <a:solidFill>
                  <a:srgbClr val="221E1F"/>
                </a:solidFill>
                <a:effectLst/>
                <a:uLnTx/>
                <a:uFillTx/>
                <a:latin typeface="Calibri" panose="020F0502020204030204"/>
                <a:ea typeface="+mn-ea"/>
                <a:cs typeface="+mn-cs"/>
              </a:rPr>
              <a:t>D</a:t>
            </a:r>
            <a:r>
              <a:rPr kumimoji="0" lang="de-DE" sz="2200" b="0" i="1" u="none" strike="noStrike" kern="1200" cap="none" spc="0" normalizeH="0" baseline="-25000" noProof="0" dirty="0">
                <a:ln>
                  <a:noFill/>
                </a:ln>
                <a:solidFill>
                  <a:srgbClr val="221E1F"/>
                </a:solidFill>
                <a:effectLst/>
                <a:uLnTx/>
                <a:uFillTx/>
                <a:latin typeface="Calibri" panose="020F0502020204030204"/>
                <a:ea typeface="+mn-ea"/>
                <a:cs typeface="+mn-cs"/>
              </a:rPr>
              <a:t>t</a:t>
            </a:r>
            <a:r>
              <a:rPr kumimoji="0" lang="de-DE" sz="2200" b="0" i="1" u="none" strike="noStrike" kern="1200" cap="none" spc="0" normalizeH="0" baseline="0" noProof="0" dirty="0">
                <a:ln>
                  <a:noFill/>
                </a:ln>
                <a:solidFill>
                  <a:srgbClr val="221E1F"/>
                </a:solidFill>
                <a:effectLst/>
                <a:uLnTx/>
                <a:uFillTx/>
                <a:latin typeface="Calibri" panose="020F0502020204030204"/>
                <a:ea typeface="+mn-ea"/>
                <a:cs typeface="+mn-cs"/>
              </a:rPr>
              <a:t> </a:t>
            </a:r>
            <a:r>
              <a:rPr kumimoji="0" lang="de-DE" sz="2200" b="0" i="0" u="none" strike="noStrike" kern="1200" cap="none" spc="0" normalizeH="0" baseline="0" noProof="0" dirty="0">
                <a:ln>
                  <a:noFill/>
                </a:ln>
                <a:solidFill>
                  <a:srgbClr val="221E1F"/>
                </a:solidFill>
                <a:effectLst/>
                <a:uLnTx/>
                <a:uFillTx/>
                <a:latin typeface="Calibri" panose="020F0502020204030204"/>
                <a:ea typeface="+mn-ea"/>
                <a:cs typeface="+mn-cs"/>
              </a:rPr>
              <a:t>= </a:t>
            </a:r>
            <a:r>
              <a:rPr kumimoji="0" lang="de-DE" sz="2200" b="0" i="1" u="none" strike="noStrike" kern="1200" cap="none" spc="0" normalizeH="0" baseline="0" noProof="0" dirty="0">
                <a:ln>
                  <a:noFill/>
                </a:ln>
                <a:solidFill>
                  <a:srgbClr val="221E1F"/>
                </a:solidFill>
                <a:effectLst/>
                <a:uLnTx/>
                <a:uFillTx/>
                <a:latin typeface="Calibri" panose="020F0502020204030204"/>
                <a:ea typeface="+mn-ea"/>
                <a:cs typeface="+mn-cs"/>
              </a:rPr>
              <a:t>D</a:t>
            </a:r>
            <a:r>
              <a:rPr kumimoji="0" lang="de-DE" sz="2200" b="0" i="0" u="none" strike="noStrike" kern="1200" cap="none" spc="0" normalizeH="0" baseline="-25000" noProof="0" dirty="0">
                <a:ln>
                  <a:noFill/>
                </a:ln>
                <a:solidFill>
                  <a:srgbClr val="221E1F"/>
                </a:solidFill>
                <a:effectLst/>
                <a:uLnTx/>
                <a:uFillTx/>
                <a:latin typeface="Calibri" panose="020F0502020204030204"/>
                <a:ea typeface="+mn-ea"/>
                <a:cs typeface="+mn-cs"/>
              </a:rPr>
              <a:t>0</a:t>
            </a:r>
            <a:r>
              <a:rPr kumimoji="0" lang="de-DE" sz="2200" b="0" i="0" u="none" strike="noStrike" kern="1200" cap="none" spc="0" normalizeH="0" baseline="0" noProof="0" dirty="0">
                <a:ln>
                  <a:noFill/>
                </a:ln>
                <a:solidFill>
                  <a:srgbClr val="221E1F"/>
                </a:solidFill>
                <a:effectLst/>
                <a:uLnTx/>
                <a:uFillTx/>
                <a:latin typeface="Calibri" panose="020F0502020204030204"/>
                <a:ea typeface="+mn-ea"/>
                <a:cs typeface="+mn-cs"/>
              </a:rPr>
              <a:t> × (1 + </a:t>
            </a:r>
            <a:r>
              <a:rPr kumimoji="0" lang="de-DE" sz="2200" b="0" i="1" u="none" strike="noStrike" kern="1200" cap="none" spc="0" normalizeH="0" baseline="0" noProof="0" dirty="0">
                <a:ln>
                  <a:noFill/>
                </a:ln>
                <a:solidFill>
                  <a:srgbClr val="221E1F"/>
                </a:solidFill>
                <a:effectLst/>
                <a:uLnTx/>
                <a:uFillTx/>
                <a:latin typeface="Calibri" panose="020F0502020204030204"/>
                <a:ea typeface="+mn-ea"/>
                <a:cs typeface="+mn-cs"/>
              </a:rPr>
              <a:t>g</a:t>
            </a:r>
            <a:r>
              <a:rPr kumimoji="0" lang="de-DE" sz="2200" b="0" i="0" u="none" strike="noStrike" kern="1200" cap="none" spc="0" normalizeH="0" baseline="0" noProof="0" dirty="0">
                <a:ln>
                  <a:noFill/>
                </a:ln>
                <a:solidFill>
                  <a:srgbClr val="221E1F"/>
                </a:solidFill>
                <a:effectLst/>
                <a:uLnTx/>
                <a:uFillTx/>
                <a:latin typeface="Calibri" panose="020F0502020204030204"/>
                <a:ea typeface="+mn-ea"/>
                <a:cs typeface="+mn-cs"/>
              </a:rPr>
              <a:t>)</a:t>
            </a:r>
            <a:r>
              <a:rPr kumimoji="0" lang="de-DE" sz="2200" b="0" i="1" u="none" strike="noStrike" kern="1200" cap="none" spc="0" normalizeH="0" baseline="30000" noProof="0" dirty="0">
                <a:ln>
                  <a:noFill/>
                </a:ln>
                <a:solidFill>
                  <a:srgbClr val="221E1F"/>
                </a:solidFill>
                <a:effectLst/>
                <a:uLnTx/>
                <a:uFillTx/>
                <a:latin typeface="Calibri" panose="020F0502020204030204"/>
                <a:ea typeface="+mn-ea"/>
                <a:cs typeface="+mn-cs"/>
              </a:rPr>
              <a:t>t </a:t>
            </a:r>
            <a:endParaRPr kumimoji="0" lang="en-US" altLang="en-US" sz="2200" b="0" i="0" u="none" strike="noStrike" kern="1200" cap="none" spc="0" normalizeH="0" baseline="30000" noProof="0" dirty="0">
              <a:ln>
                <a:noFill/>
              </a:ln>
              <a:solidFill>
                <a:srgbClr val="AD0101">
                  <a:lumMod val="75000"/>
                </a:srgbClr>
              </a:solidFill>
              <a:effectLst/>
              <a:uLnTx/>
              <a:uFillTx/>
              <a:latin typeface="Calibri" panose="020F0502020204030204"/>
              <a:ea typeface="+mn-ea"/>
              <a:cs typeface="+mn-cs"/>
            </a:endParaRPr>
          </a:p>
        </p:txBody>
      </p:sp>
      <p:sp>
        <p:nvSpPr>
          <p:cNvPr id="8194" name="Rectangle 2">
            <a:extLst>
              <a:ext uri="{FF2B5EF4-FFF2-40B4-BE49-F238E27FC236}">
                <a16:creationId xmlns:a16="http://schemas.microsoft.com/office/drawing/2014/main" id="{7BCF8C48-AD02-43D2-BD54-306710C0F48D}"/>
              </a:ext>
            </a:extLst>
          </p:cNvPr>
          <p:cNvSpPr>
            <a:spLocks noGrp="1" noChangeArrowheads="1"/>
          </p:cNvSpPr>
          <p:nvPr>
            <p:ph type="title"/>
          </p:nvPr>
        </p:nvSpPr>
        <p:spPr/>
        <p:txBody>
          <a:bodyPr/>
          <a:lstStyle/>
          <a:p>
            <a:pPr eaLnBrk="1" hangingPunct="1">
              <a:defRPr/>
            </a:pPr>
            <a:r>
              <a:rPr lang="en-US" altLang="en-US" sz="3600" dirty="0"/>
              <a:t>Constant growth</a:t>
            </a:r>
          </a:p>
        </p:txBody>
      </p:sp>
    </p:spTree>
    <p:extLst>
      <p:ext uri="{BB962C8B-B14F-4D97-AF65-F5344CB8AC3E}">
        <p14:creationId xmlns:p14="http://schemas.microsoft.com/office/powerpoint/2010/main" val="560078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7859E5E7-3530-42FB-A49C-AFFBB5834908}"/>
              </a:ext>
            </a:extLst>
          </p:cNvPr>
          <p:cNvSpPr>
            <a:spLocks noGrp="1" noChangeArrowheads="1"/>
          </p:cNvSpPr>
          <p:nvPr>
            <p:ph idx="1"/>
          </p:nvPr>
        </p:nvSpPr>
        <p:spPr>
          <a:xfrm>
            <a:off x="584906" y="1491033"/>
            <a:ext cx="8431036" cy="4993290"/>
          </a:xfrm>
        </p:spPr>
        <p:txBody>
          <a:bodyPr/>
          <a:lstStyle/>
          <a:p>
            <a:pPr eaLnBrk="1" hangingPunct="1">
              <a:lnSpc>
                <a:spcPct val="90000"/>
              </a:lnSpc>
              <a:spcBef>
                <a:spcPts val="600"/>
              </a:spcBef>
            </a:pPr>
            <a:r>
              <a:rPr lang="en-US" altLang="en-US" sz="2300" dirty="0"/>
              <a:t>The </a:t>
            </a:r>
            <a:r>
              <a:rPr lang="en-US" altLang="en-US" sz="2300" b="1" dirty="0"/>
              <a:t>dividend growth model </a:t>
            </a:r>
            <a:r>
              <a:rPr lang="en-US" altLang="en-US" sz="2300" dirty="0"/>
              <a:t>determines the current price of a stock as its dividend next period divided by the discount rate less the dividend growth rate, and can be written as follows, so long as the growth rate, </a:t>
            </a:r>
            <a:r>
              <a:rPr lang="en-US" altLang="en-US" sz="2300" i="1" dirty="0"/>
              <a:t>g</a:t>
            </a:r>
            <a:r>
              <a:rPr lang="en-US" altLang="en-US" sz="2300" dirty="0"/>
              <a:t>, is less than the discount rate, </a:t>
            </a:r>
            <a:r>
              <a:rPr lang="en-US" altLang="en-US" sz="2300" i="1" dirty="0"/>
              <a:t>r</a:t>
            </a:r>
            <a:r>
              <a:rPr lang="en-US" altLang="en-US" sz="2300" dirty="0"/>
              <a:t>:</a:t>
            </a:r>
          </a:p>
          <a:p>
            <a:pPr eaLnBrk="1" hangingPunct="1">
              <a:lnSpc>
                <a:spcPct val="90000"/>
              </a:lnSpc>
              <a:spcBef>
                <a:spcPts val="600"/>
              </a:spcBef>
            </a:pPr>
            <a:endParaRPr lang="en-US" altLang="en-US" sz="2300" dirty="0"/>
          </a:p>
          <a:p>
            <a:pPr eaLnBrk="1" hangingPunct="1">
              <a:lnSpc>
                <a:spcPct val="90000"/>
              </a:lnSpc>
              <a:spcBef>
                <a:spcPts val="600"/>
              </a:spcBef>
            </a:pPr>
            <a:endParaRPr lang="en-US" altLang="en-US" sz="2300" dirty="0"/>
          </a:p>
          <a:p>
            <a:pPr eaLnBrk="1" hangingPunct="1">
              <a:lnSpc>
                <a:spcPct val="90000"/>
              </a:lnSpc>
              <a:spcBef>
                <a:spcPts val="600"/>
              </a:spcBef>
            </a:pPr>
            <a:endParaRPr lang="en-US" altLang="en-US" sz="2300" dirty="0"/>
          </a:p>
          <a:p>
            <a:pPr eaLnBrk="1" hangingPunct="1">
              <a:lnSpc>
                <a:spcPct val="90000"/>
              </a:lnSpc>
              <a:spcBef>
                <a:spcPts val="600"/>
              </a:spcBef>
            </a:pPr>
            <a:r>
              <a:rPr lang="en-US" sz="2300" b="0" i="0" u="none" strike="noStrike" baseline="0" dirty="0">
                <a:solidFill>
                  <a:srgbClr val="221E1F"/>
                </a:solidFill>
              </a:rPr>
              <a:t>We can use the dividend growth model to get the stock price at any point in time; </a:t>
            </a:r>
            <a:r>
              <a:rPr lang="en-US" sz="2300" dirty="0">
                <a:solidFill>
                  <a:srgbClr val="221E1F"/>
                </a:solidFill>
              </a:rPr>
              <a:t>i</a:t>
            </a:r>
            <a:r>
              <a:rPr lang="en-US" sz="2300" b="0" i="0" u="none" strike="noStrike" baseline="0" dirty="0">
                <a:solidFill>
                  <a:srgbClr val="221E1F"/>
                </a:solidFill>
              </a:rPr>
              <a:t>n general, the price of the stock as of Time </a:t>
            </a:r>
            <a:r>
              <a:rPr lang="en-US" sz="2300" b="0" i="1" u="none" strike="noStrike" baseline="0" dirty="0">
                <a:solidFill>
                  <a:srgbClr val="221E1F"/>
                </a:solidFill>
              </a:rPr>
              <a:t>t </a:t>
            </a:r>
            <a:r>
              <a:rPr lang="en-US" sz="2300" b="0" i="0" u="none" strike="noStrike" baseline="0" dirty="0">
                <a:solidFill>
                  <a:srgbClr val="221E1F"/>
                </a:solidFill>
              </a:rPr>
              <a:t>is: </a:t>
            </a:r>
            <a:endParaRPr lang="en-US" altLang="en-US" sz="2300" dirty="0"/>
          </a:p>
        </p:txBody>
      </p:sp>
      <p:sp>
        <p:nvSpPr>
          <p:cNvPr id="8194" name="Rectangle 2">
            <a:extLst>
              <a:ext uri="{FF2B5EF4-FFF2-40B4-BE49-F238E27FC236}">
                <a16:creationId xmlns:a16="http://schemas.microsoft.com/office/drawing/2014/main" id="{7BCF8C48-AD02-43D2-BD54-306710C0F48D}"/>
              </a:ext>
            </a:extLst>
          </p:cNvPr>
          <p:cNvSpPr>
            <a:spLocks noGrp="1" noChangeArrowheads="1"/>
          </p:cNvSpPr>
          <p:nvPr>
            <p:ph type="title"/>
          </p:nvPr>
        </p:nvSpPr>
        <p:spPr/>
        <p:txBody>
          <a:bodyPr/>
          <a:lstStyle/>
          <a:p>
            <a:pPr eaLnBrk="1" hangingPunct="1">
              <a:defRPr/>
            </a:pPr>
            <a:r>
              <a:rPr lang="en-US" altLang="en-US" sz="3600" dirty="0"/>
              <a:t>Constant growth </a:t>
            </a:r>
            <a:br>
              <a:rPr lang="en-US" altLang="en-US" sz="3600" dirty="0"/>
            </a:br>
            <a:r>
              <a:rPr lang="en-US" altLang="en-US" sz="3600" dirty="0"/>
              <a:t>(continued)</a:t>
            </a:r>
          </a:p>
        </p:txBody>
      </p:sp>
      <p:pic>
        <p:nvPicPr>
          <p:cNvPr id="5" name="Picture 4">
            <a:extLst>
              <a:ext uri="{FF2B5EF4-FFF2-40B4-BE49-F238E27FC236}">
                <a16:creationId xmlns:a16="http://schemas.microsoft.com/office/drawing/2014/main" id="{5C4D2176-0814-4C25-98F3-F9928D1C2B38}"/>
              </a:ext>
            </a:extLst>
          </p:cNvPr>
          <p:cNvPicPr>
            <a:picLocks noChangeAspect="1"/>
          </p:cNvPicPr>
          <p:nvPr/>
        </p:nvPicPr>
        <p:blipFill>
          <a:blip r:embed="rId3"/>
          <a:stretch>
            <a:fillRect/>
          </a:stretch>
        </p:blipFill>
        <p:spPr>
          <a:xfrm>
            <a:off x="2396243" y="2945606"/>
            <a:ext cx="4249618" cy="966788"/>
          </a:xfrm>
          <a:prstGeom prst="rect">
            <a:avLst/>
          </a:prstGeom>
        </p:spPr>
      </p:pic>
      <p:pic>
        <p:nvPicPr>
          <p:cNvPr id="7" name="Picture 6">
            <a:extLst>
              <a:ext uri="{FF2B5EF4-FFF2-40B4-BE49-F238E27FC236}">
                <a16:creationId xmlns:a16="http://schemas.microsoft.com/office/drawing/2014/main" id="{13FF577B-8C48-48E7-A4FD-F30C2043C65F}"/>
              </a:ext>
            </a:extLst>
          </p:cNvPr>
          <p:cNvPicPr>
            <a:picLocks noChangeAspect="1"/>
          </p:cNvPicPr>
          <p:nvPr/>
        </p:nvPicPr>
        <p:blipFill>
          <a:blip r:embed="rId4"/>
          <a:stretch>
            <a:fillRect/>
          </a:stretch>
        </p:blipFill>
        <p:spPr>
          <a:xfrm>
            <a:off x="2498139" y="4876800"/>
            <a:ext cx="4147722" cy="1045182"/>
          </a:xfrm>
          <a:prstGeom prst="rect">
            <a:avLst/>
          </a:prstGeom>
        </p:spPr>
      </p:pic>
    </p:spTree>
    <p:extLst>
      <p:ext uri="{BB962C8B-B14F-4D97-AF65-F5344CB8AC3E}">
        <p14:creationId xmlns:p14="http://schemas.microsoft.com/office/powerpoint/2010/main" val="1343787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7859E5E7-3530-42FB-A49C-AFFBB5834908}"/>
              </a:ext>
            </a:extLst>
          </p:cNvPr>
          <p:cNvSpPr>
            <a:spLocks noGrp="1" noChangeArrowheads="1"/>
          </p:cNvSpPr>
          <p:nvPr>
            <p:ph idx="1"/>
          </p:nvPr>
        </p:nvSpPr>
        <p:spPr>
          <a:xfrm>
            <a:off x="584906" y="1491033"/>
            <a:ext cx="8431036" cy="4993290"/>
          </a:xfrm>
        </p:spPr>
        <p:txBody>
          <a:bodyPr/>
          <a:lstStyle/>
          <a:p>
            <a:pPr algn="just">
              <a:lnSpc>
                <a:spcPct val="90000"/>
              </a:lnSpc>
              <a:spcBef>
                <a:spcPts val="600"/>
              </a:spcBef>
            </a:pPr>
            <a:r>
              <a:rPr lang="en-US" sz="2300" dirty="0">
                <a:solidFill>
                  <a:srgbClr val="221E1F"/>
                </a:solidFill>
              </a:rPr>
              <a:t>S</a:t>
            </a:r>
            <a:r>
              <a:rPr lang="en-US" sz="2300" b="0" i="0" u="none" strike="noStrike" baseline="0" dirty="0">
                <a:solidFill>
                  <a:srgbClr val="221E1F"/>
                </a:solidFill>
              </a:rPr>
              <a:t>uppose </a:t>
            </a:r>
            <a:r>
              <a:rPr lang="en-US" sz="2300" b="0" i="1" u="none" strike="noStrike" baseline="0" dirty="0">
                <a:solidFill>
                  <a:srgbClr val="221E1F"/>
                </a:solidFill>
              </a:rPr>
              <a:t>D</a:t>
            </a:r>
            <a:r>
              <a:rPr lang="en-US" sz="2300" b="0" i="0" u="none" strike="noStrike" baseline="-25000" dirty="0">
                <a:solidFill>
                  <a:srgbClr val="221E1F"/>
                </a:solidFill>
              </a:rPr>
              <a:t>0</a:t>
            </a:r>
            <a:r>
              <a:rPr lang="en-US" sz="2300" b="0" i="0" u="none" strike="noStrike" baseline="0" dirty="0">
                <a:solidFill>
                  <a:srgbClr val="221E1F"/>
                </a:solidFill>
              </a:rPr>
              <a:t> is $2.30, </a:t>
            </a:r>
            <a:r>
              <a:rPr lang="en-US" sz="2300" b="0" i="1" u="none" strike="noStrike" baseline="0" dirty="0">
                <a:solidFill>
                  <a:srgbClr val="221E1F"/>
                </a:solidFill>
              </a:rPr>
              <a:t>R </a:t>
            </a:r>
            <a:r>
              <a:rPr lang="en-US" sz="2300" b="0" i="0" u="none" strike="noStrike" baseline="0" dirty="0">
                <a:solidFill>
                  <a:srgbClr val="221E1F"/>
                </a:solidFill>
              </a:rPr>
              <a:t>is 13%, and </a:t>
            </a:r>
            <a:r>
              <a:rPr lang="en-US" sz="2300" b="0" i="1" u="none" strike="noStrike" baseline="0" dirty="0">
                <a:solidFill>
                  <a:srgbClr val="221E1F"/>
                </a:solidFill>
              </a:rPr>
              <a:t>g </a:t>
            </a:r>
            <a:r>
              <a:rPr lang="en-US" sz="2300" b="0" i="0" u="none" strike="noStrike" baseline="0" dirty="0">
                <a:solidFill>
                  <a:srgbClr val="221E1F"/>
                </a:solidFill>
              </a:rPr>
              <a:t>is 5%. The price per share in this case is: </a:t>
            </a:r>
          </a:p>
          <a:p>
            <a:pPr marL="686200" lvl="2" indent="0" algn="just">
              <a:lnSpc>
                <a:spcPct val="90000"/>
              </a:lnSpc>
              <a:spcBef>
                <a:spcPts val="600"/>
              </a:spcBef>
              <a:buNone/>
            </a:pPr>
            <a:r>
              <a:rPr lang="pt-BR" sz="2200" b="0" i="1" u="none" strike="noStrike" baseline="0" dirty="0">
                <a:solidFill>
                  <a:srgbClr val="221E1F"/>
                </a:solidFill>
              </a:rPr>
              <a:t>P</a:t>
            </a:r>
            <a:r>
              <a:rPr lang="pt-BR" sz="2200" b="0" i="0" u="none" strike="noStrike" baseline="-25000" dirty="0">
                <a:solidFill>
                  <a:srgbClr val="221E1F"/>
                </a:solidFill>
              </a:rPr>
              <a:t>0</a:t>
            </a:r>
            <a:r>
              <a:rPr lang="pt-BR" sz="2200" b="0" i="0" u="none" strike="noStrike" baseline="0" dirty="0">
                <a:solidFill>
                  <a:srgbClr val="221E1F"/>
                </a:solidFill>
              </a:rPr>
              <a:t> = </a:t>
            </a:r>
            <a:r>
              <a:rPr lang="pt-BR" sz="2200" b="0" i="1" u="none" strike="noStrike" baseline="0" dirty="0">
                <a:solidFill>
                  <a:srgbClr val="221E1F"/>
                </a:solidFill>
              </a:rPr>
              <a:t>D</a:t>
            </a:r>
            <a:r>
              <a:rPr lang="pt-BR" sz="2200" b="0" i="0" u="none" strike="noStrike" baseline="-25000" dirty="0">
                <a:solidFill>
                  <a:srgbClr val="221E1F"/>
                </a:solidFill>
              </a:rPr>
              <a:t>0</a:t>
            </a:r>
            <a:r>
              <a:rPr lang="pt-BR" sz="2200" b="0" i="0" u="none" strike="noStrike" baseline="0" dirty="0">
                <a:solidFill>
                  <a:srgbClr val="221E1F"/>
                </a:solidFill>
              </a:rPr>
              <a:t> × (1 + </a:t>
            </a:r>
            <a:r>
              <a:rPr lang="pt-BR" sz="2200" b="0" i="1" u="none" strike="noStrike" baseline="0" dirty="0">
                <a:solidFill>
                  <a:srgbClr val="221E1F"/>
                </a:solidFill>
              </a:rPr>
              <a:t>g</a:t>
            </a:r>
            <a:r>
              <a:rPr lang="pt-BR" sz="2200" b="0" i="0" u="none" strike="noStrike" baseline="0" dirty="0">
                <a:solidFill>
                  <a:srgbClr val="221E1F"/>
                </a:solidFill>
              </a:rPr>
              <a:t>)/(</a:t>
            </a:r>
            <a:r>
              <a:rPr lang="pt-BR" sz="2200" b="0" i="1" u="none" strike="noStrike" baseline="0" dirty="0">
                <a:solidFill>
                  <a:srgbClr val="221E1F"/>
                </a:solidFill>
              </a:rPr>
              <a:t>R </a:t>
            </a:r>
            <a:r>
              <a:rPr lang="pt-BR" sz="2200" b="0" i="0" u="none" strike="noStrike" baseline="0" dirty="0">
                <a:solidFill>
                  <a:srgbClr val="221E1F"/>
                </a:solidFill>
              </a:rPr>
              <a:t>− </a:t>
            </a:r>
            <a:r>
              <a:rPr lang="pt-BR" sz="2200" b="0" i="1" u="none" strike="noStrike" baseline="0" dirty="0">
                <a:solidFill>
                  <a:srgbClr val="221E1F"/>
                </a:solidFill>
              </a:rPr>
              <a:t>g</a:t>
            </a:r>
            <a:r>
              <a:rPr lang="pt-BR" sz="2200" b="0" i="0" u="none" strike="noStrike" baseline="0" dirty="0">
                <a:solidFill>
                  <a:srgbClr val="221E1F"/>
                </a:solidFill>
              </a:rPr>
              <a:t>) </a:t>
            </a:r>
          </a:p>
          <a:p>
            <a:pPr marL="685285" lvl="2" indent="277813" algn="just">
              <a:lnSpc>
                <a:spcPct val="90000"/>
              </a:lnSpc>
              <a:spcBef>
                <a:spcPts val="600"/>
              </a:spcBef>
              <a:buNone/>
            </a:pPr>
            <a:r>
              <a:rPr lang="pt-BR" sz="2200" b="0" i="0" u="none" strike="noStrike" baseline="0" dirty="0">
                <a:solidFill>
                  <a:srgbClr val="221E1F"/>
                </a:solidFill>
              </a:rPr>
              <a:t>= $2.30 × 1.05/(. 13 − . 05 ) </a:t>
            </a:r>
          </a:p>
          <a:p>
            <a:pPr marL="685285" lvl="2" indent="277813" algn="just">
              <a:lnSpc>
                <a:spcPct val="90000"/>
              </a:lnSpc>
              <a:spcBef>
                <a:spcPts val="600"/>
              </a:spcBef>
              <a:buNone/>
            </a:pPr>
            <a:r>
              <a:rPr lang="pt-BR" sz="2200" b="0" i="0" u="none" strike="noStrike" baseline="0" dirty="0">
                <a:solidFill>
                  <a:srgbClr val="221E1F"/>
                </a:solidFill>
              </a:rPr>
              <a:t>= $2.415 / .08</a:t>
            </a:r>
          </a:p>
          <a:p>
            <a:pPr marL="685285" lvl="2" indent="217488" algn="just">
              <a:lnSpc>
                <a:spcPct val="90000"/>
              </a:lnSpc>
              <a:spcBef>
                <a:spcPts val="600"/>
              </a:spcBef>
              <a:buNone/>
            </a:pPr>
            <a:r>
              <a:rPr lang="pt-BR" sz="2200" b="0" i="0" u="none" strike="noStrike" baseline="0" dirty="0">
                <a:solidFill>
                  <a:srgbClr val="221E1F"/>
                </a:solidFill>
              </a:rPr>
              <a:t> = </a:t>
            </a:r>
            <a:r>
              <a:rPr lang="pt-BR" sz="2200" b="1" i="0" u="none" strike="noStrike" baseline="0" dirty="0">
                <a:solidFill>
                  <a:schemeClr val="accent1">
                    <a:lumMod val="75000"/>
                  </a:schemeClr>
                </a:solidFill>
              </a:rPr>
              <a:t>$30.19 </a:t>
            </a:r>
          </a:p>
          <a:p>
            <a:pPr algn="just">
              <a:lnSpc>
                <a:spcPct val="90000"/>
              </a:lnSpc>
              <a:spcBef>
                <a:spcPts val="600"/>
              </a:spcBef>
            </a:pPr>
            <a:r>
              <a:rPr lang="en-US" sz="2300" b="0" i="0" u="none" strike="noStrike" baseline="0" dirty="0">
                <a:solidFill>
                  <a:srgbClr val="221E1F"/>
                </a:solidFill>
              </a:rPr>
              <a:t>Suppose we are interested in the price of the stock in five years, </a:t>
            </a:r>
            <a:r>
              <a:rPr lang="en-US" sz="2300" b="0" i="1" u="none" strike="noStrike" baseline="0" dirty="0">
                <a:solidFill>
                  <a:srgbClr val="221E1F"/>
                </a:solidFill>
              </a:rPr>
              <a:t>P</a:t>
            </a:r>
            <a:r>
              <a:rPr lang="en-US" sz="2300" b="0" i="0" u="none" strike="noStrike" baseline="-25000" dirty="0">
                <a:solidFill>
                  <a:srgbClr val="221E1F"/>
                </a:solidFill>
              </a:rPr>
              <a:t>5</a:t>
            </a:r>
            <a:r>
              <a:rPr lang="en-US" sz="2300" b="0" i="0" u="none" strike="noStrike" baseline="0" dirty="0">
                <a:solidFill>
                  <a:srgbClr val="221E1F"/>
                </a:solidFill>
              </a:rPr>
              <a:t>. We first need the dividend at Time 5, </a:t>
            </a:r>
            <a:r>
              <a:rPr lang="en-US" sz="2300" b="0" i="1" u="none" strike="noStrike" baseline="0" dirty="0">
                <a:solidFill>
                  <a:srgbClr val="221E1F"/>
                </a:solidFill>
              </a:rPr>
              <a:t>D</a:t>
            </a:r>
            <a:r>
              <a:rPr lang="en-US" sz="2300" b="0" i="0" u="none" strike="noStrike" baseline="-25000" dirty="0">
                <a:solidFill>
                  <a:srgbClr val="221E1F"/>
                </a:solidFill>
              </a:rPr>
              <a:t>5</a:t>
            </a:r>
            <a:r>
              <a:rPr lang="en-US" sz="2300" b="0" i="0" u="none" strike="noStrike" baseline="0" dirty="0">
                <a:solidFill>
                  <a:srgbClr val="221E1F"/>
                </a:solidFill>
              </a:rPr>
              <a:t>. Because the dividend just paid is $2.30 and the growth rate is 5% per year, </a:t>
            </a:r>
            <a:r>
              <a:rPr lang="en-US" sz="2300" b="0" i="1" u="none" strike="noStrike" baseline="0" dirty="0">
                <a:solidFill>
                  <a:srgbClr val="221E1F"/>
                </a:solidFill>
              </a:rPr>
              <a:t>D</a:t>
            </a:r>
            <a:r>
              <a:rPr lang="en-US" sz="2300" b="0" i="0" u="none" strike="noStrike" baseline="-25000" dirty="0">
                <a:solidFill>
                  <a:srgbClr val="221E1F"/>
                </a:solidFill>
              </a:rPr>
              <a:t>5</a:t>
            </a:r>
            <a:r>
              <a:rPr lang="en-US" sz="2300" b="0" i="0" u="none" strike="noStrike" baseline="0" dirty="0">
                <a:solidFill>
                  <a:srgbClr val="221E1F"/>
                </a:solidFill>
              </a:rPr>
              <a:t> is: </a:t>
            </a:r>
          </a:p>
          <a:p>
            <a:pPr marL="686200" lvl="2" indent="0" algn="just">
              <a:lnSpc>
                <a:spcPct val="90000"/>
              </a:lnSpc>
              <a:spcBef>
                <a:spcPts val="600"/>
              </a:spcBef>
              <a:buNone/>
            </a:pPr>
            <a:r>
              <a:rPr lang="en-US" sz="2200" b="0" u="none" strike="noStrike" baseline="0" dirty="0">
                <a:solidFill>
                  <a:srgbClr val="221E1F"/>
                </a:solidFill>
              </a:rPr>
              <a:t>D</a:t>
            </a:r>
            <a:r>
              <a:rPr lang="en-US" sz="2200" b="0" u="none" strike="noStrike" baseline="-25000" dirty="0">
                <a:solidFill>
                  <a:srgbClr val="221E1F"/>
                </a:solidFill>
              </a:rPr>
              <a:t>5</a:t>
            </a:r>
            <a:r>
              <a:rPr lang="en-US" sz="2200" b="0" u="none" strike="noStrike" baseline="0" dirty="0">
                <a:solidFill>
                  <a:srgbClr val="221E1F"/>
                </a:solidFill>
              </a:rPr>
              <a:t> = $2.30 × 1.05</a:t>
            </a:r>
            <a:r>
              <a:rPr lang="en-US" sz="2200" b="0" u="none" strike="noStrike" baseline="30000" dirty="0">
                <a:solidFill>
                  <a:srgbClr val="221E1F"/>
                </a:solidFill>
              </a:rPr>
              <a:t>5</a:t>
            </a:r>
            <a:r>
              <a:rPr lang="en-US" sz="2200" b="0" u="none" strike="noStrike" baseline="0" dirty="0">
                <a:solidFill>
                  <a:srgbClr val="221E1F"/>
                </a:solidFill>
              </a:rPr>
              <a:t> = $2.30 × 1.2763 = </a:t>
            </a:r>
            <a:r>
              <a:rPr lang="en-US" sz="2200" b="1" u="none" strike="noStrike" baseline="0" dirty="0">
                <a:solidFill>
                  <a:schemeClr val="accent1">
                    <a:lumMod val="75000"/>
                  </a:schemeClr>
                </a:solidFill>
              </a:rPr>
              <a:t>$2.935 </a:t>
            </a:r>
          </a:p>
          <a:p>
            <a:pPr algn="just">
              <a:lnSpc>
                <a:spcPct val="90000"/>
              </a:lnSpc>
              <a:spcBef>
                <a:spcPts val="600"/>
              </a:spcBef>
            </a:pPr>
            <a:r>
              <a:rPr lang="en-US" sz="2300" b="0" i="0" u="none" strike="noStrike" baseline="0" dirty="0">
                <a:solidFill>
                  <a:srgbClr val="221E1F"/>
                </a:solidFill>
              </a:rPr>
              <a:t>The price of the stock in five years is: </a:t>
            </a:r>
            <a:endParaRPr lang="en-US" altLang="en-US" sz="2300" dirty="0"/>
          </a:p>
        </p:txBody>
      </p:sp>
      <p:sp>
        <p:nvSpPr>
          <p:cNvPr id="2" name="Footer Placeholder 1">
            <a:extLst>
              <a:ext uri="{FF2B5EF4-FFF2-40B4-BE49-F238E27FC236}">
                <a16:creationId xmlns:a16="http://schemas.microsoft.com/office/drawing/2014/main" id="{4832315A-A04E-4C36-B279-671FAAF97405}"/>
              </a:ext>
            </a:extLst>
          </p:cNvPr>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Copyright © 2022 McGraw Hill. All rights reserved. No reproduction or distribution without the prior written consent of McGraw Hill.</a:t>
            </a:r>
          </a:p>
        </p:txBody>
      </p:sp>
      <p:sp>
        <p:nvSpPr>
          <p:cNvPr id="8194" name="Rectangle 2">
            <a:extLst>
              <a:ext uri="{FF2B5EF4-FFF2-40B4-BE49-F238E27FC236}">
                <a16:creationId xmlns:a16="http://schemas.microsoft.com/office/drawing/2014/main" id="{7BCF8C48-AD02-43D2-BD54-306710C0F48D}"/>
              </a:ext>
            </a:extLst>
          </p:cNvPr>
          <p:cNvSpPr>
            <a:spLocks noGrp="1" noChangeArrowheads="1"/>
          </p:cNvSpPr>
          <p:nvPr>
            <p:ph type="title"/>
          </p:nvPr>
        </p:nvSpPr>
        <p:spPr/>
        <p:txBody>
          <a:bodyPr/>
          <a:lstStyle/>
          <a:p>
            <a:pPr eaLnBrk="1" hangingPunct="1">
              <a:defRPr/>
            </a:pPr>
            <a:r>
              <a:rPr lang="en-US" altLang="en-US" sz="3600" dirty="0"/>
              <a:t>Constant growth </a:t>
            </a:r>
            <a:br>
              <a:rPr lang="en-US" altLang="en-US" sz="3600" dirty="0"/>
            </a:br>
            <a:r>
              <a:rPr lang="en-US" altLang="en-US" sz="3600" dirty="0"/>
              <a:t>(concluded)</a:t>
            </a:r>
          </a:p>
        </p:txBody>
      </p:sp>
      <p:pic>
        <p:nvPicPr>
          <p:cNvPr id="4" name="Picture 3">
            <a:extLst>
              <a:ext uri="{FF2B5EF4-FFF2-40B4-BE49-F238E27FC236}">
                <a16:creationId xmlns:a16="http://schemas.microsoft.com/office/drawing/2014/main" id="{A158B75A-8731-405E-8C55-44D6FA5CAE96}"/>
              </a:ext>
            </a:extLst>
          </p:cNvPr>
          <p:cNvPicPr>
            <a:picLocks noChangeAspect="1"/>
          </p:cNvPicPr>
          <p:nvPr/>
        </p:nvPicPr>
        <p:blipFill>
          <a:blip r:embed="rId3"/>
          <a:stretch>
            <a:fillRect/>
          </a:stretch>
        </p:blipFill>
        <p:spPr>
          <a:xfrm>
            <a:off x="1413469" y="5638800"/>
            <a:ext cx="6564005" cy="795277"/>
          </a:xfrm>
          <a:prstGeom prst="rect">
            <a:avLst/>
          </a:prstGeom>
          <a:ln>
            <a:solidFill>
              <a:schemeClr val="accent1"/>
            </a:solidFill>
          </a:ln>
        </p:spPr>
      </p:pic>
    </p:spTree>
    <p:extLst>
      <p:ext uri="{BB962C8B-B14F-4D97-AF65-F5344CB8AC3E}">
        <p14:creationId xmlns:p14="http://schemas.microsoft.com/office/powerpoint/2010/main" val="30289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62EEF80-7483-9D7E-329E-CDA31E70F355}"/>
              </a:ext>
            </a:extLst>
          </p:cNvPr>
          <p:cNvPicPr>
            <a:picLocks noGrp="1" noChangeAspect="1"/>
          </p:cNvPicPr>
          <p:nvPr>
            <p:ph idx="1"/>
          </p:nvPr>
        </p:nvPicPr>
        <p:blipFill>
          <a:blip r:embed="rId2"/>
          <a:stretch>
            <a:fillRect/>
          </a:stretch>
        </p:blipFill>
        <p:spPr>
          <a:xfrm>
            <a:off x="977900" y="2890837"/>
            <a:ext cx="8013700" cy="2095500"/>
          </a:xfrm>
          <a:prstGeom prst="rect">
            <a:avLst/>
          </a:prstGeom>
        </p:spPr>
      </p:pic>
      <p:sp>
        <p:nvSpPr>
          <p:cNvPr id="3" name="Footer Placeholder 2">
            <a:extLst>
              <a:ext uri="{FF2B5EF4-FFF2-40B4-BE49-F238E27FC236}">
                <a16:creationId xmlns:a16="http://schemas.microsoft.com/office/drawing/2014/main" id="{30DA3400-20BD-B8D1-4CBA-AAAD6342E71C}"/>
              </a:ext>
            </a:extLst>
          </p:cNvPr>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1"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Copyright © 2022 McGraw Hill. All rights reserved. No reproduction or distribution without the prior written consent of McGraw Hill.</a:t>
            </a:r>
            <a:endParaRPr kumimoji="0" lang="en-US" sz="900" b="1"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 name="Title 3">
            <a:extLst>
              <a:ext uri="{FF2B5EF4-FFF2-40B4-BE49-F238E27FC236}">
                <a16:creationId xmlns:a16="http://schemas.microsoft.com/office/drawing/2014/main" id="{0BE2AD63-131D-C1CA-DA6A-82D7E2FF4C70}"/>
              </a:ext>
            </a:extLst>
          </p:cNvPr>
          <p:cNvSpPr>
            <a:spLocks noGrp="1"/>
          </p:cNvSpPr>
          <p:nvPr>
            <p:ph type="title"/>
          </p:nvPr>
        </p:nvSpPr>
        <p:spPr/>
        <p:txBody>
          <a:bodyPr/>
          <a:lstStyle/>
          <a:p>
            <a:endParaRPr lang="en-VN"/>
          </a:p>
        </p:txBody>
      </p:sp>
    </p:spTree>
    <p:extLst>
      <p:ext uri="{BB962C8B-B14F-4D97-AF65-F5344CB8AC3E}">
        <p14:creationId xmlns:p14="http://schemas.microsoft.com/office/powerpoint/2010/main" val="4114589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7859E5E7-3530-42FB-A49C-AFFBB5834908}"/>
              </a:ext>
            </a:extLst>
          </p:cNvPr>
          <p:cNvSpPr>
            <a:spLocks noGrp="1" noChangeArrowheads="1"/>
          </p:cNvSpPr>
          <p:nvPr>
            <p:ph idx="1"/>
          </p:nvPr>
        </p:nvSpPr>
        <p:spPr>
          <a:xfrm>
            <a:off x="584906" y="1491033"/>
            <a:ext cx="8431036" cy="4993290"/>
          </a:xfrm>
        </p:spPr>
        <p:txBody>
          <a:bodyPr/>
          <a:lstStyle/>
          <a:p>
            <a:pPr algn="just">
              <a:lnSpc>
                <a:spcPct val="90000"/>
              </a:lnSpc>
              <a:spcBef>
                <a:spcPts val="600"/>
              </a:spcBef>
            </a:pPr>
            <a:r>
              <a:rPr lang="en-US" sz="2200" b="0" i="0" u="none" strike="noStrike" baseline="0" dirty="0">
                <a:solidFill>
                  <a:srgbClr val="221E1F"/>
                </a:solidFill>
              </a:rPr>
              <a:t>Suppose you have come up with the following dividend forecasts for the next three years. After the third year, the dividend will grow at a constant rate of 5% per year. The required return is 10%. What is the value of the stock today?</a:t>
            </a:r>
          </a:p>
          <a:p>
            <a:pPr algn="just">
              <a:lnSpc>
                <a:spcPct val="90000"/>
              </a:lnSpc>
              <a:spcBef>
                <a:spcPts val="600"/>
              </a:spcBef>
            </a:pPr>
            <a:endParaRPr lang="en-US" sz="2200" dirty="0">
              <a:solidFill>
                <a:srgbClr val="221E1F"/>
              </a:solidFill>
            </a:endParaRPr>
          </a:p>
          <a:p>
            <a:pPr algn="just">
              <a:lnSpc>
                <a:spcPct val="90000"/>
              </a:lnSpc>
              <a:spcBef>
                <a:spcPts val="600"/>
              </a:spcBef>
            </a:pPr>
            <a:endParaRPr lang="en-US" sz="2200" b="0" i="0" u="none" strike="noStrike" baseline="0" dirty="0">
              <a:solidFill>
                <a:srgbClr val="221E1F"/>
              </a:solidFill>
            </a:endParaRPr>
          </a:p>
          <a:p>
            <a:pPr algn="just">
              <a:lnSpc>
                <a:spcPct val="90000"/>
              </a:lnSpc>
              <a:spcBef>
                <a:spcPts val="600"/>
              </a:spcBef>
            </a:pPr>
            <a:endParaRPr lang="en-US" sz="2200" dirty="0">
              <a:solidFill>
                <a:srgbClr val="221E1F"/>
              </a:solidFill>
            </a:endParaRPr>
          </a:p>
          <a:p>
            <a:pPr marL="114664" indent="0" algn="just">
              <a:lnSpc>
                <a:spcPct val="90000"/>
              </a:lnSpc>
              <a:spcBef>
                <a:spcPts val="600"/>
              </a:spcBef>
              <a:buNone/>
            </a:pPr>
            <a:endParaRPr lang="en-US" sz="2200" dirty="0">
              <a:solidFill>
                <a:srgbClr val="221E1F"/>
              </a:solidFill>
            </a:endParaRPr>
          </a:p>
          <a:p>
            <a:pPr algn="just">
              <a:lnSpc>
                <a:spcPct val="90000"/>
              </a:lnSpc>
              <a:spcBef>
                <a:spcPts val="600"/>
              </a:spcBef>
            </a:pPr>
            <a:r>
              <a:rPr lang="en-US" sz="2200" b="0" i="0" u="none" strike="noStrike" baseline="0" dirty="0">
                <a:solidFill>
                  <a:srgbClr val="221E1F"/>
                </a:solidFill>
              </a:rPr>
              <a:t>In dealing with nonconstant growth, a time line can be helpful  </a:t>
            </a:r>
            <a:endParaRPr lang="en-US" altLang="en-US" sz="2200" b="1" dirty="0">
              <a:solidFill>
                <a:schemeClr val="accent1">
                  <a:lumMod val="75000"/>
                </a:schemeClr>
              </a:solidFill>
            </a:endParaRPr>
          </a:p>
        </p:txBody>
      </p:sp>
      <p:sp>
        <p:nvSpPr>
          <p:cNvPr id="8194" name="Rectangle 2">
            <a:extLst>
              <a:ext uri="{FF2B5EF4-FFF2-40B4-BE49-F238E27FC236}">
                <a16:creationId xmlns:a16="http://schemas.microsoft.com/office/drawing/2014/main" id="{7BCF8C48-AD02-43D2-BD54-306710C0F48D}"/>
              </a:ext>
            </a:extLst>
          </p:cNvPr>
          <p:cNvSpPr>
            <a:spLocks noGrp="1" noChangeArrowheads="1"/>
          </p:cNvSpPr>
          <p:nvPr>
            <p:ph type="title"/>
          </p:nvPr>
        </p:nvSpPr>
        <p:spPr/>
        <p:txBody>
          <a:bodyPr/>
          <a:lstStyle/>
          <a:p>
            <a:pPr eaLnBrk="1" hangingPunct="1">
              <a:defRPr/>
            </a:pPr>
            <a:r>
              <a:rPr lang="en-US" altLang="en-US" sz="3600" dirty="0"/>
              <a:t>Nonconstant GROWTH </a:t>
            </a:r>
            <a:br>
              <a:rPr lang="en-US" altLang="en-US" sz="3600" dirty="0"/>
            </a:br>
            <a:r>
              <a:rPr lang="en-US" altLang="en-US" sz="3600" dirty="0"/>
              <a:t>(continued)</a:t>
            </a:r>
          </a:p>
        </p:txBody>
      </p:sp>
      <p:pic>
        <p:nvPicPr>
          <p:cNvPr id="4" name="Picture 3">
            <a:extLst>
              <a:ext uri="{FF2B5EF4-FFF2-40B4-BE49-F238E27FC236}">
                <a16:creationId xmlns:a16="http://schemas.microsoft.com/office/drawing/2014/main" id="{46C6F903-4FA9-4423-9613-AEBFE6E4740C}"/>
              </a:ext>
            </a:extLst>
          </p:cNvPr>
          <p:cNvPicPr>
            <a:picLocks noChangeAspect="1"/>
          </p:cNvPicPr>
          <p:nvPr/>
        </p:nvPicPr>
        <p:blipFill>
          <a:blip r:embed="rId3"/>
          <a:stretch>
            <a:fillRect/>
          </a:stretch>
        </p:blipFill>
        <p:spPr>
          <a:xfrm>
            <a:off x="2514512" y="2819400"/>
            <a:ext cx="4114976" cy="1418197"/>
          </a:xfrm>
          <a:prstGeom prst="rect">
            <a:avLst/>
          </a:prstGeom>
        </p:spPr>
      </p:pic>
      <p:pic>
        <p:nvPicPr>
          <p:cNvPr id="6" name="Picture 5">
            <a:extLst>
              <a:ext uri="{FF2B5EF4-FFF2-40B4-BE49-F238E27FC236}">
                <a16:creationId xmlns:a16="http://schemas.microsoft.com/office/drawing/2014/main" id="{BBC7DCC1-7F66-4310-8A15-F7E8A715B039}"/>
              </a:ext>
            </a:extLst>
          </p:cNvPr>
          <p:cNvPicPr>
            <a:picLocks noChangeAspect="1"/>
          </p:cNvPicPr>
          <p:nvPr/>
        </p:nvPicPr>
        <p:blipFill>
          <a:blip r:embed="rId4"/>
          <a:stretch>
            <a:fillRect/>
          </a:stretch>
        </p:blipFill>
        <p:spPr>
          <a:xfrm>
            <a:off x="1723849" y="4780151"/>
            <a:ext cx="6153150" cy="1571625"/>
          </a:xfrm>
          <a:prstGeom prst="rect">
            <a:avLst/>
          </a:prstGeom>
        </p:spPr>
      </p:pic>
    </p:spTree>
    <p:extLst>
      <p:ext uri="{BB962C8B-B14F-4D97-AF65-F5344CB8AC3E}">
        <p14:creationId xmlns:p14="http://schemas.microsoft.com/office/powerpoint/2010/main" val="77955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7859E5E7-3530-42FB-A49C-AFFBB5834908}"/>
              </a:ext>
            </a:extLst>
          </p:cNvPr>
          <p:cNvSpPr>
            <a:spLocks noGrp="1" noChangeArrowheads="1"/>
          </p:cNvSpPr>
          <p:nvPr>
            <p:ph idx="1"/>
          </p:nvPr>
        </p:nvSpPr>
        <p:spPr>
          <a:xfrm>
            <a:off x="584906" y="1491033"/>
            <a:ext cx="8431036" cy="4993290"/>
          </a:xfrm>
        </p:spPr>
        <p:txBody>
          <a:bodyPr/>
          <a:lstStyle/>
          <a:p>
            <a:pPr algn="just">
              <a:lnSpc>
                <a:spcPct val="90000"/>
              </a:lnSpc>
              <a:spcBef>
                <a:spcPts val="600"/>
              </a:spcBef>
            </a:pPr>
            <a:r>
              <a:rPr lang="en-US" sz="2300" b="0" i="0" u="none" strike="noStrike" baseline="0" dirty="0">
                <a:solidFill>
                  <a:srgbClr val="221E1F"/>
                </a:solidFill>
              </a:rPr>
              <a:t>Value of the stock is the present value of all the future dividends: </a:t>
            </a:r>
            <a:endParaRPr lang="en-US" sz="2300" dirty="0">
              <a:solidFill>
                <a:srgbClr val="221E1F"/>
              </a:solidFill>
            </a:endParaRPr>
          </a:p>
          <a:p>
            <a:pPr marL="869278" lvl="1" indent="-457200" algn="just">
              <a:lnSpc>
                <a:spcPct val="90000"/>
              </a:lnSpc>
              <a:spcBef>
                <a:spcPts val="600"/>
              </a:spcBef>
              <a:buFont typeface="+mj-lt"/>
              <a:buAutoNum type="arabicPeriod"/>
            </a:pPr>
            <a:r>
              <a:rPr lang="en-US" sz="2100" b="0" i="0" u="none" strike="noStrike" baseline="0" dirty="0">
                <a:solidFill>
                  <a:srgbClr val="221E1F"/>
                </a:solidFill>
              </a:rPr>
              <a:t>Compute the PV of the stock price three years down the road </a:t>
            </a:r>
          </a:p>
          <a:p>
            <a:pPr marL="869278" lvl="1" indent="-457200" algn="just">
              <a:lnSpc>
                <a:spcPct val="90000"/>
              </a:lnSpc>
              <a:spcBef>
                <a:spcPts val="600"/>
              </a:spcBef>
              <a:buFont typeface="+mj-lt"/>
              <a:buAutoNum type="arabicPeriod"/>
            </a:pPr>
            <a:endParaRPr lang="en-US" sz="2100" dirty="0">
              <a:solidFill>
                <a:srgbClr val="221E1F"/>
              </a:solidFill>
            </a:endParaRPr>
          </a:p>
          <a:p>
            <a:pPr marL="869278" lvl="1" indent="-457200" algn="just">
              <a:lnSpc>
                <a:spcPct val="90000"/>
              </a:lnSpc>
              <a:spcBef>
                <a:spcPts val="600"/>
              </a:spcBef>
              <a:buFont typeface="+mj-lt"/>
              <a:buAutoNum type="arabicPeriod"/>
            </a:pPr>
            <a:endParaRPr lang="en-US" sz="2100" b="0" i="0" u="none" strike="noStrike" baseline="0" dirty="0">
              <a:solidFill>
                <a:srgbClr val="221E1F"/>
              </a:solidFill>
            </a:endParaRPr>
          </a:p>
          <a:p>
            <a:pPr marL="869278" lvl="1" indent="-457200" algn="just">
              <a:lnSpc>
                <a:spcPct val="90000"/>
              </a:lnSpc>
              <a:spcBef>
                <a:spcPts val="600"/>
              </a:spcBef>
              <a:buFont typeface="+mj-lt"/>
              <a:buAutoNum type="arabicPeriod"/>
            </a:pPr>
            <a:endParaRPr lang="en-US" sz="2100" dirty="0">
              <a:solidFill>
                <a:srgbClr val="221E1F"/>
              </a:solidFill>
            </a:endParaRPr>
          </a:p>
          <a:p>
            <a:pPr marL="869278" lvl="1" indent="-457200" algn="just">
              <a:lnSpc>
                <a:spcPct val="90000"/>
              </a:lnSpc>
              <a:spcBef>
                <a:spcPts val="600"/>
              </a:spcBef>
              <a:buFont typeface="+mj-lt"/>
              <a:buAutoNum type="arabicPeriod"/>
            </a:pPr>
            <a:endParaRPr lang="en-US" sz="2100" b="0" i="0" u="none" strike="noStrike" baseline="0" dirty="0">
              <a:solidFill>
                <a:srgbClr val="221E1F"/>
              </a:solidFill>
            </a:endParaRPr>
          </a:p>
          <a:p>
            <a:pPr marL="869278" lvl="1" indent="-457200" algn="just">
              <a:lnSpc>
                <a:spcPct val="90000"/>
              </a:lnSpc>
              <a:spcBef>
                <a:spcPts val="600"/>
              </a:spcBef>
              <a:buFont typeface="+mj-lt"/>
              <a:buAutoNum type="arabicPeriod"/>
            </a:pPr>
            <a:r>
              <a:rPr lang="en-US" sz="2100" dirty="0">
                <a:solidFill>
                  <a:srgbClr val="221E1F"/>
                </a:solidFill>
              </a:rPr>
              <a:t>A</a:t>
            </a:r>
            <a:r>
              <a:rPr lang="en-US" sz="2100" b="0" i="0" u="none" strike="noStrike" baseline="0" dirty="0">
                <a:solidFill>
                  <a:srgbClr val="221E1F"/>
                </a:solidFill>
              </a:rPr>
              <a:t>dd in the PV of dividends that will be paid between now and then</a:t>
            </a:r>
            <a:endParaRPr lang="en-US" sz="2700" dirty="0">
              <a:solidFill>
                <a:srgbClr val="221E1F"/>
              </a:solidFill>
            </a:endParaRPr>
          </a:p>
        </p:txBody>
      </p:sp>
      <p:sp>
        <p:nvSpPr>
          <p:cNvPr id="8194" name="Rectangle 2">
            <a:extLst>
              <a:ext uri="{FF2B5EF4-FFF2-40B4-BE49-F238E27FC236}">
                <a16:creationId xmlns:a16="http://schemas.microsoft.com/office/drawing/2014/main" id="{7BCF8C48-AD02-43D2-BD54-306710C0F48D}"/>
              </a:ext>
            </a:extLst>
          </p:cNvPr>
          <p:cNvSpPr>
            <a:spLocks noGrp="1" noChangeArrowheads="1"/>
          </p:cNvSpPr>
          <p:nvPr>
            <p:ph type="title"/>
          </p:nvPr>
        </p:nvSpPr>
        <p:spPr/>
        <p:txBody>
          <a:bodyPr/>
          <a:lstStyle/>
          <a:p>
            <a:pPr eaLnBrk="1" hangingPunct="1">
              <a:defRPr/>
            </a:pPr>
            <a:r>
              <a:rPr lang="en-US" altLang="en-US" sz="3600" dirty="0"/>
              <a:t>Nonconstant GROWTH </a:t>
            </a:r>
            <a:br>
              <a:rPr lang="en-US" altLang="en-US" sz="3600" dirty="0"/>
            </a:br>
            <a:r>
              <a:rPr lang="en-US" altLang="en-US" sz="3600" dirty="0"/>
              <a:t>(Concluded)</a:t>
            </a:r>
          </a:p>
        </p:txBody>
      </p:sp>
      <p:pic>
        <p:nvPicPr>
          <p:cNvPr id="5" name="Picture 4">
            <a:extLst>
              <a:ext uri="{FF2B5EF4-FFF2-40B4-BE49-F238E27FC236}">
                <a16:creationId xmlns:a16="http://schemas.microsoft.com/office/drawing/2014/main" id="{C5461EE9-7564-4029-AB5A-53A204EA6509}"/>
              </a:ext>
            </a:extLst>
          </p:cNvPr>
          <p:cNvPicPr>
            <a:picLocks noChangeAspect="1"/>
          </p:cNvPicPr>
          <p:nvPr/>
        </p:nvPicPr>
        <p:blipFill>
          <a:blip r:embed="rId3"/>
          <a:stretch>
            <a:fillRect/>
          </a:stretch>
        </p:blipFill>
        <p:spPr>
          <a:xfrm>
            <a:off x="2945262" y="2320439"/>
            <a:ext cx="3253475" cy="1117355"/>
          </a:xfrm>
          <a:prstGeom prst="rect">
            <a:avLst/>
          </a:prstGeom>
          <a:ln>
            <a:solidFill>
              <a:schemeClr val="accent1"/>
            </a:solidFill>
          </a:ln>
        </p:spPr>
      </p:pic>
      <p:pic>
        <p:nvPicPr>
          <p:cNvPr id="8" name="Picture 7">
            <a:extLst>
              <a:ext uri="{FF2B5EF4-FFF2-40B4-BE49-F238E27FC236}">
                <a16:creationId xmlns:a16="http://schemas.microsoft.com/office/drawing/2014/main" id="{E54698C4-08B4-4E80-9063-15EBADB3955F}"/>
              </a:ext>
            </a:extLst>
          </p:cNvPr>
          <p:cNvPicPr>
            <a:picLocks noChangeAspect="1"/>
          </p:cNvPicPr>
          <p:nvPr/>
        </p:nvPicPr>
        <p:blipFill>
          <a:blip r:embed="rId4"/>
          <a:stretch>
            <a:fillRect/>
          </a:stretch>
        </p:blipFill>
        <p:spPr>
          <a:xfrm>
            <a:off x="2552524" y="4267200"/>
            <a:ext cx="4495800" cy="1885950"/>
          </a:xfrm>
          <a:prstGeom prst="rect">
            <a:avLst/>
          </a:prstGeom>
          <a:ln>
            <a:solidFill>
              <a:schemeClr val="accent1"/>
            </a:solidFill>
          </a:ln>
        </p:spPr>
      </p:pic>
    </p:spTree>
    <p:extLst>
      <p:ext uri="{BB962C8B-B14F-4D97-AF65-F5344CB8AC3E}">
        <p14:creationId xmlns:p14="http://schemas.microsoft.com/office/powerpoint/2010/main" val="24804702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636588" y="1859959"/>
            <a:ext cx="8116887" cy="4157257"/>
          </a:xfrm>
          <a:prstGeom prst="rect">
            <a:avLst/>
          </a:prstGeom>
        </p:spPr>
      </p:pic>
      <p:sp>
        <p:nvSpPr>
          <p:cNvPr id="4" name="Title 3"/>
          <p:cNvSpPr>
            <a:spLocks noGrp="1"/>
          </p:cNvSpPr>
          <p:nvPr>
            <p:ph type="title"/>
          </p:nvPr>
        </p:nvSpPr>
        <p:spPr/>
        <p:txBody>
          <a:bodyPr/>
          <a:lstStyle/>
          <a:p>
            <a:endParaRPr lang="en-US"/>
          </a:p>
        </p:txBody>
      </p:sp>
    </p:spTree>
    <p:extLst>
      <p:ext uri="{BB962C8B-B14F-4D97-AF65-F5344CB8AC3E}">
        <p14:creationId xmlns:p14="http://schemas.microsoft.com/office/powerpoint/2010/main" val="6554327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93AD0A8-8797-E6D2-A175-ABACBA3A0B9E}"/>
              </a:ext>
            </a:extLst>
          </p:cNvPr>
          <p:cNvPicPr>
            <a:picLocks noGrp="1" noChangeAspect="1"/>
          </p:cNvPicPr>
          <p:nvPr>
            <p:ph idx="1"/>
          </p:nvPr>
        </p:nvPicPr>
        <p:blipFill>
          <a:blip r:embed="rId2"/>
          <a:stretch>
            <a:fillRect/>
          </a:stretch>
        </p:blipFill>
        <p:spPr>
          <a:xfrm>
            <a:off x="636588" y="3322910"/>
            <a:ext cx="8116887" cy="1231354"/>
          </a:xfrm>
          <a:prstGeom prst="rect">
            <a:avLst/>
          </a:prstGeom>
        </p:spPr>
      </p:pic>
      <p:sp>
        <p:nvSpPr>
          <p:cNvPr id="4" name="Title 3">
            <a:extLst>
              <a:ext uri="{FF2B5EF4-FFF2-40B4-BE49-F238E27FC236}">
                <a16:creationId xmlns:a16="http://schemas.microsoft.com/office/drawing/2014/main" id="{ACDA7929-7B3C-E85B-CB7B-7274064F68A2}"/>
              </a:ext>
            </a:extLst>
          </p:cNvPr>
          <p:cNvSpPr>
            <a:spLocks noGrp="1"/>
          </p:cNvSpPr>
          <p:nvPr>
            <p:ph type="title"/>
          </p:nvPr>
        </p:nvSpPr>
        <p:spPr/>
        <p:txBody>
          <a:bodyPr/>
          <a:lstStyle/>
          <a:p>
            <a:endParaRPr lang="en-VN"/>
          </a:p>
        </p:txBody>
      </p:sp>
    </p:spTree>
    <p:extLst>
      <p:ext uri="{BB962C8B-B14F-4D97-AF65-F5344CB8AC3E}">
        <p14:creationId xmlns:p14="http://schemas.microsoft.com/office/powerpoint/2010/main" val="21680522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1A83D-97A3-89FD-2D75-A6BCDE015F0E}"/>
            </a:ext>
          </a:extLst>
        </p:cNvPr>
        <p:cNvGrpSpPr/>
        <p:nvPr/>
      </p:nvGrpSpPr>
      <p:grpSpPr>
        <a:xfrm>
          <a:off x="0" y="0"/>
          <a:ext cx="0" cy="0"/>
          <a:chOff x="0" y="0"/>
          <a:chExt cx="0" cy="0"/>
        </a:xfrm>
      </p:grpSpPr>
      <p:sp>
        <p:nvSpPr>
          <p:cNvPr id="17411" name="Rectangle 3">
            <a:extLst>
              <a:ext uri="{FF2B5EF4-FFF2-40B4-BE49-F238E27FC236}">
                <a16:creationId xmlns:a16="http://schemas.microsoft.com/office/drawing/2014/main" id="{34A5B57A-18CB-7A26-8988-D82F7C63E174}"/>
              </a:ext>
            </a:extLst>
          </p:cNvPr>
          <p:cNvSpPr>
            <a:spLocks noGrp="1" noChangeArrowheads="1"/>
          </p:cNvSpPr>
          <p:nvPr>
            <p:ph idx="1"/>
          </p:nvPr>
        </p:nvSpPr>
        <p:spPr>
          <a:xfrm>
            <a:off x="584906" y="1447800"/>
            <a:ext cx="8431036" cy="4993290"/>
          </a:xfrm>
        </p:spPr>
        <p:txBody>
          <a:bodyPr/>
          <a:lstStyle/>
          <a:p>
            <a:pPr algn="just">
              <a:lnSpc>
                <a:spcPct val="90000"/>
              </a:lnSpc>
              <a:spcBef>
                <a:spcPts val="550"/>
              </a:spcBef>
            </a:pPr>
            <a:r>
              <a:rPr lang="en-US" sz="2200" dirty="0"/>
              <a:t>While discounted cash flow analysis attempts to calculate the intrinsic value of a company, relative valuation attempts to value a company by comparing it to similar companies or the overall market or the stock’s own trading history. DCF is often described as the best way to determine absolute value while relative valuation describes what others seem willing to pay.</a:t>
            </a:r>
          </a:p>
          <a:p>
            <a:pPr algn="just">
              <a:lnSpc>
                <a:spcPct val="90000"/>
              </a:lnSpc>
              <a:spcBef>
                <a:spcPts val="550"/>
              </a:spcBef>
            </a:pPr>
            <a:r>
              <a:rPr lang="en-US" sz="2200" dirty="0"/>
              <a:t>When analysts use multiples, they are typically used in one of the following ways:</a:t>
            </a:r>
          </a:p>
          <a:p>
            <a:pPr algn="just">
              <a:lnSpc>
                <a:spcPct val="90000"/>
              </a:lnSpc>
              <a:spcBef>
                <a:spcPts val="550"/>
              </a:spcBef>
              <a:buFont typeface="Wingdings" panose="05000000000000000000" pitchFamily="2" charset="2"/>
              <a:buChar char="Ø"/>
            </a:pPr>
            <a:r>
              <a:rPr lang="en-US" sz="2200" dirty="0"/>
              <a:t>1. Comparing multiples to comparable companies.</a:t>
            </a:r>
          </a:p>
          <a:p>
            <a:pPr algn="just">
              <a:lnSpc>
                <a:spcPct val="90000"/>
              </a:lnSpc>
              <a:spcBef>
                <a:spcPts val="550"/>
              </a:spcBef>
              <a:buFont typeface="Wingdings" panose="05000000000000000000" pitchFamily="2" charset="2"/>
              <a:buChar char="Ø"/>
            </a:pPr>
            <a:r>
              <a:rPr lang="en-US" sz="2200" dirty="0"/>
              <a:t>2. Comparing a stock multiple to the market multiple.</a:t>
            </a:r>
          </a:p>
          <a:p>
            <a:pPr algn="just">
              <a:lnSpc>
                <a:spcPct val="90000"/>
              </a:lnSpc>
              <a:spcBef>
                <a:spcPts val="550"/>
              </a:spcBef>
              <a:buFont typeface="Wingdings" panose="05000000000000000000" pitchFamily="2" charset="2"/>
              <a:buChar char="Ø"/>
            </a:pPr>
            <a:r>
              <a:rPr lang="en-US" sz="2200" dirty="0"/>
              <a:t>3. Comparing a stock’s multiple to its historic multiple.</a:t>
            </a:r>
          </a:p>
          <a:p>
            <a:pPr algn="just">
              <a:lnSpc>
                <a:spcPct val="90000"/>
              </a:lnSpc>
              <a:spcBef>
                <a:spcPts val="550"/>
              </a:spcBef>
              <a:buFont typeface="Wingdings" panose="05000000000000000000" pitchFamily="2" charset="2"/>
              <a:buChar char="Ø"/>
            </a:pPr>
            <a:r>
              <a:rPr lang="en-US" sz="2200" dirty="0"/>
              <a:t>4. Comparing a stock’s multiple to recent transactions</a:t>
            </a:r>
          </a:p>
          <a:p>
            <a:pPr algn="just">
              <a:lnSpc>
                <a:spcPct val="90000"/>
              </a:lnSpc>
              <a:spcBef>
                <a:spcPts val="550"/>
              </a:spcBef>
            </a:pPr>
            <a:endParaRPr lang="en-US" sz="2100" dirty="0">
              <a:solidFill>
                <a:srgbClr val="221E1F"/>
              </a:solidFill>
            </a:endParaRPr>
          </a:p>
        </p:txBody>
      </p:sp>
      <p:sp>
        <p:nvSpPr>
          <p:cNvPr id="8194" name="Rectangle 2">
            <a:extLst>
              <a:ext uri="{FF2B5EF4-FFF2-40B4-BE49-F238E27FC236}">
                <a16:creationId xmlns:a16="http://schemas.microsoft.com/office/drawing/2014/main" id="{D8E83DD4-D5BF-255E-F998-F608C22C05D5}"/>
              </a:ext>
            </a:extLst>
          </p:cNvPr>
          <p:cNvSpPr>
            <a:spLocks noGrp="1" noChangeArrowheads="1"/>
          </p:cNvSpPr>
          <p:nvPr>
            <p:ph type="title"/>
          </p:nvPr>
        </p:nvSpPr>
        <p:spPr/>
        <p:txBody>
          <a:bodyPr/>
          <a:lstStyle/>
          <a:p>
            <a:pPr eaLnBrk="1" hangingPunct="1">
              <a:defRPr/>
            </a:pPr>
            <a:r>
              <a:rPr lang="en-US" altLang="en-US" sz="3600" dirty="0"/>
              <a:t>RELATIVE VALUATION</a:t>
            </a:r>
          </a:p>
        </p:txBody>
      </p:sp>
    </p:spTree>
    <p:extLst>
      <p:ext uri="{BB962C8B-B14F-4D97-AF65-F5344CB8AC3E}">
        <p14:creationId xmlns:p14="http://schemas.microsoft.com/office/powerpoint/2010/main" val="41044007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7859E5E7-3530-42FB-A49C-AFFBB5834908}"/>
              </a:ext>
            </a:extLst>
          </p:cNvPr>
          <p:cNvSpPr>
            <a:spLocks noGrp="1" noChangeArrowheads="1"/>
          </p:cNvSpPr>
          <p:nvPr>
            <p:ph idx="1"/>
          </p:nvPr>
        </p:nvSpPr>
        <p:spPr>
          <a:xfrm>
            <a:off x="584906" y="1447800"/>
            <a:ext cx="8431036" cy="4993290"/>
          </a:xfrm>
        </p:spPr>
        <p:txBody>
          <a:bodyPr/>
          <a:lstStyle/>
          <a:p>
            <a:pPr algn="just">
              <a:lnSpc>
                <a:spcPct val="90000"/>
              </a:lnSpc>
              <a:spcBef>
                <a:spcPts val="550"/>
              </a:spcBef>
            </a:pPr>
            <a:r>
              <a:rPr lang="en-US" sz="2200" dirty="0"/>
              <a:t>If the company is profitable (i.e., has positive earnings), use the PE ratio, calculated as the ratio of a stock’s price per share to its earnings per share (EPS) over the previous year </a:t>
            </a:r>
          </a:p>
          <a:p>
            <a:pPr lvl="1" algn="just">
              <a:lnSpc>
                <a:spcPct val="90000"/>
              </a:lnSpc>
              <a:spcBef>
                <a:spcPts val="550"/>
              </a:spcBef>
            </a:pPr>
            <a:r>
              <a:rPr lang="en-US" sz="2100" i="0" u="none" strike="noStrike" baseline="0" dirty="0"/>
              <a:t>Idea is to have some sort of benchmark PE ratio, which we then multiply by earnings to come up with a price:</a:t>
            </a:r>
          </a:p>
          <a:p>
            <a:pPr lvl="1" algn="just">
              <a:lnSpc>
                <a:spcPct val="90000"/>
              </a:lnSpc>
              <a:spcBef>
                <a:spcPts val="550"/>
              </a:spcBef>
            </a:pPr>
            <a:endParaRPr lang="en-US" sz="2100" dirty="0"/>
          </a:p>
          <a:p>
            <a:pPr lvl="1" algn="just">
              <a:lnSpc>
                <a:spcPct val="90000"/>
              </a:lnSpc>
              <a:spcBef>
                <a:spcPts val="550"/>
              </a:spcBef>
            </a:pPr>
            <a:endParaRPr lang="en-US" sz="2100" i="0" u="none" strike="noStrike" baseline="0" dirty="0"/>
          </a:p>
          <a:p>
            <a:pPr lvl="1" algn="just">
              <a:lnSpc>
                <a:spcPct val="90000"/>
              </a:lnSpc>
              <a:spcBef>
                <a:spcPts val="550"/>
              </a:spcBef>
            </a:pPr>
            <a:r>
              <a:rPr lang="en-US" sz="2100" dirty="0"/>
              <a:t>Benchmark PE ratio could come from a variety of sources (e.g., based on similar companies, based on a company’s own historical values)</a:t>
            </a:r>
          </a:p>
          <a:p>
            <a:pPr lvl="1" algn="just">
              <a:lnSpc>
                <a:spcPct val="90000"/>
              </a:lnSpc>
              <a:spcBef>
                <a:spcPts val="550"/>
              </a:spcBef>
            </a:pPr>
            <a:r>
              <a:rPr lang="en-US" sz="2100" b="0" i="0" u="none" strike="noStrike" baseline="0" dirty="0">
                <a:solidFill>
                  <a:srgbClr val="221E1F"/>
                </a:solidFill>
              </a:rPr>
              <a:t>PE ratio based on estimated future earnings is a </a:t>
            </a:r>
            <a:r>
              <a:rPr lang="en-US" sz="2100" b="0" i="1" u="none" strike="noStrike" baseline="0" dirty="0">
                <a:solidFill>
                  <a:srgbClr val="221E1F"/>
                </a:solidFill>
              </a:rPr>
              <a:t>forward </a:t>
            </a:r>
            <a:r>
              <a:rPr lang="en-US" sz="2100" b="0" i="0" u="none" strike="noStrike" baseline="0" dirty="0">
                <a:solidFill>
                  <a:srgbClr val="221E1F"/>
                </a:solidFill>
              </a:rPr>
              <a:t>PE ratio</a:t>
            </a:r>
          </a:p>
          <a:p>
            <a:pPr algn="just">
              <a:lnSpc>
                <a:spcPct val="90000"/>
              </a:lnSpc>
              <a:spcBef>
                <a:spcPts val="550"/>
              </a:spcBef>
            </a:pPr>
            <a:r>
              <a:rPr lang="en-US" sz="2200" dirty="0">
                <a:solidFill>
                  <a:srgbClr val="221E1F"/>
                </a:solidFill>
              </a:rPr>
              <a:t>Some companies do not pay dividends </a:t>
            </a:r>
            <a:r>
              <a:rPr lang="en-US" sz="2200" i="1" dirty="0">
                <a:solidFill>
                  <a:srgbClr val="221E1F"/>
                </a:solidFill>
              </a:rPr>
              <a:t>nor</a:t>
            </a:r>
            <a:r>
              <a:rPr lang="en-US" sz="2200" dirty="0">
                <a:solidFill>
                  <a:srgbClr val="221E1F"/>
                </a:solidFill>
              </a:rPr>
              <a:t> are they profitable</a:t>
            </a:r>
          </a:p>
          <a:p>
            <a:pPr lvl="1" algn="just">
              <a:lnSpc>
                <a:spcPct val="90000"/>
              </a:lnSpc>
              <a:spcBef>
                <a:spcPts val="550"/>
              </a:spcBef>
            </a:pPr>
            <a:r>
              <a:rPr lang="en-US" sz="2100" dirty="0">
                <a:solidFill>
                  <a:srgbClr val="221E1F"/>
                </a:solidFill>
              </a:rPr>
              <a:t>In this case, use the price-sales ratio, calculated as the price per share on the stock divided by sales per share, or the EV/EBITDA ratio</a:t>
            </a:r>
          </a:p>
        </p:txBody>
      </p:sp>
      <p:sp>
        <p:nvSpPr>
          <p:cNvPr id="8194" name="Rectangle 2">
            <a:extLst>
              <a:ext uri="{FF2B5EF4-FFF2-40B4-BE49-F238E27FC236}">
                <a16:creationId xmlns:a16="http://schemas.microsoft.com/office/drawing/2014/main" id="{7BCF8C48-AD02-43D2-BD54-306710C0F48D}"/>
              </a:ext>
            </a:extLst>
          </p:cNvPr>
          <p:cNvSpPr>
            <a:spLocks noGrp="1" noChangeArrowheads="1"/>
          </p:cNvSpPr>
          <p:nvPr>
            <p:ph type="title"/>
          </p:nvPr>
        </p:nvSpPr>
        <p:spPr/>
        <p:txBody>
          <a:bodyPr/>
          <a:lstStyle/>
          <a:p>
            <a:pPr eaLnBrk="1" hangingPunct="1">
              <a:defRPr/>
            </a:pPr>
            <a:r>
              <a:rPr lang="en-US" altLang="en-US" sz="3600" dirty="0"/>
              <a:t>RELATIVE VALUATION</a:t>
            </a:r>
          </a:p>
        </p:txBody>
      </p:sp>
      <p:pic>
        <p:nvPicPr>
          <p:cNvPr id="4" name="Picture 3">
            <a:extLst>
              <a:ext uri="{FF2B5EF4-FFF2-40B4-BE49-F238E27FC236}">
                <a16:creationId xmlns:a16="http://schemas.microsoft.com/office/drawing/2014/main" id="{974DD70A-AD79-4E99-BFDF-2A6AE1E1D974}"/>
              </a:ext>
            </a:extLst>
          </p:cNvPr>
          <p:cNvPicPr>
            <a:picLocks noChangeAspect="1"/>
          </p:cNvPicPr>
          <p:nvPr/>
        </p:nvPicPr>
        <p:blipFill>
          <a:blip r:embed="rId3"/>
          <a:stretch>
            <a:fillRect/>
          </a:stretch>
        </p:blipFill>
        <p:spPr>
          <a:xfrm>
            <a:off x="1902784" y="3192458"/>
            <a:ext cx="5795279" cy="473084"/>
          </a:xfrm>
          <a:prstGeom prst="rect">
            <a:avLst/>
          </a:prstGeom>
        </p:spPr>
      </p:pic>
    </p:spTree>
    <p:extLst>
      <p:ext uri="{BB962C8B-B14F-4D97-AF65-F5344CB8AC3E}">
        <p14:creationId xmlns:p14="http://schemas.microsoft.com/office/powerpoint/2010/main" val="83305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636588" y="1981200"/>
            <a:ext cx="8116887" cy="2995757"/>
          </a:xfrm>
          <a:prstGeom prst="rect">
            <a:avLst/>
          </a:prstGeom>
        </p:spPr>
      </p:pic>
      <p:sp>
        <p:nvSpPr>
          <p:cNvPr id="4" name="Title 3"/>
          <p:cNvSpPr>
            <a:spLocks noGrp="1"/>
          </p:cNvSpPr>
          <p:nvPr>
            <p:ph type="title"/>
          </p:nvPr>
        </p:nvSpPr>
        <p:spPr/>
        <p:txBody>
          <a:bodyPr/>
          <a:lstStyle/>
          <a:p>
            <a:endParaRPr lang="en-US"/>
          </a:p>
        </p:txBody>
      </p:sp>
    </p:spTree>
    <p:extLst>
      <p:ext uri="{BB962C8B-B14F-4D97-AF65-F5344CB8AC3E}">
        <p14:creationId xmlns:p14="http://schemas.microsoft.com/office/powerpoint/2010/main" val="177025205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RWJ_FCF11e_PPT_Template">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TotalTime>
  <Words>2446</Words>
  <Application>Microsoft Office PowerPoint</Application>
  <PresentationFormat>On-screen Show (4:3)</PresentationFormat>
  <Paragraphs>289</Paragraphs>
  <Slides>36</Slides>
  <Notes>11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36</vt:i4>
      </vt:variant>
    </vt:vector>
  </HeadingPairs>
  <TitlesOfParts>
    <vt:vector size="45" baseType="lpstr">
      <vt:lpstr>Arial</vt:lpstr>
      <vt:lpstr>Book Antiqua</vt:lpstr>
      <vt:lpstr>Calibri</vt:lpstr>
      <vt:lpstr>Cambria Math</vt:lpstr>
      <vt:lpstr>STIX MathJax Main</vt:lpstr>
      <vt:lpstr>Times New Roman</vt:lpstr>
      <vt:lpstr>Wingdings</vt:lpstr>
      <vt:lpstr>Office Theme</vt:lpstr>
      <vt:lpstr>1_RWJ_FCF11e_PPT_Template</vt:lpstr>
      <vt:lpstr>Chapter 3: An Introduction to Portfolio Management</vt:lpstr>
      <vt:lpstr>Covariance and Correlation</vt:lpstr>
      <vt:lpstr>Covariance and Correlation</vt:lpstr>
      <vt:lpstr>Covariance and Correlation</vt:lpstr>
      <vt:lpstr>Variance of a Portfolio</vt:lpstr>
      <vt:lpstr>Variance of a Portfolio</vt:lpstr>
      <vt:lpstr>The minimum-variance portfolio</vt:lpstr>
      <vt:lpstr>The minimum-variance portfolio</vt:lpstr>
      <vt:lpstr> Sharpe Portfolio Performance Measure </vt:lpstr>
      <vt:lpstr>Asset Allocation with Stocks, Bonds, and Cash equivalent</vt:lpstr>
      <vt:lpstr>Asset Allocation with Stocks, Bonds, and Cash equivalent</vt:lpstr>
      <vt:lpstr>The optimal portfolio</vt:lpstr>
      <vt:lpstr>The Efficient Frontier</vt:lpstr>
      <vt:lpstr>The Efficient Frontier</vt:lpstr>
      <vt:lpstr>The Efficient Frontier</vt:lpstr>
      <vt:lpstr>The Efficient Frontier</vt:lpstr>
      <vt:lpstr>PowerPoint Presentation</vt:lpstr>
      <vt:lpstr>PowerPoint Presentation</vt:lpstr>
      <vt:lpstr>PowerPoint Presentation</vt:lpstr>
      <vt:lpstr>PowerPoint Presentation</vt:lpstr>
      <vt:lpstr>PowerPoint Presentation</vt:lpstr>
      <vt:lpstr>EQUITY valuation</vt:lpstr>
      <vt:lpstr>discounted cash flow</vt:lpstr>
      <vt:lpstr>discounted cash flow (continued)</vt:lpstr>
      <vt:lpstr>Zero growth</vt:lpstr>
      <vt:lpstr>Constant growth</vt:lpstr>
      <vt:lpstr>Constant growth  (continued)</vt:lpstr>
      <vt:lpstr>Constant growth  (concluded)</vt:lpstr>
      <vt:lpstr>PowerPoint Presentation</vt:lpstr>
      <vt:lpstr>Nonconstant GROWTH  (continued)</vt:lpstr>
      <vt:lpstr>Nonconstant GROWTH  (Concluded)</vt:lpstr>
      <vt:lpstr>PowerPoint Presentation</vt:lpstr>
      <vt:lpstr>PowerPoint Presentation</vt:lpstr>
      <vt:lpstr>RELATIVE VALUATION</vt:lpstr>
      <vt:lpstr>RELATIVE VALUATION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 Quy. Duong</cp:lastModifiedBy>
  <cp:revision>39</cp:revision>
  <dcterms:created xsi:type="dcterms:W3CDTF">2013-01-27T09:14:16Z</dcterms:created>
  <dcterms:modified xsi:type="dcterms:W3CDTF">2026-08-03T04:06:34Z</dcterms:modified>
  <cp:category/>
</cp:coreProperties>
</file>