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85" r:id="rId3"/>
    <p:sldId id="256" r:id="rId4"/>
    <p:sldId id="257" r:id="rId5"/>
    <p:sldId id="258" r:id="rId6"/>
    <p:sldId id="271" r:id="rId7"/>
    <p:sldId id="272" r:id="rId8"/>
    <p:sldId id="273" r:id="rId9"/>
    <p:sldId id="259" r:id="rId10"/>
    <p:sldId id="260" r:id="rId11"/>
    <p:sldId id="274" r:id="rId12"/>
    <p:sldId id="286" r:id="rId13"/>
    <p:sldId id="261" r:id="rId14"/>
    <p:sldId id="275" r:id="rId15"/>
    <p:sldId id="262" r:id="rId16"/>
    <p:sldId id="276" r:id="rId17"/>
    <p:sldId id="263" r:id="rId18"/>
    <p:sldId id="264" r:id="rId19"/>
    <p:sldId id="287" r:id="rId20"/>
    <p:sldId id="265" r:id="rId21"/>
    <p:sldId id="277" r:id="rId22"/>
    <p:sldId id="278" r:id="rId23"/>
    <p:sldId id="266" r:id="rId24"/>
    <p:sldId id="267" r:id="rId25"/>
    <p:sldId id="279" r:id="rId26"/>
    <p:sldId id="268" r:id="rId27"/>
    <p:sldId id="280" r:id="rId28"/>
    <p:sldId id="281" r:id="rId29"/>
    <p:sldId id="282" r:id="rId30"/>
    <p:sldId id="283" r:id="rId31"/>
    <p:sldId id="269" r:id="rId32"/>
    <p:sldId id="270" r:id="rId33"/>
    <p:sldId id="284"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27F088F8-E674-4C79-A83B-1E36E5A6090C}"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242513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F088F8-E674-4C79-A83B-1E36E5A6090C}"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1308631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F088F8-E674-4C79-A83B-1E36E5A6090C}"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3575490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F088F8-E674-4C79-A83B-1E36E5A6090C}"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1394153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F088F8-E674-4C79-A83B-1E36E5A6090C}"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2309334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F088F8-E674-4C79-A83B-1E36E5A6090C}"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2709391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F088F8-E674-4C79-A83B-1E36E5A6090C}"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1873603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F088F8-E674-4C79-A83B-1E36E5A6090C}"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399386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F088F8-E674-4C79-A83B-1E36E5A6090C}"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1576599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F088F8-E674-4C79-A83B-1E36E5A6090C}"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35367199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F088F8-E674-4C79-A83B-1E36E5A6090C}"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64D0FE-5DA0-43D8-8E83-85D5FAE583F8}" type="slidenum">
              <a:rPr lang="en-US" smtClean="0"/>
              <a:t>‹#›</a:t>
            </a:fld>
            <a:endParaRPr lang="en-US"/>
          </a:p>
        </p:txBody>
      </p:sp>
    </p:spTree>
    <p:extLst>
      <p:ext uri="{BB962C8B-B14F-4D97-AF65-F5344CB8AC3E}">
        <p14:creationId xmlns:p14="http://schemas.microsoft.com/office/powerpoint/2010/main" val="2736293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7F088F8-E674-4C79-A83B-1E36E5A6090C}" type="datetimeFigureOut">
              <a:rPr lang="en-US" smtClean="0"/>
              <a:t>7/31/2026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F64D0FE-5DA0-43D8-8E83-85D5FAE583F8}" type="slidenum">
              <a:rPr lang="en-US" smtClean="0"/>
              <a:t>‹#›</a:t>
            </a:fld>
            <a:endParaRPr lang="en-US"/>
          </a:p>
        </p:txBody>
      </p:sp>
    </p:spTree>
    <p:extLst>
      <p:ext uri="{BB962C8B-B14F-4D97-AF65-F5344CB8AC3E}">
        <p14:creationId xmlns:p14="http://schemas.microsoft.com/office/powerpoint/2010/main" val="2298063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uonglq@neu.edu.vn"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1" y="1278893"/>
            <a:ext cx="7587048" cy="1790700"/>
          </a:xfrm>
        </p:spPr>
        <p:txBody>
          <a:bodyPr>
            <a:normAutofit/>
          </a:bodyPr>
          <a:lstStyle/>
          <a:p>
            <a:r>
              <a:rPr lang="en-US" dirty="0">
                <a:latin typeface="Times New Roman" panose="02020603050405020304" pitchFamily="18" charset="0"/>
                <a:cs typeface="Times New Roman" panose="02020603050405020304" pitchFamily="18" charset="0"/>
              </a:rPr>
              <a:t>Portfolio Management</a:t>
            </a:r>
          </a:p>
        </p:txBody>
      </p:sp>
      <p:sp>
        <p:nvSpPr>
          <p:cNvPr id="3" name="Subtitle 2"/>
          <p:cNvSpPr>
            <a:spLocks noGrp="1"/>
          </p:cNvSpPr>
          <p:nvPr>
            <p:ph type="subTitle" idx="1"/>
          </p:nvPr>
        </p:nvSpPr>
        <p:spPr/>
        <p:txBody>
          <a:bodyPr>
            <a:normAutofit/>
          </a:bodyPr>
          <a:lstStyle/>
          <a:p>
            <a:r>
              <a:rPr lang="en-US" dirty="0">
                <a:latin typeface="Times New Roman" panose="02020603050405020304" pitchFamily="18" charset="0"/>
                <a:cs typeface="Times New Roman" panose="02020603050405020304" pitchFamily="18" charset="0"/>
              </a:rPr>
              <a:t>Dr. Le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Duong</a:t>
            </a:r>
          </a:p>
          <a:p>
            <a:r>
              <a:rPr lang="en-US" dirty="0">
                <a:latin typeface="Times New Roman" panose="02020603050405020304" pitchFamily="18" charset="0"/>
                <a:cs typeface="Times New Roman" panose="02020603050405020304" pitchFamily="18" charset="0"/>
              </a:rPr>
              <a:t>Email: </a:t>
            </a:r>
            <a:r>
              <a:rPr lang="en-US" dirty="0">
                <a:latin typeface="Times New Roman" panose="02020603050405020304" pitchFamily="18" charset="0"/>
                <a:cs typeface="Times New Roman" panose="02020603050405020304" pitchFamily="18" charset="0"/>
                <a:hlinkClick r:id="rId2"/>
              </a:rPr>
              <a:t>duonglq@neu.edu.vn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Phone: 0966973642</a:t>
            </a:r>
          </a:p>
          <a:p>
            <a:r>
              <a:rPr lang="en-US" dirty="0">
                <a:latin typeface="Times New Roman" panose="02020603050405020304" pitchFamily="18" charset="0"/>
                <a:cs typeface="Times New Roman" panose="02020603050405020304" pitchFamily="18" charset="0"/>
              </a:rPr>
              <a:t>Research Interests: efficient stock markets, asset pricing models</a:t>
            </a:r>
          </a:p>
        </p:txBody>
      </p:sp>
    </p:spTree>
    <p:extLst>
      <p:ext uri="{BB962C8B-B14F-4D97-AF65-F5344CB8AC3E}">
        <p14:creationId xmlns:p14="http://schemas.microsoft.com/office/powerpoint/2010/main" val="4099284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Chapter 1: The Investment Setting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 What is an Investment?</a:t>
            </a:r>
          </a:p>
        </p:txBody>
      </p:sp>
      <p:sp>
        <p:nvSpPr>
          <p:cNvPr id="3" name="Content Placeholder 2"/>
          <p:cNvSpPr>
            <a:spLocks noGrp="1"/>
          </p:cNvSpPr>
          <p:nvPr>
            <p:ph idx="1"/>
          </p:nvPr>
        </p:nvSpPr>
        <p:spPr/>
        <p:txBody>
          <a:bodyPr>
            <a:normAutofit fontScale="92500" lnSpcReduction="10000"/>
          </a:bodyPr>
          <a:lstStyle/>
          <a:p>
            <a:pPr algn="just"/>
            <a:r>
              <a:rPr lang="en-US" dirty="0"/>
              <a:t>For most of your life, you will be earning and spending money</a:t>
            </a:r>
            <a:r>
              <a:rPr dirty="0"/>
              <a:t>.</a:t>
            </a:r>
            <a:endParaRPr lang="en-US" dirty="0"/>
          </a:p>
          <a:p>
            <a:pPr algn="just"/>
            <a:r>
              <a:rPr lang="en-US" dirty="0"/>
              <a:t>When current income exceeds current consumption desires, people tend to save the excess. They can give up the immediate possession of these savings for a future larger amount of money that will be available for future consumption</a:t>
            </a:r>
          </a:p>
          <a:p>
            <a:pPr algn="just"/>
            <a:r>
              <a:rPr lang="en-US" dirty="0"/>
              <a:t>What you do with the savings to make them increase over time is investment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1.1.1 Investment Defined</a:t>
            </a:r>
          </a:p>
        </p:txBody>
      </p:sp>
      <p:sp>
        <p:nvSpPr>
          <p:cNvPr id="3" name="Content Placeholder 2"/>
          <p:cNvSpPr>
            <a:spLocks noGrp="1"/>
          </p:cNvSpPr>
          <p:nvPr>
            <p:ph idx="1"/>
          </p:nvPr>
        </p:nvSpPr>
        <p:spPr/>
        <p:txBody>
          <a:bodyPr/>
          <a:lstStyle/>
          <a:p>
            <a:pPr algn="just"/>
            <a:r>
              <a:rPr dirty="0"/>
              <a:t>An investment is the current commitment of dollars for a period of time in order to derive future payments </a:t>
            </a:r>
            <a:r>
              <a:rPr lang="en-US" dirty="0"/>
              <a:t>that will compensate the investor for (1) the time the funds are committed, (2) the expected rate of inflation during this time period, and (3) the uncertainty of the future payments</a:t>
            </a: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4D92D-6F87-EAB4-D0C9-A5451054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1176D-69DC-C28B-C2A6-4AF04D676504}"/>
              </a:ext>
            </a:extLst>
          </p:cNvPr>
          <p:cNvSpPr>
            <a:spLocks noGrp="1"/>
          </p:cNvSpPr>
          <p:nvPr>
            <p:ph type="title"/>
          </p:nvPr>
        </p:nvSpPr>
        <p:spPr/>
        <p:txBody>
          <a:bodyPr/>
          <a:lstStyle/>
          <a:p>
            <a:r>
              <a:t>1.1.1 Investment Defined</a:t>
            </a:r>
          </a:p>
        </p:txBody>
      </p:sp>
      <p:sp>
        <p:nvSpPr>
          <p:cNvPr id="3" name="Content Placeholder 2">
            <a:extLst>
              <a:ext uri="{FF2B5EF4-FFF2-40B4-BE49-F238E27FC236}">
                <a16:creationId xmlns:a16="http://schemas.microsoft.com/office/drawing/2014/main" id="{0EAC23D0-EB00-4302-408E-787428CB69C9}"/>
              </a:ext>
            </a:extLst>
          </p:cNvPr>
          <p:cNvSpPr>
            <a:spLocks noGrp="1"/>
          </p:cNvSpPr>
          <p:nvPr>
            <p:ph idx="1"/>
          </p:nvPr>
        </p:nvSpPr>
        <p:spPr/>
        <p:txBody>
          <a:bodyPr/>
          <a:lstStyle/>
          <a:p>
            <a:pPr algn="just"/>
            <a:r>
              <a:rPr lang="en-US" dirty="0"/>
              <a:t>The “investor” can be an individual, a government, a pension fund, or a corporation. Similarly, this definition includes all types of investments, including investments by corporations in plant and equipment and investments by individuals in stocks, bonds, commodities, or real estate</a:t>
            </a:r>
            <a:endParaRPr dirty="0"/>
          </a:p>
        </p:txBody>
      </p:sp>
    </p:spTree>
    <p:extLst>
      <p:ext uri="{BB962C8B-B14F-4D97-AF65-F5344CB8AC3E}">
        <p14:creationId xmlns:p14="http://schemas.microsoft.com/office/powerpoint/2010/main" val="2346398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6E137-CC7D-1CB4-9E22-BF20A914D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41E96-87C7-AFBF-D642-B88961B8EB21}"/>
              </a:ext>
            </a:extLst>
          </p:cNvPr>
          <p:cNvSpPr>
            <a:spLocks noGrp="1"/>
          </p:cNvSpPr>
          <p:nvPr>
            <p:ph type="title"/>
          </p:nvPr>
        </p:nvSpPr>
        <p:spPr/>
        <p:txBody>
          <a:bodyPr/>
          <a:lstStyle/>
          <a:p>
            <a:r>
              <a:t>1.1.1 Investment Defined</a:t>
            </a:r>
          </a:p>
        </p:txBody>
      </p:sp>
      <p:sp>
        <p:nvSpPr>
          <p:cNvPr id="3" name="Content Placeholder 2">
            <a:extLst>
              <a:ext uri="{FF2B5EF4-FFF2-40B4-BE49-F238E27FC236}">
                <a16:creationId xmlns:a16="http://schemas.microsoft.com/office/drawing/2014/main" id="{F213D401-48B0-2689-9694-C3C8B859422E}"/>
              </a:ext>
            </a:extLst>
          </p:cNvPr>
          <p:cNvSpPr>
            <a:spLocks noGrp="1"/>
          </p:cNvSpPr>
          <p:nvPr>
            <p:ph idx="1"/>
          </p:nvPr>
        </p:nvSpPr>
        <p:spPr/>
        <p:txBody>
          <a:bodyPr/>
          <a:lstStyle/>
          <a:p>
            <a:pPr algn="just"/>
            <a:r>
              <a:rPr lang="en-US" dirty="0"/>
              <a:t>In all cases, the investor is trading a known dollar amount today for some expected future stream of payments that will be greater than the current dollar amount today. At this point, we have answered the questions about why people invest and what they want from their investments</a:t>
            </a:r>
            <a:endParaRPr dirty="0"/>
          </a:p>
        </p:txBody>
      </p:sp>
    </p:spTree>
    <p:extLst>
      <p:ext uri="{BB962C8B-B14F-4D97-AF65-F5344CB8AC3E}">
        <p14:creationId xmlns:p14="http://schemas.microsoft.com/office/powerpoint/2010/main" val="712332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88C78-3331-0B56-29D3-9286185B9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67795-25A1-90C5-4BA1-06EFD3BD6E68}"/>
              </a:ext>
            </a:extLst>
          </p:cNvPr>
          <p:cNvSpPr>
            <a:spLocks noGrp="1"/>
          </p:cNvSpPr>
          <p:nvPr>
            <p:ph type="title"/>
          </p:nvPr>
        </p:nvSpPr>
        <p:spPr/>
        <p:txBody>
          <a:bodyPr/>
          <a:lstStyle/>
          <a:p>
            <a:r>
              <a:t>1.1.1 Investment Defined</a:t>
            </a:r>
          </a:p>
        </p:txBody>
      </p:sp>
      <p:sp>
        <p:nvSpPr>
          <p:cNvPr id="3" name="Content Placeholder 2">
            <a:extLst>
              <a:ext uri="{FF2B5EF4-FFF2-40B4-BE49-F238E27FC236}">
                <a16:creationId xmlns:a16="http://schemas.microsoft.com/office/drawing/2014/main" id="{CFDF1284-6C4D-8D17-07C4-D6417E7F9689}"/>
              </a:ext>
            </a:extLst>
          </p:cNvPr>
          <p:cNvSpPr>
            <a:spLocks noGrp="1"/>
          </p:cNvSpPr>
          <p:nvPr>
            <p:ph idx="1"/>
          </p:nvPr>
        </p:nvSpPr>
        <p:spPr/>
        <p:txBody>
          <a:bodyPr/>
          <a:lstStyle/>
          <a:p>
            <a:pPr algn="just"/>
            <a:r>
              <a:rPr lang="en-US" dirty="0"/>
              <a:t>Investors want a rate of return that compensates them for the time period of the investment, the expected rate of inflation, and the uncertainty of the future cash flows. This return is the investor’s required rate of return. A central question is how investors select investments that will give them their required rates of return</a:t>
            </a:r>
            <a:endParaRPr dirty="0"/>
          </a:p>
        </p:txBody>
      </p:sp>
    </p:spTree>
    <p:extLst>
      <p:ext uri="{BB962C8B-B14F-4D97-AF65-F5344CB8AC3E}">
        <p14:creationId xmlns:p14="http://schemas.microsoft.com/office/powerpoint/2010/main" val="2300553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1.2 Measures of Return and Risk</a:t>
            </a:r>
          </a:p>
        </p:txBody>
      </p:sp>
      <p:sp>
        <p:nvSpPr>
          <p:cNvPr id="3" name="Content Placeholder 2"/>
          <p:cNvSpPr>
            <a:spLocks noGrp="1"/>
          </p:cNvSpPr>
          <p:nvPr>
            <p:ph idx="1"/>
          </p:nvPr>
        </p:nvSpPr>
        <p:spPr/>
        <p:txBody>
          <a:bodyPr>
            <a:normAutofit fontScale="92500"/>
          </a:bodyPr>
          <a:lstStyle/>
          <a:p>
            <a:pPr algn="just"/>
            <a:r>
              <a:rPr dirty="0"/>
              <a:t>Return quantifies gains or losses on investments.</a:t>
            </a:r>
          </a:p>
          <a:p>
            <a:pPr algn="just"/>
            <a:r>
              <a:rPr dirty="0"/>
              <a:t>Risk measures the uncertainty of these returns using variance and standard deviation.</a:t>
            </a:r>
            <a:endParaRPr lang="en-US" dirty="0"/>
          </a:p>
          <a:p>
            <a:pPr algn="just"/>
            <a:r>
              <a:rPr lang="en-US" dirty="0"/>
              <a:t>Following the presentation of measures of historical rates of return and risk, we turn to estimating the expected rate of return for an investment. Obviously, such an estimate contains a great deal of uncertainty, and we present measures of this uncertainty or risk</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1.2.1 Measures of Historical Rates of Return</a:t>
            </a:r>
          </a:p>
        </p:txBody>
      </p:sp>
      <p:sp>
        <p:nvSpPr>
          <p:cNvPr id="3" name="Content Placeholder 2"/>
          <p:cNvSpPr>
            <a:spLocks noGrp="1"/>
          </p:cNvSpPr>
          <p:nvPr>
            <p:ph idx="1"/>
          </p:nvPr>
        </p:nvSpPr>
        <p:spPr/>
        <p:txBody>
          <a:bodyPr/>
          <a:lstStyle/>
          <a:p>
            <a:r>
              <a:rPr dirty="0"/>
              <a:t>Historical return reflects asset performance over a holding period. </a:t>
            </a:r>
            <a:endParaRPr lang="en-US" dirty="0"/>
          </a:p>
          <a:p>
            <a:pPr marL="0" indent="0">
              <a:buNone/>
            </a:pPr>
            <a:r>
              <a:rPr lang="en-US" dirty="0"/>
              <a:t>Holding period yield (HPY) = (Ending Value of Investment + Income - Beginning Value of Investment)/ Beginning Value of Investment.</a:t>
            </a:r>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5F083-DF48-564D-AEB9-C758AA8BA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A08A8-39A4-485B-0529-F96A5E3792C0}"/>
              </a:ext>
            </a:extLst>
          </p:cNvPr>
          <p:cNvSpPr>
            <a:spLocks noGrp="1"/>
          </p:cNvSpPr>
          <p:nvPr>
            <p:ph type="title"/>
          </p:nvPr>
        </p:nvSpPr>
        <p:spPr/>
        <p:txBody>
          <a:bodyPr>
            <a:normAutofit fontScale="90000"/>
          </a:bodyPr>
          <a:lstStyle/>
          <a:p>
            <a:r>
              <a:t>1.2.1 Measures of Historical Rates of Return</a:t>
            </a:r>
          </a:p>
        </p:txBody>
      </p:sp>
      <p:sp>
        <p:nvSpPr>
          <p:cNvPr id="3" name="Content Placeholder 2">
            <a:extLst>
              <a:ext uri="{FF2B5EF4-FFF2-40B4-BE49-F238E27FC236}">
                <a16:creationId xmlns:a16="http://schemas.microsoft.com/office/drawing/2014/main" id="{F409E04F-2ED2-3ED7-2FD3-B665C07BC10F}"/>
              </a:ext>
            </a:extLst>
          </p:cNvPr>
          <p:cNvSpPr>
            <a:spLocks noGrp="1"/>
          </p:cNvSpPr>
          <p:nvPr>
            <p:ph idx="1"/>
          </p:nvPr>
        </p:nvSpPr>
        <p:spPr/>
        <p:txBody>
          <a:bodyPr/>
          <a:lstStyle/>
          <a:p>
            <a:r>
              <a:rPr lang="en-US" dirty="0"/>
              <a:t>If you commit $200 to an investment at the beginning of the year and you get back $220 at the end of the year</a:t>
            </a:r>
          </a:p>
          <a:p>
            <a:r>
              <a:rPr lang="en-US" dirty="0"/>
              <a:t>Consider an investment that cost $250 and is worth $350 after being held for two years</a:t>
            </a:r>
            <a:endParaRPr dirty="0"/>
          </a:p>
        </p:txBody>
      </p:sp>
    </p:spTree>
    <p:extLst>
      <p:ext uri="{BB962C8B-B14F-4D97-AF65-F5344CB8AC3E}">
        <p14:creationId xmlns:p14="http://schemas.microsoft.com/office/powerpoint/2010/main" val="3611589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41B2B-276F-B758-3CFE-4474A5481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838B1-DB8D-D6C9-9669-E86C8905B5BC}"/>
              </a:ext>
            </a:extLst>
          </p:cNvPr>
          <p:cNvSpPr>
            <a:spLocks noGrp="1"/>
          </p:cNvSpPr>
          <p:nvPr>
            <p:ph type="title"/>
          </p:nvPr>
        </p:nvSpPr>
        <p:spPr/>
        <p:txBody>
          <a:bodyPr>
            <a:normAutofit fontScale="90000"/>
          </a:bodyPr>
          <a:lstStyle/>
          <a:p>
            <a:r>
              <a:t>1.2.2 Computing Mean Historical Returns</a:t>
            </a:r>
          </a:p>
        </p:txBody>
      </p:sp>
      <p:sp>
        <p:nvSpPr>
          <p:cNvPr id="3" name="Content Placeholder 2">
            <a:extLst>
              <a:ext uri="{FF2B5EF4-FFF2-40B4-BE49-F238E27FC236}">
                <a16:creationId xmlns:a16="http://schemas.microsoft.com/office/drawing/2014/main" id="{7D38ADD3-C98F-BEF0-103C-1CDCFDFFB2D1}"/>
              </a:ext>
            </a:extLst>
          </p:cNvPr>
          <p:cNvSpPr>
            <a:spLocks noGrp="1"/>
          </p:cNvSpPr>
          <p:nvPr>
            <p:ph idx="1"/>
          </p:nvPr>
        </p:nvSpPr>
        <p:spPr/>
        <p:txBody>
          <a:bodyPr>
            <a:normAutofit/>
          </a:bodyPr>
          <a:lstStyle/>
          <a:p>
            <a:pPr algn="just"/>
            <a:r>
              <a:rPr lang="en-US" dirty="0"/>
              <a:t>Single investment:</a:t>
            </a:r>
          </a:p>
          <a:p>
            <a:pPr algn="just">
              <a:buFont typeface="Wingdings" panose="05000000000000000000" pitchFamily="2" charset="2"/>
              <a:buChar char="Ø"/>
            </a:pPr>
            <a:r>
              <a:rPr dirty="0"/>
              <a:t>Arithmetic Mean: Simple average of returns.</a:t>
            </a:r>
          </a:p>
          <a:p>
            <a:pPr algn="just">
              <a:buFont typeface="Wingdings" panose="05000000000000000000" pitchFamily="2" charset="2"/>
              <a:buChar char="Ø"/>
            </a:pPr>
            <a:r>
              <a:rPr dirty="0"/>
              <a:t>Geometric Mean: Compounded annual rate of return.</a:t>
            </a:r>
          </a:p>
          <a:p>
            <a:pPr algn="just"/>
            <a:endParaRPr dirty="0"/>
          </a:p>
        </p:txBody>
      </p:sp>
      <p:pic>
        <p:nvPicPr>
          <p:cNvPr id="4" name="Picture 3">
            <a:extLst>
              <a:ext uri="{FF2B5EF4-FFF2-40B4-BE49-F238E27FC236}">
                <a16:creationId xmlns:a16="http://schemas.microsoft.com/office/drawing/2014/main" id="{F77F1323-2DE3-0ACF-784B-7631F0E54946}"/>
              </a:ext>
            </a:extLst>
          </p:cNvPr>
          <p:cNvPicPr>
            <a:picLocks noChangeAspect="1"/>
          </p:cNvPicPr>
          <p:nvPr/>
        </p:nvPicPr>
        <p:blipFill>
          <a:blip r:embed="rId2"/>
          <a:stretch>
            <a:fillRect/>
          </a:stretch>
        </p:blipFill>
        <p:spPr>
          <a:xfrm>
            <a:off x="1371124" y="4000743"/>
            <a:ext cx="6834249" cy="1360734"/>
          </a:xfrm>
          <a:prstGeom prst="rect">
            <a:avLst/>
          </a:prstGeom>
        </p:spPr>
      </p:pic>
    </p:spTree>
    <p:extLst>
      <p:ext uri="{BB962C8B-B14F-4D97-AF65-F5344CB8AC3E}">
        <p14:creationId xmlns:p14="http://schemas.microsoft.com/office/powerpoint/2010/main" val="4145100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1.2.2 Computing Mean Historical Returns</a:t>
            </a:r>
          </a:p>
        </p:txBody>
      </p:sp>
      <p:sp>
        <p:nvSpPr>
          <p:cNvPr id="3" name="Content Placeholder 2"/>
          <p:cNvSpPr>
            <a:spLocks noGrp="1"/>
          </p:cNvSpPr>
          <p:nvPr>
            <p:ph idx="1"/>
          </p:nvPr>
        </p:nvSpPr>
        <p:spPr/>
        <p:txBody>
          <a:bodyPr>
            <a:normAutofit/>
          </a:bodyPr>
          <a:lstStyle/>
          <a:p>
            <a:pPr algn="just"/>
            <a:r>
              <a:rPr lang="en-US" dirty="0"/>
              <a:t>A Portfolio of Investments</a:t>
            </a:r>
            <a:r>
              <a:rPr dirty="0"/>
              <a:t>:</a:t>
            </a:r>
            <a:r>
              <a:rPr lang="en-US" dirty="0"/>
              <a:t> Weighted average based on investment values. The weights used in computing the averages are the relative beginning market values for each investment.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2F9E5-05F5-67C4-C70D-DF425D753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BD65D-07F3-C5ED-C0D7-019D0535D458}"/>
              </a:ext>
            </a:extLst>
          </p:cNvPr>
          <p:cNvSpPr>
            <a:spLocks noGrp="1"/>
          </p:cNvSpPr>
          <p:nvPr>
            <p:ph type="title"/>
          </p:nvPr>
        </p:nvSpPr>
        <p:spPr/>
        <p:txBody>
          <a:bodyPr>
            <a:normAutofit fontScale="90000"/>
          </a:bodyPr>
          <a:lstStyle/>
          <a:p>
            <a:r>
              <a:t>1.2.2 Computing Mean Historical Returns</a:t>
            </a:r>
          </a:p>
        </p:txBody>
      </p:sp>
      <p:graphicFrame>
        <p:nvGraphicFramePr>
          <p:cNvPr id="8" name="Table 7">
            <a:extLst>
              <a:ext uri="{FF2B5EF4-FFF2-40B4-BE49-F238E27FC236}">
                <a16:creationId xmlns:a16="http://schemas.microsoft.com/office/drawing/2014/main" id="{5E03C1A5-6AAA-C3C4-DEC5-9C370B39D0B9}"/>
              </a:ext>
            </a:extLst>
          </p:cNvPr>
          <p:cNvGraphicFramePr>
            <a:graphicFrameLocks noGrp="1"/>
          </p:cNvGraphicFramePr>
          <p:nvPr>
            <p:extLst>
              <p:ext uri="{D42A27DB-BD31-4B8C-83A1-F6EECF244321}">
                <p14:modId xmlns:p14="http://schemas.microsoft.com/office/powerpoint/2010/main" val="1953186052"/>
              </p:ext>
            </p:extLst>
          </p:nvPr>
        </p:nvGraphicFramePr>
        <p:xfrm>
          <a:off x="737300" y="1950800"/>
          <a:ext cx="7815029" cy="1489273"/>
        </p:xfrm>
        <a:graphic>
          <a:graphicData uri="http://schemas.openxmlformats.org/drawingml/2006/table">
            <a:tbl>
              <a:tblPr firstRow="1" firstCol="1" bandRow="1"/>
              <a:tblGrid>
                <a:gridCol w="958017">
                  <a:extLst>
                    <a:ext uri="{9D8B030D-6E8A-4147-A177-3AD203B41FA5}">
                      <a16:colId xmlns:a16="http://schemas.microsoft.com/office/drawing/2014/main" val="2689474031"/>
                    </a:ext>
                  </a:extLst>
                </a:gridCol>
                <a:gridCol w="2137816">
                  <a:extLst>
                    <a:ext uri="{9D8B030D-6E8A-4147-A177-3AD203B41FA5}">
                      <a16:colId xmlns:a16="http://schemas.microsoft.com/office/drawing/2014/main" val="793282556"/>
                    </a:ext>
                  </a:extLst>
                </a:gridCol>
                <a:gridCol w="2359598">
                  <a:extLst>
                    <a:ext uri="{9D8B030D-6E8A-4147-A177-3AD203B41FA5}">
                      <a16:colId xmlns:a16="http://schemas.microsoft.com/office/drawing/2014/main" val="2305317614"/>
                    </a:ext>
                  </a:extLst>
                </a:gridCol>
                <a:gridCol w="2359598">
                  <a:extLst>
                    <a:ext uri="{9D8B030D-6E8A-4147-A177-3AD203B41FA5}">
                      <a16:colId xmlns:a16="http://schemas.microsoft.com/office/drawing/2014/main" val="2220260693"/>
                    </a:ext>
                  </a:extLst>
                </a:gridCol>
              </a:tblGrid>
              <a:tr h="604888">
                <a:tc>
                  <a:txBody>
                    <a:bodyPr/>
                    <a:lstStyle/>
                    <a:p>
                      <a:pPr>
                        <a:lnSpc>
                          <a:spcPct val="107000"/>
                        </a:lnSpc>
                      </a:pPr>
                      <a:endParaRPr lang="en-US" sz="1800">
                        <a:effectLst/>
                        <a:latin typeface="Times New Roman" panose="02020603050405020304" pitchFamily="18"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Stock price at 31 Dec, 2023($)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Stock price at 31 Dec, 2024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Market values for each investment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3053550"/>
                  </a:ext>
                </a:extLst>
              </a:tr>
              <a:tr h="294795">
                <a:tc>
                  <a:txBody>
                    <a:bodyPr/>
                    <a:lstStyle/>
                    <a:p>
                      <a:pP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DTT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8.89</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12.7</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889</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8856007"/>
                  </a:ext>
                </a:extLst>
              </a:tr>
              <a:tr h="294795">
                <a:tc>
                  <a:txBody>
                    <a:bodyPr/>
                    <a:lstStyle/>
                    <a:p>
                      <a:pP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15.7</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18.8</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785</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4306535"/>
                  </a:ext>
                </a:extLst>
              </a:tr>
              <a:tr h="294795">
                <a:tc>
                  <a:txBody>
                    <a:bodyPr/>
                    <a:lstStyle/>
                    <a:p>
                      <a:pP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BMI</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20.7</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26.7</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621</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293626"/>
                  </a:ext>
                </a:extLst>
              </a:tr>
            </a:tbl>
          </a:graphicData>
        </a:graphic>
      </p:graphicFrame>
    </p:spTree>
    <p:extLst>
      <p:ext uri="{BB962C8B-B14F-4D97-AF65-F5344CB8AC3E}">
        <p14:creationId xmlns:p14="http://schemas.microsoft.com/office/powerpoint/2010/main" val="4125282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1.2.3 Expected Rates of Return</a:t>
            </a:r>
          </a:p>
        </p:txBody>
      </p:sp>
      <p:sp>
        <p:nvSpPr>
          <p:cNvPr id="3" name="Content Placeholder 2"/>
          <p:cNvSpPr>
            <a:spLocks noGrp="1"/>
          </p:cNvSpPr>
          <p:nvPr>
            <p:ph idx="1"/>
          </p:nvPr>
        </p:nvSpPr>
        <p:spPr/>
        <p:txBody>
          <a:bodyPr/>
          <a:lstStyle/>
          <a:p>
            <a:pPr algn="just"/>
            <a:r>
              <a:rPr lang="en-US" dirty="0"/>
              <a:t>Risk is the uncertainty that an investment will earn its expected rate of return. In the examples in the prior section, we examined realized historical rates of return. In contrast, an investor who is evaluating a future investment alternative expects or anticipates a certain rate of return</a:t>
            </a:r>
            <a:r>
              <a:rPr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2E53-06C1-B7BF-75FC-37F23C388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B98B9-270F-B03A-DE61-10AF56B8F6E1}"/>
              </a:ext>
            </a:extLst>
          </p:cNvPr>
          <p:cNvSpPr>
            <a:spLocks noGrp="1"/>
          </p:cNvSpPr>
          <p:nvPr>
            <p:ph type="title"/>
          </p:nvPr>
        </p:nvSpPr>
        <p:spPr/>
        <p:txBody>
          <a:bodyPr/>
          <a:lstStyle/>
          <a:p>
            <a:r>
              <a:t>1.2.3 Expected Rates of Return</a:t>
            </a:r>
          </a:p>
        </p:txBody>
      </p:sp>
      <p:sp>
        <p:nvSpPr>
          <p:cNvPr id="5" name="Content Placeholder 4">
            <a:extLst>
              <a:ext uri="{FF2B5EF4-FFF2-40B4-BE49-F238E27FC236}">
                <a16:creationId xmlns:a16="http://schemas.microsoft.com/office/drawing/2014/main" id="{0CDBEDF0-56FF-D8B4-3654-E3925DB0542D}"/>
              </a:ext>
            </a:extLst>
          </p:cNvPr>
          <p:cNvSpPr>
            <a:spLocks noGrp="1"/>
          </p:cNvSpPr>
          <p:nvPr>
            <p:ph idx="1"/>
          </p:nvPr>
        </p:nvSpPr>
        <p:spPr>
          <a:xfrm>
            <a:off x="457200" y="1600200"/>
            <a:ext cx="8229600" cy="1297379"/>
          </a:xfrm>
        </p:spPr>
        <p:txBody>
          <a:bodyPr>
            <a:normAutofit fontScale="92500" lnSpcReduction="20000"/>
          </a:bodyPr>
          <a:lstStyle/>
          <a:p>
            <a:pPr algn="just"/>
            <a:r>
              <a:rPr lang="en-US" dirty="0"/>
              <a:t>The investor might estimate probabilities for each of these economic scenarios based on past experience and the current outlook as follows:</a:t>
            </a:r>
          </a:p>
        </p:txBody>
      </p:sp>
      <p:pic>
        <p:nvPicPr>
          <p:cNvPr id="7" name="Picture 6">
            <a:extLst>
              <a:ext uri="{FF2B5EF4-FFF2-40B4-BE49-F238E27FC236}">
                <a16:creationId xmlns:a16="http://schemas.microsoft.com/office/drawing/2014/main" id="{74832988-5170-4F6D-D058-6212FDC4B469}"/>
              </a:ext>
            </a:extLst>
          </p:cNvPr>
          <p:cNvPicPr>
            <a:picLocks noChangeAspect="1"/>
          </p:cNvPicPr>
          <p:nvPr/>
        </p:nvPicPr>
        <p:blipFill>
          <a:blip r:embed="rId2"/>
          <a:stretch>
            <a:fillRect/>
          </a:stretch>
        </p:blipFill>
        <p:spPr>
          <a:xfrm>
            <a:off x="0" y="3330501"/>
            <a:ext cx="8904771" cy="1143000"/>
          </a:xfrm>
          <a:prstGeom prst="rect">
            <a:avLst/>
          </a:prstGeom>
        </p:spPr>
      </p:pic>
    </p:spTree>
    <p:extLst>
      <p:ext uri="{BB962C8B-B14F-4D97-AF65-F5344CB8AC3E}">
        <p14:creationId xmlns:p14="http://schemas.microsoft.com/office/powerpoint/2010/main" val="137650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1.2.4 Risk of Expected Returns</a:t>
            </a:r>
          </a:p>
        </p:txBody>
      </p:sp>
      <p:sp>
        <p:nvSpPr>
          <p:cNvPr id="3" name="Content Placeholder 2"/>
          <p:cNvSpPr>
            <a:spLocks noGrp="1"/>
          </p:cNvSpPr>
          <p:nvPr>
            <p:ph idx="1"/>
          </p:nvPr>
        </p:nvSpPr>
        <p:spPr/>
        <p:txBody>
          <a:bodyPr>
            <a:normAutofit lnSpcReduction="10000"/>
          </a:bodyPr>
          <a:lstStyle/>
          <a:p>
            <a:pPr algn="just"/>
            <a:r>
              <a:rPr lang="en-US" dirty="0"/>
              <a:t>Most investors want to quantify Risk of Expected Returns using statistical techniques. These statistical measures allow you to compare the return and risk measures for alternative investments directly. Two possible measures of risk (uncertainty) have received support in theoretical work on portfolio theory: the variance and the standard deviation of the estimated distribution of expected returns</a:t>
            </a:r>
            <a:r>
              <a:rPr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1.2.5 Historical Return Risk</a:t>
            </a:r>
          </a:p>
        </p:txBody>
      </p:sp>
      <p:sp>
        <p:nvSpPr>
          <p:cNvPr id="3" name="Content Placeholder 2"/>
          <p:cNvSpPr>
            <a:spLocks noGrp="1"/>
          </p:cNvSpPr>
          <p:nvPr>
            <p:ph idx="1"/>
          </p:nvPr>
        </p:nvSpPr>
        <p:spPr/>
        <p:txBody>
          <a:bodyPr/>
          <a:lstStyle/>
          <a:p>
            <a:pPr algn="just"/>
            <a:r>
              <a:rPr lang="en-US" dirty="0"/>
              <a:t>To measure the risk for a series of historical rates of returns, we use the same measures as for expected returns (variance and standard deviation) except that we consider the historical holding period yields </a:t>
            </a:r>
          </a:p>
          <a:p>
            <a:pPr algn="just"/>
            <a:r>
              <a:rPr lang="en-US" dirty="0"/>
              <a:t>Problem 5</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38F8-8891-5164-C235-0A68BEC3F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D9605-2AD0-7DDF-0EA5-E616898DDD44}"/>
              </a:ext>
            </a:extLst>
          </p:cNvPr>
          <p:cNvSpPr>
            <a:spLocks noGrp="1"/>
          </p:cNvSpPr>
          <p:nvPr>
            <p:ph type="title"/>
          </p:nvPr>
        </p:nvSpPr>
        <p:spPr/>
        <p:txBody>
          <a:bodyPr/>
          <a:lstStyle/>
          <a:p>
            <a:r>
              <a:rPr dirty="0"/>
              <a:t>1.2.</a:t>
            </a:r>
            <a:r>
              <a:rPr lang="en-US" dirty="0"/>
              <a:t>6</a:t>
            </a:r>
            <a:r>
              <a:rPr dirty="0"/>
              <a:t> </a:t>
            </a:r>
            <a:r>
              <a:rPr lang="en-US" dirty="0"/>
              <a:t>Coefficient of variation</a:t>
            </a:r>
            <a:endParaRPr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F15849-80A4-37F9-9A88-90C719032986}"/>
                  </a:ext>
                </a:extLst>
              </p:cNvPr>
              <p:cNvSpPr>
                <a:spLocks noGrp="1"/>
              </p:cNvSpPr>
              <p:nvPr>
                <p:ph idx="1"/>
              </p:nvPr>
            </p:nvSpPr>
            <p:spPr>
              <a:xfrm>
                <a:off x="457200" y="1600201"/>
                <a:ext cx="8229600" cy="2012576"/>
              </a:xfrm>
            </p:spPr>
            <p:txBody>
              <a:bodyPr/>
              <a:lstStyle/>
              <a:p>
                <a:pPr algn="just"/>
                <a14:m>
                  <m:oMath xmlns:m="http://schemas.openxmlformats.org/officeDocument/2006/math">
                    <m:r>
                      <m:rPr>
                        <m:sty m:val="p"/>
                      </m:rPr>
                      <a:rPr lang="en-US" sz="2600" i="0">
                        <a:latin typeface="Cambria Math" panose="02040503050406030204" pitchFamily="18" charset="0"/>
                      </a:rPr>
                      <m:t>Coefficient</m:t>
                    </m:r>
                    <m:r>
                      <a:rPr lang="en-US" sz="2600" i="0">
                        <a:latin typeface="Cambria Math" panose="02040503050406030204" pitchFamily="18" charset="0"/>
                      </a:rPr>
                      <m:t> </m:t>
                    </m:r>
                    <m:r>
                      <m:rPr>
                        <m:sty m:val="p"/>
                      </m:rPr>
                      <a:rPr lang="en-US" sz="2600" i="0">
                        <a:latin typeface="Cambria Math" panose="02040503050406030204" pitchFamily="18" charset="0"/>
                      </a:rPr>
                      <m:t>of</m:t>
                    </m:r>
                    <m:r>
                      <a:rPr lang="en-US" sz="2600" i="0">
                        <a:latin typeface="Cambria Math" panose="02040503050406030204" pitchFamily="18" charset="0"/>
                      </a:rPr>
                      <m:t> </m:t>
                    </m:r>
                    <m:r>
                      <m:rPr>
                        <m:sty m:val="p"/>
                      </m:rPr>
                      <a:rPr lang="en-US" sz="2600" i="0">
                        <a:latin typeface="Cambria Math" panose="02040503050406030204" pitchFamily="18" charset="0"/>
                      </a:rPr>
                      <m:t>Variation</m:t>
                    </m:r>
                    <m:r>
                      <a:rPr lang="en-US" sz="2600" i="0">
                        <a:latin typeface="Cambria Math" panose="02040503050406030204" pitchFamily="18" charset="0"/>
                      </a:rPr>
                      <m:t>=</m:t>
                    </m:r>
                    <m:f>
                      <m:fPr>
                        <m:ctrlPr>
                          <a:rPr lang="en-US" sz="2600" smtClean="0">
                            <a:latin typeface="Cambria Math" panose="02040503050406030204" pitchFamily="18" charset="0"/>
                          </a:rPr>
                        </m:ctrlPr>
                      </m:fPr>
                      <m:num>
                        <m:r>
                          <m:rPr>
                            <m:sty m:val="p"/>
                          </m:rPr>
                          <a:rPr lang="en-US" sz="2600" i="0">
                            <a:latin typeface="Cambria Math" panose="02040503050406030204" pitchFamily="18" charset="0"/>
                          </a:rPr>
                          <m:t>Standard</m:t>
                        </m:r>
                        <m:r>
                          <a:rPr lang="en-US" sz="2600" i="0">
                            <a:latin typeface="Cambria Math" panose="02040503050406030204" pitchFamily="18" charset="0"/>
                          </a:rPr>
                          <m:t> </m:t>
                        </m:r>
                        <m:r>
                          <m:rPr>
                            <m:sty m:val="p"/>
                          </m:rPr>
                          <a:rPr lang="en-US" sz="2600" i="0">
                            <a:latin typeface="Cambria Math" panose="02040503050406030204" pitchFamily="18" charset="0"/>
                          </a:rPr>
                          <m:t>Deviation</m:t>
                        </m:r>
                        <m:r>
                          <a:rPr lang="en-US" sz="2600" i="0">
                            <a:latin typeface="Cambria Math" panose="02040503050406030204" pitchFamily="18" charset="0"/>
                          </a:rPr>
                          <m:t> </m:t>
                        </m:r>
                        <m:r>
                          <m:rPr>
                            <m:sty m:val="p"/>
                          </m:rPr>
                          <a:rPr lang="en-US" sz="2600" i="0">
                            <a:latin typeface="Cambria Math" panose="02040503050406030204" pitchFamily="18" charset="0"/>
                          </a:rPr>
                          <m:t>of</m:t>
                        </m:r>
                        <m:r>
                          <a:rPr lang="en-US" sz="2600" i="0">
                            <a:latin typeface="Cambria Math" panose="02040503050406030204" pitchFamily="18" charset="0"/>
                          </a:rPr>
                          <m:t> </m:t>
                        </m:r>
                        <m:r>
                          <m:rPr>
                            <m:sty m:val="p"/>
                          </m:rPr>
                          <a:rPr lang="en-US" sz="2600" i="0">
                            <a:latin typeface="Cambria Math" panose="02040503050406030204" pitchFamily="18" charset="0"/>
                          </a:rPr>
                          <m:t>Returns</m:t>
                        </m:r>
                      </m:num>
                      <m:den>
                        <m:r>
                          <m:rPr>
                            <m:sty m:val="p"/>
                          </m:rPr>
                          <a:rPr lang="en-US" sz="2600" i="0">
                            <a:latin typeface="Cambria Math" panose="02040503050406030204" pitchFamily="18" charset="0"/>
                          </a:rPr>
                          <m:t>Expected</m:t>
                        </m:r>
                        <m:r>
                          <a:rPr lang="en-US" sz="2600" i="0">
                            <a:latin typeface="Cambria Math" panose="02040503050406030204" pitchFamily="18" charset="0"/>
                          </a:rPr>
                          <m:t> </m:t>
                        </m:r>
                        <m:r>
                          <m:rPr>
                            <m:sty m:val="p"/>
                          </m:rPr>
                          <a:rPr lang="en-US" sz="2600" i="0">
                            <a:latin typeface="Cambria Math" panose="02040503050406030204" pitchFamily="18" charset="0"/>
                          </a:rPr>
                          <m:t>Rate</m:t>
                        </m:r>
                        <m:r>
                          <a:rPr lang="en-US" sz="2600" i="0">
                            <a:latin typeface="Cambria Math" panose="02040503050406030204" pitchFamily="18" charset="0"/>
                          </a:rPr>
                          <m:t> </m:t>
                        </m:r>
                        <m:r>
                          <m:rPr>
                            <m:sty m:val="p"/>
                          </m:rPr>
                          <a:rPr lang="en-US" sz="2600" i="0">
                            <a:latin typeface="Cambria Math" panose="02040503050406030204" pitchFamily="18" charset="0"/>
                          </a:rPr>
                          <m:t>of</m:t>
                        </m:r>
                        <m:r>
                          <a:rPr lang="en-US" sz="2600" i="0">
                            <a:latin typeface="Cambria Math" panose="02040503050406030204" pitchFamily="18" charset="0"/>
                          </a:rPr>
                          <m:t> </m:t>
                        </m:r>
                        <m:r>
                          <m:rPr>
                            <m:sty m:val="p"/>
                          </m:rPr>
                          <a:rPr lang="en-US" sz="2600" i="0">
                            <a:latin typeface="Cambria Math" panose="02040503050406030204" pitchFamily="18" charset="0"/>
                          </a:rPr>
                          <m:t>Return</m:t>
                        </m:r>
                      </m:den>
                    </m:f>
                  </m:oMath>
                </a14:m>
                <a:endParaRPr lang="en-US" sz="2600" dirty="0"/>
              </a:p>
              <a:p>
                <a:pPr algn="just"/>
                <a:r>
                  <a:rPr lang="en-US" sz="2600" dirty="0"/>
                  <a:t>A larger value indicates greater dispersion relative to the arithmetic mean of the series</a:t>
                </a:r>
                <a:endParaRPr sz="2600" dirty="0"/>
              </a:p>
            </p:txBody>
          </p:sp>
        </mc:Choice>
        <mc:Fallback>
          <p:sp>
            <p:nvSpPr>
              <p:cNvPr id="3" name="Content Placeholder 2">
                <a:extLst>
                  <a:ext uri="{FF2B5EF4-FFF2-40B4-BE49-F238E27FC236}">
                    <a16:creationId xmlns:a16="http://schemas.microsoft.com/office/drawing/2014/main" id="{ECF15849-80A4-37F9-9A88-90C719032986}"/>
                  </a:ext>
                </a:extLst>
              </p:cNvPr>
              <p:cNvSpPr>
                <a:spLocks noGrp="1" noRot="1" noChangeAspect="1" noMove="1" noResize="1" noEditPoints="1" noAdjustHandles="1" noChangeArrowheads="1" noChangeShapeType="1" noTextEdit="1"/>
              </p:cNvSpPr>
              <p:nvPr>
                <p:ph idx="1"/>
              </p:nvPr>
            </p:nvSpPr>
            <p:spPr>
              <a:xfrm>
                <a:off x="457200" y="1600201"/>
                <a:ext cx="8229600" cy="2012576"/>
              </a:xfrm>
              <a:blipFill>
                <a:blip r:embed="rId2"/>
                <a:stretch>
                  <a:fillRect l="-1111" r="-1333"/>
                </a:stretch>
              </a:blipFill>
            </p:spPr>
            <p:txBody>
              <a:bodyPr/>
              <a:lstStyle/>
              <a:p>
                <a:r>
                  <a:rPr lang="en-US">
                    <a:noFill/>
                  </a:rPr>
                  <a:t> </a:t>
                </a:r>
              </a:p>
            </p:txBody>
          </p:sp>
        </mc:Fallback>
      </mc:AlternateContent>
    </p:spTree>
    <p:extLst>
      <p:ext uri="{BB962C8B-B14F-4D97-AF65-F5344CB8AC3E}">
        <p14:creationId xmlns:p14="http://schemas.microsoft.com/office/powerpoint/2010/main" val="2612069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t>1.3 Determinants of Required Rates of Return</a:t>
            </a:r>
          </a:p>
        </p:txBody>
      </p:sp>
      <p:sp>
        <p:nvSpPr>
          <p:cNvPr id="3" name="Content Placeholder 2"/>
          <p:cNvSpPr>
            <a:spLocks noGrp="1"/>
          </p:cNvSpPr>
          <p:nvPr>
            <p:ph idx="1"/>
          </p:nvPr>
        </p:nvSpPr>
        <p:spPr/>
        <p:txBody>
          <a:bodyPr>
            <a:normAutofit fontScale="92500" lnSpcReduction="10000"/>
          </a:bodyPr>
          <a:lstStyle/>
          <a:p>
            <a:pPr algn="just"/>
            <a:r>
              <a:rPr lang="en-US" dirty="0"/>
              <a:t>Securities provide a rate of return that compensates you for: (1) the time value of money during the period of investment, (2) the expected rate of inflation during the period, and (3) the risk involved.</a:t>
            </a:r>
          </a:p>
          <a:p>
            <a:pPr algn="just"/>
            <a:r>
              <a:rPr lang="en-US" dirty="0"/>
              <a:t>The summation of these three components is called the required rate of return. This is the minimum rate of return that you should accept from an investment to compensate you for deferring consumption</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64F78-D4F5-587F-66AB-FE9D4D70B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B1DA0-E94C-8FC7-B9CE-39C9FFD57521}"/>
              </a:ext>
            </a:extLst>
          </p:cNvPr>
          <p:cNvSpPr>
            <a:spLocks noGrp="1"/>
          </p:cNvSpPr>
          <p:nvPr>
            <p:ph type="title"/>
          </p:nvPr>
        </p:nvSpPr>
        <p:spPr/>
        <p:txBody>
          <a:bodyPr>
            <a:normAutofit/>
          </a:bodyPr>
          <a:lstStyle/>
          <a:p>
            <a:r>
              <a:rPr sz="3200" dirty="0"/>
              <a:t>1.3 Determinants of Required Rates of Return</a:t>
            </a:r>
          </a:p>
        </p:txBody>
      </p:sp>
      <p:sp>
        <p:nvSpPr>
          <p:cNvPr id="3" name="Content Placeholder 2">
            <a:extLst>
              <a:ext uri="{FF2B5EF4-FFF2-40B4-BE49-F238E27FC236}">
                <a16:creationId xmlns:a16="http://schemas.microsoft.com/office/drawing/2014/main" id="{8BB50D87-9444-A75D-138C-C8D34CE0E7AA}"/>
              </a:ext>
            </a:extLst>
          </p:cNvPr>
          <p:cNvSpPr>
            <a:spLocks noGrp="1"/>
          </p:cNvSpPr>
          <p:nvPr>
            <p:ph idx="1"/>
          </p:nvPr>
        </p:nvSpPr>
        <p:spPr/>
        <p:txBody>
          <a:bodyPr>
            <a:normAutofit/>
          </a:bodyPr>
          <a:lstStyle/>
          <a:p>
            <a:pPr algn="just"/>
            <a:r>
              <a:rPr lang="en-US" dirty="0"/>
              <a:t>The analysis and estimation of the required rate of return are complicated by the behavior of market rates over time. First, a wide range of rates is available for alternative investments at any time. Second, the rates of return on specific assets change dramatically over time. Third, the difference between the rates available (that is, the spread) on different assets changes over time</a:t>
            </a:r>
            <a:endParaRPr dirty="0"/>
          </a:p>
        </p:txBody>
      </p:sp>
    </p:spTree>
    <p:extLst>
      <p:ext uri="{BB962C8B-B14F-4D97-AF65-F5344CB8AC3E}">
        <p14:creationId xmlns:p14="http://schemas.microsoft.com/office/powerpoint/2010/main" val="4055802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0E9A6-A452-7622-758B-C279BCC82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BD328-D157-0CBA-7E19-AA1FAC008FAD}"/>
              </a:ext>
            </a:extLst>
          </p:cNvPr>
          <p:cNvSpPr>
            <a:spLocks noGrp="1"/>
          </p:cNvSpPr>
          <p:nvPr>
            <p:ph type="title"/>
          </p:nvPr>
        </p:nvSpPr>
        <p:spPr>
          <a:xfrm>
            <a:off x="213756" y="274638"/>
            <a:ext cx="8752114" cy="1143000"/>
          </a:xfrm>
        </p:spPr>
        <p:txBody>
          <a:bodyPr>
            <a:normAutofit/>
          </a:bodyPr>
          <a:lstStyle/>
          <a:p>
            <a:r>
              <a:rPr sz="3200" dirty="0"/>
              <a:t>1.3 Determinants of Required Rates of Return</a:t>
            </a:r>
          </a:p>
        </p:txBody>
      </p:sp>
      <p:pic>
        <p:nvPicPr>
          <p:cNvPr id="9" name="Picture 8">
            <a:extLst>
              <a:ext uri="{FF2B5EF4-FFF2-40B4-BE49-F238E27FC236}">
                <a16:creationId xmlns:a16="http://schemas.microsoft.com/office/drawing/2014/main" id="{606ECE6C-3A1D-C053-6D54-4BA6EE1D7CF5}"/>
              </a:ext>
            </a:extLst>
          </p:cNvPr>
          <p:cNvPicPr>
            <a:picLocks noChangeAspect="1"/>
          </p:cNvPicPr>
          <p:nvPr/>
        </p:nvPicPr>
        <p:blipFill>
          <a:blip r:embed="rId2"/>
          <a:stretch>
            <a:fillRect/>
          </a:stretch>
        </p:blipFill>
        <p:spPr>
          <a:xfrm>
            <a:off x="213756" y="2664685"/>
            <a:ext cx="8901225" cy="1528630"/>
          </a:xfrm>
          <a:prstGeom prst="rect">
            <a:avLst/>
          </a:prstGeom>
        </p:spPr>
      </p:pic>
    </p:spTree>
    <p:extLst>
      <p:ext uri="{BB962C8B-B14F-4D97-AF65-F5344CB8AC3E}">
        <p14:creationId xmlns:p14="http://schemas.microsoft.com/office/powerpoint/2010/main" val="318989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1.3.1 Real Risk-Free Rate</a:t>
            </a:r>
          </a:p>
        </p:txBody>
      </p:sp>
      <p:sp>
        <p:nvSpPr>
          <p:cNvPr id="3" name="Content Placeholder 2"/>
          <p:cNvSpPr>
            <a:spLocks noGrp="1"/>
          </p:cNvSpPr>
          <p:nvPr>
            <p:ph idx="1"/>
          </p:nvPr>
        </p:nvSpPr>
        <p:spPr/>
        <p:txBody>
          <a:bodyPr/>
          <a:lstStyle/>
          <a:p>
            <a:pPr algn="just"/>
            <a:r>
              <a:rPr lang="en-US" dirty="0"/>
              <a:t>The real risk-free rate (RRFR) is the basic interest rate, assuming no inflation and no uncertainty about future flows. An investor in an inflation-free economy who knew with certainty what cash flows he or she would receive at what time would demand the RRFR on an investment</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1.3.2 Nominal Risk-Free Rate</a:t>
            </a:r>
          </a:p>
        </p:txBody>
      </p:sp>
      <p:sp>
        <p:nvSpPr>
          <p:cNvPr id="3" name="Content Placeholder 2"/>
          <p:cNvSpPr>
            <a:spLocks noGrp="1"/>
          </p:cNvSpPr>
          <p:nvPr>
            <p:ph idx="1"/>
          </p:nvPr>
        </p:nvSpPr>
        <p:spPr/>
        <p:txBody>
          <a:bodyPr/>
          <a:lstStyle/>
          <a:p>
            <a:r>
              <a:rPr lang="en-US" dirty="0"/>
              <a:t>Nominal rates of interest are determined by real rates of interest, plus factors that will affect the nominal rate of interest, such as conditions in the Capital Market and the expected rate of inflation</a:t>
            </a:r>
            <a:r>
              <a:rPr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4C41-71F1-1ABC-EC38-0B7EF9C0F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A33F6-0423-A9C8-6AE1-5FEEF5616756}"/>
              </a:ext>
            </a:extLst>
          </p:cNvPr>
          <p:cNvSpPr>
            <a:spLocks noGrp="1"/>
          </p:cNvSpPr>
          <p:nvPr>
            <p:ph type="title"/>
          </p:nvPr>
        </p:nvSpPr>
        <p:spPr/>
        <p:txBody>
          <a:bodyPr/>
          <a:lstStyle/>
          <a:p>
            <a:r>
              <a:t>1.3.2 Nominal Risk-Free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27B8FD-5A6E-3CFB-4D86-A0E01B81F2E5}"/>
                  </a:ext>
                </a:extLst>
              </p:cNvPr>
              <p:cNvSpPr>
                <a:spLocks noGrp="1"/>
              </p:cNvSpPr>
              <p:nvPr>
                <p:ph idx="1"/>
              </p:nvPr>
            </p:nvSpPr>
            <p:spPr/>
            <p:txBody>
              <a:bodyPr/>
              <a:lstStyle/>
              <a:p>
                <a:pPr marL="0" indent="0">
                  <a:buNone/>
                </a:pPr>
                <a:r>
                  <a:rPr lang="en-US" dirty="0"/>
                  <a:t>Real Risk-free Rate = </a:t>
                </a:r>
                <a14:m>
                  <m:oMath xmlns:m="http://schemas.openxmlformats.org/officeDocument/2006/math">
                    <m:f>
                      <m:fPr>
                        <m:ctrlPr>
                          <a:rPr lang="ar-AE"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 </m:t>
                        </m:r>
                        <m:r>
                          <a:rPr lang="ar-AE" b="0" i="1" smtClean="0">
                            <a:latin typeface="Cambria Math" panose="02040503050406030204" pitchFamily="18" charset="0"/>
                          </a:rPr>
                          <m:t>𝑁</m:t>
                        </m:r>
                        <m:r>
                          <a:rPr lang="en-US" b="0" i="1" smtClean="0">
                            <a:latin typeface="Cambria Math" panose="02040503050406030204" pitchFamily="18" charset="0"/>
                          </a:rPr>
                          <m:t>𝑜𝑚𝑖𝑛𝑎𝑙</m:t>
                        </m:r>
                        <m:r>
                          <a:rPr lang="ar-AE" i="1">
                            <a:latin typeface="Cambria Math" panose="02040503050406030204" pitchFamily="18" charset="0"/>
                          </a:rPr>
                          <m:t> </m:t>
                        </m:r>
                        <m:r>
                          <a:rPr lang="ar-AE" i="1">
                            <a:latin typeface="Cambria Math" panose="02040503050406030204" pitchFamily="18" charset="0"/>
                          </a:rPr>
                          <m:t>𝑅𝑖𝑠𝑘</m:t>
                        </m:r>
                        <m:r>
                          <a:rPr lang="ar-AE" i="1">
                            <a:latin typeface="Cambria Math" panose="02040503050406030204" pitchFamily="18" charset="0"/>
                          </a:rPr>
                          <m:t>−</m:t>
                        </m:r>
                        <m:r>
                          <a:rPr lang="ar-AE" i="1">
                            <a:latin typeface="Cambria Math" panose="02040503050406030204" pitchFamily="18" charset="0"/>
                          </a:rPr>
                          <m:t>𝑓𝑟𝑒𝑒</m:t>
                        </m:r>
                        <m:r>
                          <a:rPr lang="ar-AE" i="1">
                            <a:latin typeface="Cambria Math" panose="02040503050406030204" pitchFamily="18" charset="0"/>
                          </a:rPr>
                          <m:t> </m:t>
                        </m:r>
                        <m:r>
                          <a:rPr lang="ar-AE" i="1">
                            <a:latin typeface="Cambria Math" panose="02040503050406030204" pitchFamily="18" charset="0"/>
                          </a:rPr>
                          <m:t>𝑅𝑎𝑡𝑒</m:t>
                        </m:r>
                      </m:num>
                      <m:den>
                        <m:r>
                          <a:rPr lang="en-US" b="0" i="1" smtClean="0">
                            <a:latin typeface="Cambria Math" panose="02040503050406030204" pitchFamily="18" charset="0"/>
                          </a:rPr>
                          <m:t>1</m:t>
                        </m:r>
                        <m:r>
                          <a:rPr lang="en-US" b="0" i="1" smtClean="0">
                            <a:latin typeface="Cambria Math" panose="02040503050406030204" pitchFamily="18" charset="0"/>
                          </a:rPr>
                          <m:t>+ </m:t>
                        </m:r>
                        <m:r>
                          <a:rPr lang="ar-AE" i="1">
                            <a:latin typeface="Cambria Math" panose="02040503050406030204" pitchFamily="18" charset="0"/>
                          </a:rPr>
                          <m:t>𝑅𝑎𝑡𝑒</m:t>
                        </m:r>
                        <m:r>
                          <a:rPr lang="ar-AE" i="1">
                            <a:latin typeface="Cambria Math" panose="02040503050406030204" pitchFamily="18" charset="0"/>
                          </a:rPr>
                          <m:t> </m:t>
                        </m:r>
                        <m:r>
                          <a:rPr lang="ar-AE" i="1">
                            <a:latin typeface="Cambria Math" panose="02040503050406030204" pitchFamily="18" charset="0"/>
                          </a:rPr>
                          <m:t>𝑜𝑓</m:t>
                        </m:r>
                        <m:r>
                          <a:rPr lang="ar-AE" i="1">
                            <a:latin typeface="Cambria Math" panose="02040503050406030204" pitchFamily="18" charset="0"/>
                          </a:rPr>
                          <m:t> </m:t>
                        </m:r>
                        <m:r>
                          <a:rPr lang="ar-AE" i="1">
                            <a:latin typeface="Cambria Math" panose="02040503050406030204" pitchFamily="18" charset="0"/>
                          </a:rPr>
                          <m:t>𝐼𝑛𝑓𝑙𝑎𝑡𝑖𝑜𝑛</m:t>
                        </m:r>
                      </m:den>
                    </m:f>
                  </m:oMath>
                </a14:m>
                <a:r>
                  <a:rPr lang="en-US" dirty="0"/>
                  <a:t> -1</a:t>
                </a:r>
              </a:p>
              <a:p>
                <a:pPr marL="0" indent="0">
                  <a:buNone/>
                </a:pPr>
                <a:endParaRPr lang="en-US" sz="2800" dirty="0"/>
              </a:p>
              <a:p>
                <a:pPr marL="0" indent="0">
                  <a:buNone/>
                </a:pPr>
                <a:r>
                  <a:rPr lang="en-US" sz="2800" dirty="0"/>
                  <a:t>To see how this works, assume that the nominal return on U.S. government T-bills was 9 percent during a given year, when the rate of inflation was 5 percent</a:t>
                </a:r>
                <a:endParaRPr sz="2800" dirty="0"/>
              </a:p>
            </p:txBody>
          </p:sp>
        </mc:Choice>
        <mc:Fallback xmlns="">
          <p:sp>
            <p:nvSpPr>
              <p:cNvPr id="3" name="Content Placeholder 2">
                <a:extLst>
                  <a:ext uri="{FF2B5EF4-FFF2-40B4-BE49-F238E27FC236}">
                    <a16:creationId xmlns:a16="http://schemas.microsoft.com/office/drawing/2014/main" id="{8F27B8FD-5A6E-3CFB-4D86-A0E01B81F2E5}"/>
                  </a:ext>
                </a:extLst>
              </p:cNvPr>
              <p:cNvSpPr>
                <a:spLocks noGrp="1" noRot="1" noChangeAspect="1" noMove="1" noResize="1" noEditPoints="1" noAdjustHandles="1" noChangeArrowheads="1" noChangeShapeType="1" noTextEdit="1"/>
              </p:cNvSpPr>
              <p:nvPr>
                <p:ph idx="1"/>
              </p:nvPr>
            </p:nvSpPr>
            <p:spPr>
              <a:blipFill>
                <a:blip r:embed="rId2"/>
                <a:stretch>
                  <a:fillRect l="-1852" r="-1926"/>
                </a:stretch>
              </a:blipFill>
            </p:spPr>
            <p:txBody>
              <a:bodyPr/>
              <a:lstStyle/>
              <a:p>
                <a:r>
                  <a:rPr lang="en-US">
                    <a:noFill/>
                  </a:rPr>
                  <a:t> </a:t>
                </a:r>
              </a:p>
            </p:txBody>
          </p:sp>
        </mc:Fallback>
      </mc:AlternateContent>
    </p:spTree>
    <p:extLst>
      <p:ext uri="{BB962C8B-B14F-4D97-AF65-F5344CB8AC3E}">
        <p14:creationId xmlns:p14="http://schemas.microsoft.com/office/powerpoint/2010/main" val="1158170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1.3.3 Risk Premium</a:t>
            </a:r>
          </a:p>
        </p:txBody>
      </p:sp>
      <p:sp>
        <p:nvSpPr>
          <p:cNvPr id="3" name="Content Placeholder 2"/>
          <p:cNvSpPr>
            <a:spLocks noGrp="1"/>
          </p:cNvSpPr>
          <p:nvPr>
            <p:ph idx="1"/>
          </p:nvPr>
        </p:nvSpPr>
        <p:spPr/>
        <p:txBody>
          <a:bodyPr>
            <a:normAutofit fontScale="92500" lnSpcReduction="10000"/>
          </a:bodyPr>
          <a:lstStyle/>
          <a:p>
            <a:pPr algn="just"/>
            <a:r>
              <a:rPr lang="en-US" dirty="0"/>
              <a:t>Investments can range in uncertainty from basically risk-free securities, such as T-bills, to highly speculative investments, such as the common stock of small companies engaged in high-risk enterprises</a:t>
            </a:r>
            <a:r>
              <a:rPr dirty="0"/>
              <a:t>.</a:t>
            </a:r>
            <a:endParaRPr lang="en-US" dirty="0"/>
          </a:p>
          <a:p>
            <a:pPr algn="just"/>
            <a:r>
              <a:rPr lang="en-US" dirty="0"/>
              <a:t>Most investors require higher rates of return on investments if they perceive that there is any uncertainty about the expected rate of return. This increase in the required rate of return over the Nominal Risk-Free Rate is the risk premium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23CAB-D495-D56C-A6EC-9CA003467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48174-299B-94B5-579D-577FBBA5DC51}"/>
              </a:ext>
            </a:extLst>
          </p:cNvPr>
          <p:cNvSpPr>
            <a:spLocks noGrp="1"/>
          </p:cNvSpPr>
          <p:nvPr>
            <p:ph type="title"/>
          </p:nvPr>
        </p:nvSpPr>
        <p:spPr/>
        <p:txBody>
          <a:bodyPr/>
          <a:lstStyle/>
          <a:p>
            <a:r>
              <a:t>1.3.3 Risk Premium</a:t>
            </a:r>
          </a:p>
        </p:txBody>
      </p:sp>
      <p:sp>
        <p:nvSpPr>
          <p:cNvPr id="3" name="Content Placeholder 2">
            <a:extLst>
              <a:ext uri="{FF2B5EF4-FFF2-40B4-BE49-F238E27FC236}">
                <a16:creationId xmlns:a16="http://schemas.microsoft.com/office/drawing/2014/main" id="{E72DCDDF-C142-76A7-FDF5-5597E02CD0A8}"/>
              </a:ext>
            </a:extLst>
          </p:cNvPr>
          <p:cNvSpPr>
            <a:spLocks noGrp="1"/>
          </p:cNvSpPr>
          <p:nvPr>
            <p:ph idx="1"/>
          </p:nvPr>
        </p:nvSpPr>
        <p:spPr/>
        <p:txBody>
          <a:bodyPr>
            <a:normAutofit fontScale="92500" lnSpcReduction="20000"/>
          </a:bodyPr>
          <a:lstStyle/>
          <a:p>
            <a:pPr algn="just"/>
            <a:r>
              <a:rPr lang="en-US" dirty="0"/>
              <a:t>The major sources of uncertainty include: (1) business risk, (2) financial risk (leverage), (3) liquidity risk, (4) exchange rate risk, and (5) country (political) risk</a:t>
            </a:r>
          </a:p>
          <a:p>
            <a:pPr algn="just"/>
            <a:r>
              <a:rPr lang="en-US" dirty="0"/>
              <a:t>Business risk is the uncertainty of income flows caused by the nature of a firm’s business. The less certain the income flows of the firm, the less certain the income flows to the investor. Therefore, the investor will demand a risk premium that is based on the uncertainty caused by the basic business of the firm</a:t>
            </a:r>
            <a:endParaRPr dirty="0"/>
          </a:p>
        </p:txBody>
      </p:sp>
    </p:spTree>
    <p:extLst>
      <p:ext uri="{BB962C8B-B14F-4D97-AF65-F5344CB8AC3E}">
        <p14:creationId xmlns:p14="http://schemas.microsoft.com/office/powerpoint/2010/main" val="2745751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69B7A-DE21-D36E-5F46-EA90142EE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72CB7-5CDA-81EC-2EEB-B00EDCC459CA}"/>
              </a:ext>
            </a:extLst>
          </p:cNvPr>
          <p:cNvSpPr>
            <a:spLocks noGrp="1"/>
          </p:cNvSpPr>
          <p:nvPr>
            <p:ph type="title"/>
          </p:nvPr>
        </p:nvSpPr>
        <p:spPr/>
        <p:txBody>
          <a:bodyPr/>
          <a:lstStyle/>
          <a:p>
            <a:r>
              <a:t>1.3.3 Risk Premium</a:t>
            </a:r>
          </a:p>
        </p:txBody>
      </p:sp>
      <p:sp>
        <p:nvSpPr>
          <p:cNvPr id="3" name="Content Placeholder 2">
            <a:extLst>
              <a:ext uri="{FF2B5EF4-FFF2-40B4-BE49-F238E27FC236}">
                <a16:creationId xmlns:a16="http://schemas.microsoft.com/office/drawing/2014/main" id="{413602AE-AFBD-167E-CDE8-D7F8A90871AC}"/>
              </a:ext>
            </a:extLst>
          </p:cNvPr>
          <p:cNvSpPr>
            <a:spLocks noGrp="1"/>
          </p:cNvSpPr>
          <p:nvPr>
            <p:ph idx="1"/>
          </p:nvPr>
        </p:nvSpPr>
        <p:spPr/>
        <p:txBody>
          <a:bodyPr>
            <a:normAutofit lnSpcReduction="10000"/>
          </a:bodyPr>
          <a:lstStyle/>
          <a:p>
            <a:pPr algn="just"/>
            <a:r>
              <a:rPr lang="en-US" dirty="0"/>
              <a:t>Financial risk is the uncertainty introduced by the method by which the firm finances its investments. If a firm uses only common stock to finance investments, it incurs only business risk. If a firm borrows money to finance investments, it must pay fixed financing charges (in the form of interest to creditors) prior to providing income to the common stockholders, so the uncertainty of returns to the equity investor increases</a:t>
            </a:r>
            <a:endParaRPr dirty="0"/>
          </a:p>
        </p:txBody>
      </p:sp>
    </p:spTree>
    <p:extLst>
      <p:ext uri="{BB962C8B-B14F-4D97-AF65-F5344CB8AC3E}">
        <p14:creationId xmlns:p14="http://schemas.microsoft.com/office/powerpoint/2010/main" val="3246319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CFE5-239B-A08E-80CD-005B3DAC0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839CF-FD7F-ED59-D25B-EBC63F414770}"/>
              </a:ext>
            </a:extLst>
          </p:cNvPr>
          <p:cNvSpPr>
            <a:spLocks noGrp="1"/>
          </p:cNvSpPr>
          <p:nvPr>
            <p:ph type="title"/>
          </p:nvPr>
        </p:nvSpPr>
        <p:spPr/>
        <p:txBody>
          <a:bodyPr/>
          <a:lstStyle/>
          <a:p>
            <a:r>
              <a:t>1.3.3 Risk Premium</a:t>
            </a:r>
          </a:p>
        </p:txBody>
      </p:sp>
      <p:sp>
        <p:nvSpPr>
          <p:cNvPr id="3" name="Content Placeholder 2">
            <a:extLst>
              <a:ext uri="{FF2B5EF4-FFF2-40B4-BE49-F238E27FC236}">
                <a16:creationId xmlns:a16="http://schemas.microsoft.com/office/drawing/2014/main" id="{E627CC8A-6C3B-7255-A6C0-D7D4C6D5DD99}"/>
              </a:ext>
            </a:extLst>
          </p:cNvPr>
          <p:cNvSpPr>
            <a:spLocks noGrp="1"/>
          </p:cNvSpPr>
          <p:nvPr>
            <p:ph idx="1"/>
          </p:nvPr>
        </p:nvSpPr>
        <p:spPr/>
        <p:txBody>
          <a:bodyPr>
            <a:normAutofit fontScale="92500" lnSpcReduction="10000"/>
          </a:bodyPr>
          <a:lstStyle/>
          <a:p>
            <a:pPr algn="just"/>
            <a:r>
              <a:rPr lang="en-US" dirty="0"/>
              <a:t>Liquidity risk is the uncertainty introduced by the secondary market for an investment. When an investor acquires an asset, he or she expects that the investment will mature (as with a bond) or that it will be salable to someone else. In either case, the investor expects to be able to convert the security into cash and use the proceeds for current consumption or other investments. The more difficult it is to make this conversion to cash, the greater the liquidity risk</a:t>
            </a:r>
            <a:endParaRPr dirty="0"/>
          </a:p>
        </p:txBody>
      </p:sp>
    </p:spTree>
    <p:extLst>
      <p:ext uri="{BB962C8B-B14F-4D97-AF65-F5344CB8AC3E}">
        <p14:creationId xmlns:p14="http://schemas.microsoft.com/office/powerpoint/2010/main" val="3993863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41960-6AEA-AB39-6C30-307029B89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10875-46FA-495F-D4F6-1821C1DA6DBF}"/>
              </a:ext>
            </a:extLst>
          </p:cNvPr>
          <p:cNvSpPr>
            <a:spLocks noGrp="1"/>
          </p:cNvSpPr>
          <p:nvPr>
            <p:ph type="title"/>
          </p:nvPr>
        </p:nvSpPr>
        <p:spPr/>
        <p:txBody>
          <a:bodyPr/>
          <a:lstStyle/>
          <a:p>
            <a:r>
              <a:t>1.3.3 Risk Premium</a:t>
            </a:r>
          </a:p>
        </p:txBody>
      </p:sp>
      <p:sp>
        <p:nvSpPr>
          <p:cNvPr id="3" name="Content Placeholder 2">
            <a:extLst>
              <a:ext uri="{FF2B5EF4-FFF2-40B4-BE49-F238E27FC236}">
                <a16:creationId xmlns:a16="http://schemas.microsoft.com/office/drawing/2014/main" id="{CC277BBF-E0BB-C0F5-B47E-A7871DEFF8DC}"/>
              </a:ext>
            </a:extLst>
          </p:cNvPr>
          <p:cNvSpPr>
            <a:spLocks noGrp="1"/>
          </p:cNvSpPr>
          <p:nvPr>
            <p:ph idx="1"/>
          </p:nvPr>
        </p:nvSpPr>
        <p:spPr/>
        <p:txBody>
          <a:bodyPr>
            <a:normAutofit fontScale="92500" lnSpcReduction="20000"/>
          </a:bodyPr>
          <a:lstStyle/>
          <a:p>
            <a:pPr algn="just"/>
            <a:r>
              <a:rPr lang="en-US" dirty="0"/>
              <a:t>Exchange rate risk is the uncertainty of returns to an investor who acquires securities denominated in a currency different from his or her own. The likelihood of incurring this risk is becoming greater as investors buy and sell assets around the world, as opposed to only assets within their own countries.</a:t>
            </a:r>
          </a:p>
          <a:p>
            <a:pPr algn="just"/>
            <a:r>
              <a:rPr lang="en-US" dirty="0"/>
              <a:t>Country risk, also called political risk, is the uncertainty of returns caused by the possibility of a major change in the political or economic environment of a country</a:t>
            </a:r>
          </a:p>
        </p:txBody>
      </p:sp>
    </p:spTree>
    <p:extLst>
      <p:ext uri="{BB962C8B-B14F-4D97-AF65-F5344CB8AC3E}">
        <p14:creationId xmlns:p14="http://schemas.microsoft.com/office/powerpoint/2010/main" val="1566403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1.3.4 Risk Premium and Portfolio Theory</a:t>
            </a:r>
          </a:p>
        </p:txBody>
      </p:sp>
      <p:sp>
        <p:nvSpPr>
          <p:cNvPr id="3" name="Content Placeholder 2"/>
          <p:cNvSpPr>
            <a:spLocks noGrp="1"/>
          </p:cNvSpPr>
          <p:nvPr>
            <p:ph idx="1"/>
          </p:nvPr>
        </p:nvSpPr>
        <p:spPr>
          <a:xfrm>
            <a:off x="273132" y="1223158"/>
            <a:ext cx="8562110" cy="5510151"/>
          </a:xfrm>
        </p:spPr>
        <p:txBody>
          <a:bodyPr>
            <a:normAutofit fontScale="92500" lnSpcReduction="20000"/>
          </a:bodyPr>
          <a:lstStyle/>
          <a:p>
            <a:pPr algn="just"/>
            <a:r>
              <a:rPr lang="en-US" dirty="0"/>
              <a:t>An alternative view of risk has been derived from extensive work in portfolio theory and capital market theory.</a:t>
            </a:r>
          </a:p>
          <a:p>
            <a:pPr algn="just"/>
            <a:r>
              <a:rPr lang="en-US" dirty="0"/>
              <a:t>Under a specified set of assumptions, all rational, profit-maximizing investors want to hold a completely diversified market portfolio of risky assets, and they borrow or lend to arrive at a risk level that is consistent with their risk preferences. Under these conditions, they showed that the relevant risk measure for an individual asset is its </a:t>
            </a:r>
            <a:r>
              <a:rPr lang="en-US" dirty="0" err="1"/>
              <a:t>comovement</a:t>
            </a:r>
            <a:r>
              <a:rPr lang="en-US" dirty="0"/>
              <a:t> with the market portfolio. This </a:t>
            </a:r>
            <a:r>
              <a:rPr lang="en-US" dirty="0" err="1"/>
              <a:t>comovement</a:t>
            </a:r>
            <a:r>
              <a:rPr lang="en-US" dirty="0"/>
              <a:t>, which is measured by an asset’s covariance with the market portfolio, is referred to as an asset’s systematic risk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1.4 Relationship Between Risk and Return</a:t>
            </a:r>
          </a:p>
        </p:txBody>
      </p:sp>
      <p:sp>
        <p:nvSpPr>
          <p:cNvPr id="3" name="Content Placeholder 2"/>
          <p:cNvSpPr>
            <a:spLocks noGrp="1"/>
          </p:cNvSpPr>
          <p:nvPr>
            <p:ph idx="1"/>
          </p:nvPr>
        </p:nvSpPr>
        <p:spPr/>
        <p:txBody>
          <a:bodyPr>
            <a:normAutofit fontScale="92500" lnSpcReduction="20000"/>
          </a:bodyPr>
          <a:lstStyle/>
          <a:p>
            <a:pPr algn="just"/>
            <a:r>
              <a:rPr lang="en-US" dirty="0"/>
              <a:t>Investors increase their required rates of return as perceived risk (uncertainty) increases. The line that reflects the combination of risk and returns available on alternative investments is referred to as the security market line (SML). The SML reflects the risk-return combinations available for all risky assets in the capital market at a given time. Investors would select investments that are consistent with their risk preferences; some would consider only low-risk investments, whereas others welcome high-risk investments</a:t>
            </a:r>
            <a:r>
              <a:rPr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A84C-4D1F-E78B-A50E-8DC3C7BBE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8120C-F0FB-121B-2308-754B37CA2331}"/>
              </a:ext>
            </a:extLst>
          </p:cNvPr>
          <p:cNvSpPr>
            <a:spLocks noGrp="1"/>
          </p:cNvSpPr>
          <p:nvPr>
            <p:ph type="title"/>
          </p:nvPr>
        </p:nvSpPr>
        <p:spPr/>
        <p:txBody>
          <a:bodyPr>
            <a:normAutofit/>
          </a:bodyPr>
          <a:lstStyle/>
          <a:p>
            <a:r>
              <a:rPr sz="3600" dirty="0"/>
              <a:t>1.4 Relationship Between Risk and Return</a:t>
            </a:r>
          </a:p>
        </p:txBody>
      </p:sp>
      <p:pic>
        <p:nvPicPr>
          <p:cNvPr id="7" name="Picture 6">
            <a:extLst>
              <a:ext uri="{FF2B5EF4-FFF2-40B4-BE49-F238E27FC236}">
                <a16:creationId xmlns:a16="http://schemas.microsoft.com/office/drawing/2014/main" id="{383C9A50-CAB9-3DC1-8B1F-49413CB55ED2}"/>
              </a:ext>
            </a:extLst>
          </p:cNvPr>
          <p:cNvPicPr>
            <a:picLocks noChangeAspect="1"/>
          </p:cNvPicPr>
          <p:nvPr/>
        </p:nvPicPr>
        <p:blipFill>
          <a:blip r:embed="rId2"/>
          <a:stretch>
            <a:fillRect/>
          </a:stretch>
        </p:blipFill>
        <p:spPr>
          <a:xfrm>
            <a:off x="691737" y="1234638"/>
            <a:ext cx="7760525" cy="5087304"/>
          </a:xfrm>
          <a:prstGeom prst="rect">
            <a:avLst/>
          </a:prstGeom>
        </p:spPr>
      </p:pic>
    </p:spTree>
    <p:extLst>
      <p:ext uri="{BB962C8B-B14F-4D97-AF65-F5344CB8AC3E}">
        <p14:creationId xmlns:p14="http://schemas.microsoft.com/office/powerpoint/2010/main" val="813642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1791</Words>
  <Application>Microsoft Office PowerPoint</Application>
  <PresentationFormat>On-screen Show (4:3)</PresentationFormat>
  <Paragraphs>95</Paragraphs>
  <Slides>32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Arial</vt:lpstr>
      <vt:lpstr>Calibri</vt:lpstr>
      <vt:lpstr>Calibri Light</vt:lpstr>
      <vt:lpstr>Cambria Math</vt:lpstr>
      <vt:lpstr>Times New Roman</vt:lpstr>
      <vt:lpstr>Wingdings</vt:lpstr>
      <vt:lpstr>Office Theme</vt:lpstr>
      <vt:lpstr>1_Office Theme</vt:lpstr>
      <vt:lpstr>Portfolio Management</vt:lpstr>
      <vt:lpstr>Chapter 1: The Investment Setting</vt:lpstr>
      <vt:lpstr>1.1 What is an Investment?</vt:lpstr>
      <vt:lpstr>1.1.1 Investment Defined</vt:lpstr>
      <vt:lpstr>1.1.1 Investment Defined</vt:lpstr>
      <vt:lpstr>1.1.1 Investment Defined</vt:lpstr>
      <vt:lpstr>1.1.1 Investment Defined</vt:lpstr>
      <vt:lpstr>1.2 Measures of Return and Risk</vt:lpstr>
      <vt:lpstr>1.2.1 Measures of Historical Rates of Return</vt:lpstr>
      <vt:lpstr>1.2.1 Measures of Historical Rates of Return</vt:lpstr>
      <vt:lpstr>1.2.2 Computing Mean Historical Returns</vt:lpstr>
      <vt:lpstr>1.2.2 Computing Mean Historical Returns</vt:lpstr>
      <vt:lpstr>1.2.2 Computing Mean Historical Returns</vt:lpstr>
      <vt:lpstr>1.2.3 Expected Rates of Return</vt:lpstr>
      <vt:lpstr>1.2.3 Expected Rates of Return</vt:lpstr>
      <vt:lpstr>1.2.4 Risk of Expected Returns</vt:lpstr>
      <vt:lpstr>1.2.5 Historical Return Risk</vt:lpstr>
      <vt:lpstr>1.2.6 Coefficient of variation</vt:lpstr>
      <vt:lpstr>1.3 Determinants of Required Rates of Return</vt:lpstr>
      <vt:lpstr>1.3 Determinants of Required Rates of Return</vt:lpstr>
      <vt:lpstr>1.3 Determinants of Required Rates of Return</vt:lpstr>
      <vt:lpstr>1.3.1 Real Risk-Free Rate</vt:lpstr>
      <vt:lpstr>1.3.2 Nominal Risk-Free Rate</vt:lpstr>
      <vt:lpstr>1.3.2 Nominal Risk-Free Rate</vt:lpstr>
      <vt:lpstr>1.3.3 Risk Premium</vt:lpstr>
      <vt:lpstr>1.3.3 Risk Premium</vt:lpstr>
      <vt:lpstr>1.3.3 Risk Premium</vt:lpstr>
      <vt:lpstr>1.3.3 Risk Premium</vt:lpstr>
      <vt:lpstr>1.3.3 Risk Premium</vt:lpstr>
      <vt:lpstr>1.3.4 Risk Premium and Portfolio Theory</vt:lpstr>
      <vt:lpstr>1.4 Relationship Between Risk and Return</vt:lpstr>
      <vt:lpstr>1.4 Relationship Between Risk and Return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 Quy. Duong</cp:lastModifiedBy>
  <cp:revision>16</cp:revision>
  <dcterms:created xsi:type="dcterms:W3CDTF">2013-01-27T09:14:16Z</dcterms:created>
  <dcterms:modified xsi:type="dcterms:W3CDTF">2026-07-31T07:13:22Z</dcterms:modified>
  <cp:category/>
</cp:coreProperties>
</file>