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658368"/>
            <a:ext cx="10881360" cy="0"/>
          </a:xfrm>
          <a:prstGeom prst="line">
            <a:avLst/>
          </a:prstGeom>
          <a:ln w="3175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13232" y="1033271"/>
            <a:ext cx="5577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B18B3F"/>
                </a:solidFill>
                <a:latin typeface="Arial"/>
              </a:defRPr>
            </a:pPr>
            <a:r>
              <a:t>PORTFOLIO MANAGEMENT  / 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91640"/>
            <a:ext cx="877824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3500" b="1" i="0">
                <a:solidFill>
                  <a:srgbClr val="262220"/>
                </a:solidFill>
                <a:latin typeface="Georgia"/>
              </a:defRPr>
            </a:pPr>
            <a:r>
              <a:t>A new value strategy in the UK stock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456432"/>
            <a:ext cx="667512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900" b="0" i="0">
                <a:solidFill>
                  <a:srgbClr val="625E59"/>
                </a:solidFill>
                <a:latin typeface="Arial"/>
              </a:defRPr>
            </a:pPr>
            <a:r>
              <a:t>Understanding the accounting signal behind the return spread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9808" y="4873752"/>
            <a:ext cx="3136392" cy="0"/>
          </a:xfrm>
          <a:prstGeom prst="line">
            <a:avLst/>
          </a:prstGeom>
          <a:ln w="1270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5074920"/>
            <a:ext cx="65836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262220"/>
                </a:solidFill>
                <a:latin typeface="Arial"/>
              </a:defRPr>
            </a:pPr>
            <a:r>
              <a:t>Le Quy Duong  ·  Journal of Economic Studies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650992"/>
            <a:ext cx="80467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 i="0">
                <a:solidFill>
                  <a:srgbClr val="625E59"/>
                </a:solidFill>
                <a:latin typeface="Arial"/>
              </a:defRPr>
            </a:pPr>
            <a:r>
              <a:t>Presenters: [Name 1]  ·  [Name 2]  ·  [Name 3]     |     [Presentation date]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1874519"/>
            <a:ext cx="2331720" cy="2148840"/>
          </a:xfrm>
          <a:prstGeom prst="rect">
            <a:avLst/>
          </a:prstGeom>
          <a:noFill/>
          <a:ln w="12700">
            <a:solidFill>
              <a:srgbClr val="D9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157984"/>
            <a:ext cx="1783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 i="0">
                <a:solidFill>
                  <a:srgbClr val="625E59"/>
                </a:solidFill>
                <a:latin typeface="Arial"/>
              </a:defRPr>
            </a:pPr>
            <a:r>
              <a:t>OPERATING PROFIT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17152" y="2697480"/>
            <a:ext cx="1463040" cy="0"/>
          </a:xfrm>
          <a:prstGeom prst="line">
            <a:avLst/>
          </a:prstGeom>
          <a:ln w="1905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052560" y="2862072"/>
            <a:ext cx="1783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 i="0">
                <a:solidFill>
                  <a:srgbClr val="625E59"/>
                </a:solidFill>
                <a:latin typeface="Arial"/>
              </a:defRPr>
            </a:pPr>
            <a:r>
              <a:t>ACCRUALS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17152" y="3383280"/>
            <a:ext cx="1463040" cy="0"/>
          </a:xfrm>
          <a:prstGeom prst="line">
            <a:avLst/>
          </a:prstGeom>
          <a:ln w="1905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52560" y="3529584"/>
            <a:ext cx="1783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 i="0">
                <a:solidFill>
                  <a:srgbClr val="625E59"/>
                </a:solidFill>
                <a:latin typeface="Arial"/>
              </a:defRPr>
            </a:pPr>
            <a:r>
              <a:t>MARKET VALUE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6419088"/>
            <a:ext cx="10808208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9808" y="6464808"/>
            <a:ext cx="104241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40" b="0" i="0">
                <a:solidFill>
                  <a:srgbClr val="625E59"/>
                </a:solidFill>
                <a:latin typeface="Arial"/>
              </a:defRPr>
            </a:pPr>
            <a:r>
              <a:t>Focal paper: “A new value strategy in the UK stock market” · DOI 10.1108/JES-03-2025-0190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25E5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274320"/>
            <a:ext cx="11311128" cy="0"/>
          </a:xfrm>
          <a:prstGeom prst="line">
            <a:avLst/>
          </a:prstGeom>
          <a:ln w="2540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338328"/>
            <a:ext cx="10881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B18B3F"/>
                </a:solidFill>
                <a:latin typeface="Arial"/>
              </a:defRPr>
            </a:pPr>
            <a:r>
              <a:t>THE ANSWER IN ONE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600" b="1" i="0">
                <a:solidFill>
                  <a:srgbClr val="262220"/>
                </a:solidFill>
                <a:latin typeface="Georgia"/>
              </a:defRPr>
            </a:pPr>
            <a:r>
              <a:t>CBOP/M recovers a UK value premium that B/M largely lost after 2006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2823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30" b="0" i="0">
                <a:solidFill>
                  <a:srgbClr val="625E59"/>
                </a:solidFill>
                <a:latin typeface="Arial"/>
              </a:defRPr>
            </a:pPr>
            <a:r>
              <a:t>Source: Duong (2025), Abstract; Tables 3 and 6, PDF pp. 1, 8, 12.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25E59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47088"/>
            <a:ext cx="32461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3800" b="1" i="0">
                <a:solidFill>
                  <a:srgbClr val="2E6E9E"/>
                </a:solidFill>
                <a:latin typeface="Georgia"/>
              </a:defRPr>
            </a:pPr>
            <a:r>
              <a:t>0.18%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06624"/>
            <a:ext cx="3218688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  <a:defRPr sz="1400" b="0" i="0">
                <a:solidFill>
                  <a:srgbClr val="262220"/>
                </a:solidFill>
                <a:latin typeface="Arial"/>
              </a:defRPr>
            </a:pPr>
            <a:r>
              <a:t>B/M spread per month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62220"/>
                </a:solidFill>
                <a:latin typeface="Arial"/>
              </a:defRPr>
            </a:pPr>
            <a:r>
              <a:t>2006–2024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42816" y="1874519"/>
            <a:ext cx="0" cy="1874520"/>
          </a:xfrm>
          <a:prstGeom prst="line">
            <a:avLst/>
          </a:prstGeom>
          <a:ln w="1270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25696" y="1847088"/>
            <a:ext cx="32461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3800" b="1" i="0">
                <a:solidFill>
                  <a:srgbClr val="B18B3F"/>
                </a:solidFill>
                <a:latin typeface="Georgia"/>
              </a:defRPr>
            </a:pPr>
            <a:r>
              <a:t>1.175%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696" y="2706624"/>
            <a:ext cx="3218688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  <a:defRPr sz="1400" b="0" i="0">
                <a:solidFill>
                  <a:srgbClr val="262220"/>
                </a:solidFill>
                <a:latin typeface="Arial"/>
              </a:defRPr>
            </a:pPr>
            <a:r>
              <a:t>CBOP/M high–low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62220"/>
                </a:solidFill>
                <a:latin typeface="Arial"/>
              </a:defRPr>
            </a:pPr>
            <a:r>
              <a:t>per month · t = 3.615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10144" y="1874519"/>
            <a:ext cx="0" cy="1874520"/>
          </a:xfrm>
          <a:prstGeom prst="line">
            <a:avLst/>
          </a:prstGeom>
          <a:ln w="1270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93024" y="1847088"/>
            <a:ext cx="32461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3800" b="1" i="0">
                <a:solidFill>
                  <a:srgbClr val="9E2F50"/>
                </a:solidFill>
                <a:latin typeface="Georgia"/>
              </a:defRPr>
            </a:pPr>
            <a:r>
              <a:t>Not tested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706624"/>
            <a:ext cx="3218688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  <a:defRPr sz="1400" b="0" i="0">
                <a:solidFill>
                  <a:srgbClr val="262220"/>
                </a:solidFill>
                <a:latin typeface="Arial"/>
              </a:defRPr>
            </a:pPr>
            <a:r>
              <a:t>Net return after costs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62220"/>
                </a:solidFill>
                <a:latin typeface="Arial"/>
              </a:defRPr>
            </a:pPr>
            <a:r>
              <a:t>and shorting frictions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3858768"/>
            <a:ext cx="10817352" cy="0"/>
          </a:xfrm>
          <a:prstGeom prst="line">
            <a:avLst/>
          </a:prstGeom>
          <a:ln w="1270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4224528"/>
            <a:ext cx="107899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300" b="1" i="0">
                <a:solidFill>
                  <a:srgbClr val="262220"/>
                </a:solidFill>
                <a:latin typeface="Georgia"/>
              </a:defRPr>
            </a:pPr>
            <a:r>
              <a:t>The accounting definition of value matters.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818888"/>
            <a:ext cx="106070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700" b="0" i="0">
                <a:solidFill>
                  <a:srgbClr val="625E59"/>
                </a:solidFill>
                <a:latin typeface="Arial"/>
              </a:defRPr>
            </a:pPr>
            <a:r>
              <a:t>The evidence is strong in this sample; it does not establish a frictionless, investable strategy.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274320"/>
            <a:ext cx="11311128" cy="0"/>
          </a:xfrm>
          <a:prstGeom prst="line">
            <a:avLst/>
          </a:prstGeom>
          <a:ln w="2540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338328"/>
            <a:ext cx="10881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B18B3F"/>
                </a:solidFill>
                <a:latin typeface="Arial"/>
              </a:defRPr>
            </a:pPr>
            <a:r>
              <a:t>CONVENTIONAL VALUE · REGIME AND LEGS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600" b="1" i="0">
                <a:solidFill>
                  <a:srgbClr val="262220"/>
                </a:solidFill>
                <a:latin typeface="Georgia"/>
              </a:defRPr>
            </a:pPr>
            <a:r>
              <a:t>B/M weakened after 2006; its full-period spread leaned on the short leg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2823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30" b="0" i="0">
                <a:solidFill>
                  <a:srgbClr val="625E59"/>
                </a:solidFill>
                <a:latin typeface="Arial"/>
              </a:defRPr>
            </a:pPr>
            <a:r>
              <a:t>Source: Duong (2025), Figure 1; Table 3, PDF pp. 8, 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25E5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81912"/>
            <a:ext cx="54406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625E59"/>
                </a:solidFill>
                <a:latin typeface="Arial"/>
              </a:defRPr>
            </a:pPr>
            <a:r>
              <a:t>SUBPERIOD HIGH-MINUS-LOW RETURNS · MONTHLY (%)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78608"/>
            <a:ext cx="65836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1000" b="1" i="0">
                <a:solidFill>
                  <a:srgbClr val="2E6E9E"/>
                </a:solidFill>
                <a:latin typeface="Arial"/>
              </a:defRPr>
            </a:pPr>
            <a:r>
              <a:t>B/M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7320" y="3200400"/>
            <a:ext cx="4507992" cy="0"/>
          </a:xfrm>
          <a:prstGeom prst="line">
            <a:avLst/>
          </a:prstGeom>
          <a:ln w="1016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37360" y="2705404"/>
            <a:ext cx="393192" cy="494995"/>
          </a:xfrm>
          <a:prstGeom prst="rect">
            <a:avLst/>
          </a:prstGeom>
          <a:solidFill>
            <a:srgbClr val="2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1" y="2504236"/>
            <a:ext cx="6217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40" b="1" i="0">
                <a:solidFill>
                  <a:srgbClr val="262220"/>
                </a:solidFill>
                <a:latin typeface="Arial"/>
              </a:defRPr>
            </a:pPr>
            <a:r>
              <a:t>3.08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87752" y="3200400"/>
            <a:ext cx="393192" cy="86784"/>
          </a:xfrm>
          <a:prstGeom prst="rect">
            <a:avLst/>
          </a:prstGeom>
          <a:solidFill>
            <a:srgbClr val="9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78024" y="3305472"/>
            <a:ext cx="6217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40" b="1" i="0">
                <a:solidFill>
                  <a:srgbClr val="262220"/>
                </a:solidFill>
                <a:latin typeface="Arial"/>
              </a:defRPr>
            </a:pPr>
            <a:r>
              <a:t>-0.54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38144" y="3155400"/>
            <a:ext cx="393192" cy="44999"/>
          </a:xfrm>
          <a:prstGeom prst="rect">
            <a:avLst/>
          </a:prstGeom>
          <a:solidFill>
            <a:srgbClr val="2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8415" y="2954232"/>
            <a:ext cx="6217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40" b="1" i="0">
                <a:solidFill>
                  <a:srgbClr val="262220"/>
                </a:solidFill>
                <a:latin typeface="Arial"/>
              </a:defRPr>
            </a:pPr>
            <a:r>
              <a:t>0.28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88536" y="3103972"/>
            <a:ext cx="393192" cy="96427"/>
          </a:xfrm>
          <a:prstGeom prst="rect">
            <a:avLst/>
          </a:prstGeom>
          <a:solidFill>
            <a:srgbClr val="2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78807" y="2902804"/>
            <a:ext cx="6217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40" b="1" i="0">
                <a:solidFill>
                  <a:srgbClr val="262220"/>
                </a:solidFill>
                <a:latin typeface="Arial"/>
              </a:defRPr>
            </a:pPr>
            <a:r>
              <a:t>0.60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38928" y="3124865"/>
            <a:ext cx="393192" cy="75534"/>
          </a:xfrm>
          <a:prstGeom prst="rect">
            <a:avLst/>
          </a:prstGeom>
          <a:solidFill>
            <a:srgbClr val="2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2923697"/>
            <a:ext cx="6217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40" b="1" i="0">
                <a:solidFill>
                  <a:srgbClr val="262220"/>
                </a:solidFill>
                <a:latin typeface="Arial"/>
              </a:defRPr>
            </a:pPr>
            <a:r>
              <a:t>0.47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13632"/>
            <a:ext cx="65836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1000" b="1" i="0">
                <a:solidFill>
                  <a:srgbClr val="B18B3F"/>
                </a:solidFill>
                <a:latin typeface="Arial"/>
              </a:defRPr>
            </a:pPr>
            <a:r>
              <a:t>CBOP/M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417320" y="4443984"/>
            <a:ext cx="4507992" cy="0"/>
          </a:xfrm>
          <a:prstGeom prst="line">
            <a:avLst/>
          </a:prstGeom>
          <a:ln w="1016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737360" y="4197096"/>
            <a:ext cx="393192" cy="246888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1" y="3995928"/>
            <a:ext cx="6217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40" b="1" i="0">
                <a:solidFill>
                  <a:srgbClr val="262220"/>
                </a:solidFill>
                <a:latin typeface="Arial"/>
              </a:defRPr>
            </a:pPr>
            <a:r>
              <a:t>0.90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1" y="4553712"/>
            <a:ext cx="6217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80" b="0" i="0">
                <a:solidFill>
                  <a:srgbClr val="625E59"/>
                </a:solidFill>
                <a:latin typeface="Arial"/>
              </a:defRPr>
            </a:pPr>
            <a:r>
              <a:t>00–05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87752" y="4172407"/>
            <a:ext cx="393192" cy="271576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78024" y="3971239"/>
            <a:ext cx="6217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40" b="1" i="0">
                <a:solidFill>
                  <a:srgbClr val="262220"/>
                </a:solidFill>
                <a:latin typeface="Arial"/>
              </a:defRPr>
            </a:pPr>
            <a:r>
              <a:t>0.99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78024" y="4553712"/>
            <a:ext cx="6217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80" b="0" i="0">
                <a:solidFill>
                  <a:srgbClr val="625E59"/>
                </a:solidFill>
                <a:latin typeface="Arial"/>
              </a:defRPr>
            </a:pPr>
            <a:r>
              <a:t>06–10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38144" y="3928262"/>
            <a:ext cx="393192" cy="515721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28415" y="3727094"/>
            <a:ext cx="6217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40" b="1" i="0">
                <a:solidFill>
                  <a:srgbClr val="262220"/>
                </a:solidFill>
                <a:latin typeface="Arial"/>
              </a:defRPr>
            </a:pPr>
            <a:r>
              <a:t>1.88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28415" y="4553712"/>
            <a:ext cx="6217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80" b="0" i="0">
                <a:solidFill>
                  <a:srgbClr val="625E59"/>
                </a:solidFill>
                <a:latin typeface="Arial"/>
              </a:defRPr>
            </a:pPr>
            <a:r>
              <a:t>11–15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88536" y="4188866"/>
            <a:ext cx="393192" cy="255117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78807" y="3987698"/>
            <a:ext cx="6217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40" b="1" i="0">
                <a:solidFill>
                  <a:srgbClr val="262220"/>
                </a:solidFill>
                <a:latin typeface="Arial"/>
              </a:defRPr>
            </a:pPr>
            <a:r>
              <a:t>0.93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78807" y="4553712"/>
            <a:ext cx="6217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80" b="0" i="0">
                <a:solidFill>
                  <a:srgbClr val="625E59"/>
                </a:solidFill>
                <a:latin typeface="Arial"/>
              </a:defRPr>
            </a:pPr>
            <a:r>
              <a:t>16–20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38928" y="4147718"/>
            <a:ext cx="393192" cy="296265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3946550"/>
            <a:ext cx="6217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40" b="1" i="0">
                <a:solidFill>
                  <a:srgbClr val="262220"/>
                </a:solidFill>
                <a:latin typeface="Arial"/>
              </a:defRPr>
            </a:pPr>
            <a:r>
              <a:t>1.08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553712"/>
            <a:ext cx="6217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80" b="0" i="0">
                <a:solidFill>
                  <a:srgbClr val="625E59"/>
                </a:solidFill>
                <a:latin typeface="Arial"/>
              </a:defRPr>
            </a:pPr>
            <a:r>
              <a:t>21–24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65392" y="1600200"/>
            <a:ext cx="0" cy="3474720"/>
          </a:xfrm>
          <a:prstGeom prst="line">
            <a:avLst/>
          </a:prstGeom>
          <a:ln w="1270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839712" y="1581912"/>
            <a:ext cx="42976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625E59"/>
                </a:solidFill>
                <a:latin typeface="Arial"/>
              </a:defRPr>
            </a:pPr>
            <a:r>
              <a:t>FULL SAMPLE · MONTHLY RETURN (%)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491472" y="2130552"/>
            <a:ext cx="0" cy="2240280"/>
          </a:xfrm>
          <a:prstGeom prst="line">
            <a:avLst/>
          </a:prstGeom>
          <a:ln w="13970">
            <a:solidFill>
              <a:srgbClr val="625E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58000" y="228600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262220"/>
                </a:solidFill>
                <a:latin typeface="Arial"/>
              </a:defRPr>
            </a:pPr>
            <a:r>
              <a:t>High B/M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91472" y="2249424"/>
            <a:ext cx="322729" cy="256032"/>
          </a:xfrm>
          <a:prstGeom prst="rect">
            <a:avLst/>
          </a:prstGeom>
          <a:solidFill>
            <a:srgbClr val="2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87353" y="2240280"/>
            <a:ext cx="82296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262220"/>
                </a:solidFill>
                <a:latin typeface="Arial"/>
              </a:defRPr>
            </a:pPr>
            <a:r>
              <a:t>+0.150%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71632" y="2258568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60" b="0" i="0">
                <a:solidFill>
                  <a:srgbClr val="625E59"/>
                </a:solidFill>
                <a:latin typeface="Arial"/>
              </a:defRPr>
            </a:pPr>
            <a:r>
              <a:t>t 0.386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301752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262220"/>
                </a:solidFill>
                <a:latin typeface="Arial"/>
              </a:defRPr>
            </a:pPr>
            <a:r>
              <a:t>Low B/M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14493" y="2980944"/>
            <a:ext cx="1376978" cy="256032"/>
          </a:xfrm>
          <a:prstGeom prst="rect">
            <a:avLst/>
          </a:prstGeom>
          <a:solidFill>
            <a:srgbClr val="9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64685" y="2971800"/>
            <a:ext cx="82296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262220"/>
                </a:solidFill>
                <a:latin typeface="Arial"/>
              </a:defRPr>
            </a:pPr>
            <a:r>
              <a:t>-0.640%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71632" y="2990087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60" b="0" i="0">
                <a:solidFill>
                  <a:srgbClr val="625E59"/>
                </a:solidFill>
                <a:latin typeface="Arial"/>
              </a:defRPr>
            </a:pPr>
            <a:r>
              <a:t>t −1.670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374904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262220"/>
                </a:solidFill>
                <a:latin typeface="Arial"/>
              </a:defRPr>
            </a:pPr>
            <a:r>
              <a:t>H − 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91472" y="3712464"/>
            <a:ext cx="1699708" cy="256032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264332" y="3703320"/>
            <a:ext cx="82296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262220"/>
                </a:solidFill>
                <a:latin typeface="Arial"/>
              </a:defRPr>
            </a:pPr>
            <a:r>
              <a:t>+0.790%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71632" y="3721608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60" b="0" i="0">
                <a:solidFill>
                  <a:srgbClr val="625E59"/>
                </a:solidFill>
                <a:latin typeface="Arial"/>
              </a:defRPr>
            </a:pPr>
            <a:r>
              <a:t>t 2.312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76288" y="4645152"/>
            <a:ext cx="4480560" cy="585216"/>
          </a:xfrm>
          <a:prstGeom prst="rect">
            <a:avLst/>
          </a:prstGeom>
          <a:solidFill>
            <a:srgbClr val="F5E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22592" y="4736592"/>
            <a:ext cx="418795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262220"/>
                </a:solidFill>
                <a:latin typeface="Georgia"/>
              </a:defRPr>
            </a:pPr>
            <a:r>
              <a:t>B/M after 2006: +0.18% per month.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5193792"/>
            <a:ext cx="57607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50" b="0" i="0">
                <a:solidFill>
                  <a:srgbClr val="625E59"/>
                </a:solidFill>
                <a:latin typeface="Arial"/>
              </a:defRPr>
            </a:pPr>
            <a:r>
              <a:t>The 2000–05 mean was 3.08%; later periods are far weaker.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274320"/>
            <a:ext cx="11311128" cy="0"/>
          </a:xfrm>
          <a:prstGeom prst="line">
            <a:avLst/>
          </a:prstGeom>
          <a:ln w="2540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338328"/>
            <a:ext cx="10881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B18B3F"/>
                </a:solidFill>
                <a:latin typeface="Arial"/>
              </a:defRPr>
            </a:pPr>
            <a:r>
              <a:t>CONTRIBUTION AND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900" b="1" i="0">
                <a:solidFill>
                  <a:srgbClr val="262220"/>
                </a:solidFill>
                <a:latin typeface="Georgia"/>
              </a:defRPr>
            </a:pPr>
            <a:r>
              <a:t>Research lineage: HML, CBOP, Wang, and the UK extension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2823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30" b="0" i="0">
                <a:solidFill>
                  <a:srgbClr val="625E59"/>
                </a:solidFill>
                <a:latin typeface="Arial"/>
              </a:defRPr>
            </a:pPr>
            <a:r>
              <a:t>Source: Duong (2025), Section 2, PDF pp. 2–3; external references in Appendix A4.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25E59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2331720" cy="960120"/>
          </a:xfrm>
          <a:prstGeom prst="rect">
            <a:avLst/>
          </a:prstGeom>
          <a:solidFill>
            <a:srgbClr val="FBF8F3"/>
          </a:solidFill>
          <a:ln w="12700">
            <a:solidFill>
              <a:srgbClr val="D9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847088"/>
            <a:ext cx="64008" cy="960120"/>
          </a:xfrm>
          <a:prstGeom prst="rect">
            <a:avLst/>
          </a:prstGeom>
          <a:solidFill>
            <a:srgbClr val="2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65960"/>
            <a:ext cx="2075687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262220"/>
                </a:solidFill>
                <a:latin typeface="Arial"/>
              </a:defRPr>
            </a:pPr>
            <a:r>
              <a:t>Fama–French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13432"/>
            <a:ext cx="207568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  <a:defRPr sz="960" b="0" i="0">
                <a:solidFill>
                  <a:srgbClr val="625E59"/>
                </a:solidFill>
                <a:latin typeface="Arial"/>
              </a:defRPr>
            </a:pPr>
            <a:r>
              <a:t>B/M and HML establish</a:t>
            </a:r>
          </a:p>
          <a:p>
            <a:pPr algn="l">
              <a:spcAft>
                <a:spcPts val="100"/>
              </a:spcAft>
              <a:defRPr sz="960" b="0" i="0">
                <a:solidFill>
                  <a:srgbClr val="625E59"/>
                </a:solidFill>
                <a:latin typeface="Arial"/>
              </a:defRPr>
            </a:pPr>
            <a:r>
              <a:t>the benchmark.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328416"/>
            <a:ext cx="2331720" cy="960120"/>
          </a:xfrm>
          <a:prstGeom prst="rect">
            <a:avLst/>
          </a:prstGeom>
          <a:solidFill>
            <a:srgbClr val="FBF8F3"/>
          </a:solidFill>
          <a:ln w="12700">
            <a:solidFill>
              <a:srgbClr val="D9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328416"/>
            <a:ext cx="64008" cy="96012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447288"/>
            <a:ext cx="2075687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262220"/>
                </a:solidFill>
                <a:latin typeface="Arial"/>
              </a:defRPr>
            </a:pPr>
            <a:r>
              <a:t>Ball et al. (2016)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794760"/>
            <a:ext cx="2075687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  <a:defRPr sz="960" b="0" i="0">
                <a:solidFill>
                  <a:srgbClr val="625E59"/>
                </a:solidFill>
                <a:latin typeface="Arial"/>
              </a:defRPr>
            </a:pPr>
            <a:r>
              <a:t>Accrual-adjusted</a:t>
            </a:r>
          </a:p>
          <a:p>
            <a:pPr algn="l">
              <a:spcAft>
                <a:spcPts val="100"/>
              </a:spcAft>
              <a:defRPr sz="960" b="0" i="0">
                <a:solidFill>
                  <a:srgbClr val="625E59"/>
                </a:solidFill>
                <a:latin typeface="Arial"/>
              </a:defRPr>
            </a:pPr>
            <a:r>
              <a:t>operating profitability.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2587752"/>
            <a:ext cx="2514600" cy="1078992"/>
          </a:xfrm>
          <a:prstGeom prst="rect">
            <a:avLst/>
          </a:prstGeom>
          <a:solidFill>
            <a:srgbClr val="F5E9D9"/>
          </a:solidFill>
          <a:ln w="12700">
            <a:solidFill>
              <a:srgbClr val="D9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0" y="2587752"/>
            <a:ext cx="64008" cy="1078992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86784" y="2706624"/>
            <a:ext cx="22585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262220"/>
                </a:solidFill>
                <a:latin typeface="Arial"/>
              </a:defRPr>
            </a:pPr>
            <a:r>
              <a:t>Wang (2024) · 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6784" y="3054096"/>
            <a:ext cx="2258568" cy="5577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  <a:defRPr sz="1000" b="0" i="0">
                <a:solidFill>
                  <a:srgbClr val="625E59"/>
                </a:solidFill>
                <a:latin typeface="Arial"/>
              </a:defRPr>
            </a:pPr>
            <a:r>
              <a:t>CBOP / price strategy</a:t>
            </a:r>
          </a:p>
          <a:p>
            <a:pPr algn="l">
              <a:spcAft>
                <a:spcPts val="100"/>
              </a:spcAft>
              <a:defRPr sz="1000" b="0" i="0">
                <a:solidFill>
                  <a:srgbClr val="625E59"/>
                </a:solidFill>
                <a:latin typeface="Arial"/>
              </a:defRPr>
            </a:pPr>
            <a:r>
              <a:t>provides closest prior.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96912" y="2587752"/>
            <a:ext cx="2331720" cy="1078992"/>
          </a:xfrm>
          <a:prstGeom prst="rect">
            <a:avLst/>
          </a:prstGeom>
          <a:solidFill>
            <a:srgbClr val="EAD7B0"/>
          </a:solidFill>
          <a:ln w="12700">
            <a:solidFill>
              <a:srgbClr val="B18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96912" y="2587752"/>
            <a:ext cx="64008" cy="1078992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3216" y="2706624"/>
            <a:ext cx="2075687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262220"/>
                </a:solidFill>
                <a:latin typeface="Arial"/>
              </a:defRPr>
            </a:pPr>
            <a:r>
              <a:t>Duong · 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6" y="3054096"/>
            <a:ext cx="2075687" cy="5577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  <a:defRPr sz="1000" b="0" i="0">
                <a:solidFill>
                  <a:srgbClr val="625E59"/>
                </a:solidFill>
                <a:latin typeface="Arial"/>
              </a:defRPr>
            </a:pPr>
            <a:r>
              <a:t>Tests UK returns, NVF,</a:t>
            </a:r>
          </a:p>
          <a:p>
            <a:pPr algn="l">
              <a:spcAft>
                <a:spcPts val="100"/>
              </a:spcAft>
              <a:defRPr sz="1000" b="0" i="0">
                <a:solidFill>
                  <a:srgbClr val="625E59"/>
                </a:solidFill>
                <a:latin typeface="Arial"/>
              </a:defRPr>
            </a:pPr>
            <a:r>
              <a:t>spanning and model fit.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13848" y="2212848"/>
            <a:ext cx="1417320" cy="1847088"/>
          </a:xfrm>
          <a:prstGeom prst="rect">
            <a:avLst/>
          </a:prstGeom>
          <a:solidFill>
            <a:srgbClr val="FBF8F3"/>
          </a:solidFill>
          <a:ln w="12700">
            <a:solidFill>
              <a:srgbClr val="D9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13848" y="2212848"/>
            <a:ext cx="64008" cy="1847088"/>
          </a:xfrm>
          <a:prstGeom prst="rect">
            <a:avLst/>
          </a:prstGeom>
          <a:solidFill>
            <a:srgbClr val="9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60152" y="2331720"/>
            <a:ext cx="116128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262220"/>
                </a:solidFill>
                <a:latin typeface="Arial"/>
              </a:defRPr>
            </a:pPr>
            <a:r>
              <a:t>Next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0152" y="2679191"/>
            <a:ext cx="1161288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  <a:defRPr sz="919" b="0" i="0">
                <a:solidFill>
                  <a:srgbClr val="625E59"/>
                </a:solidFill>
                <a:latin typeface="Arial"/>
              </a:defRPr>
            </a:pPr>
            <a:r>
              <a:t>Costs &amp; capacity</a:t>
            </a:r>
          </a:p>
          <a:p>
            <a:pPr algn="l">
              <a:spcAft>
                <a:spcPts val="100"/>
              </a:spcAft>
              <a:defRPr sz="919" b="0" i="0">
                <a:solidFill>
                  <a:srgbClr val="625E59"/>
                </a:solidFill>
                <a:latin typeface="Arial"/>
              </a:defRPr>
            </a:pPr>
          </a:p>
          <a:p>
            <a:pPr algn="l">
              <a:spcAft>
                <a:spcPts val="100"/>
              </a:spcAft>
              <a:defRPr sz="919" b="0" i="0">
                <a:solidFill>
                  <a:srgbClr val="625E59"/>
                </a:solidFill>
                <a:latin typeface="Arial"/>
              </a:defRPr>
            </a:pPr>
            <a:r>
              <a:t>Accounting /</a:t>
            </a:r>
          </a:p>
          <a:p>
            <a:pPr algn="l">
              <a:spcAft>
                <a:spcPts val="100"/>
              </a:spcAft>
              <a:defRPr sz="919" b="0" i="0">
                <a:solidFill>
                  <a:srgbClr val="625E59"/>
                </a:solidFill>
                <a:latin typeface="Arial"/>
              </a:defRPr>
            </a:pPr>
            <a:r>
              <a:t>intangibles</a:t>
            </a:r>
          </a:p>
          <a:p>
            <a:pPr algn="l">
              <a:spcAft>
                <a:spcPts val="100"/>
              </a:spcAft>
              <a:defRPr sz="919" b="0" i="0">
                <a:solidFill>
                  <a:srgbClr val="625E59"/>
                </a:solidFill>
                <a:latin typeface="Arial"/>
              </a:defRPr>
            </a:pPr>
          </a:p>
          <a:p>
            <a:pPr algn="l">
              <a:spcAft>
                <a:spcPts val="100"/>
              </a:spcAft>
              <a:defRPr sz="919" b="0" i="0">
                <a:solidFill>
                  <a:srgbClr val="625E59"/>
                </a:solidFill>
                <a:latin typeface="Arial"/>
              </a:defRPr>
            </a:pPr>
            <a:r>
              <a:t>Holdout / markets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898648" y="2322576"/>
            <a:ext cx="941832" cy="621792"/>
          </a:xfrm>
          <a:prstGeom prst="line">
            <a:avLst/>
          </a:prstGeom>
          <a:ln w="21590">
            <a:solidFill>
              <a:srgbClr val="2E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898648" y="3310128"/>
            <a:ext cx="941832" cy="457200"/>
          </a:xfrm>
          <a:prstGeom prst="line">
            <a:avLst/>
          </a:prstGeom>
          <a:ln w="2159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355080" y="3127248"/>
            <a:ext cx="941832" cy="0"/>
          </a:xfrm>
          <a:prstGeom prst="line">
            <a:avLst/>
          </a:prstGeom>
          <a:ln w="2159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628632" y="3127248"/>
            <a:ext cx="585216" cy="0"/>
          </a:xfrm>
          <a:prstGeom prst="line">
            <a:avLst/>
          </a:prstGeom>
          <a:ln w="2159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76656" y="4937760"/>
            <a:ext cx="9052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262220"/>
                </a:solidFill>
                <a:latin typeface="Georgia"/>
              </a:defRPr>
            </a:pPr>
            <a:r>
              <a:t>The UK study extends the market evidence; the core CBOP/M idea predates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274320"/>
            <a:ext cx="11311128" cy="0"/>
          </a:xfrm>
          <a:prstGeom prst="line">
            <a:avLst/>
          </a:prstGeom>
          <a:ln w="2540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338328"/>
            <a:ext cx="10881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B18B3F"/>
                </a:solidFill>
                <a:latin typeface="Arial"/>
              </a:defRPr>
            </a:pPr>
            <a:r>
              <a:t>THE ACCOUNTING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900" b="1" i="0">
                <a:solidFill>
                  <a:srgbClr val="262220"/>
                </a:solidFill>
                <a:latin typeface="Georgia"/>
              </a:defRPr>
            </a:pPr>
            <a:r>
              <a:t>CBOP/M adds working-capital information to operating profit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2823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30" b="0" i="0">
                <a:solidFill>
                  <a:srgbClr val="625E59"/>
                </a:solidFill>
                <a:latin typeface="Arial"/>
              </a:defRPr>
            </a:pPr>
            <a:r>
              <a:t>Source: Duong (2025), Section 3.2, PDF p. 5; Ball et al. (2016).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25E59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18488"/>
            <a:ext cx="36576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625E59"/>
                </a:solidFill>
                <a:latin typeface="Arial"/>
              </a:defRPr>
            </a:pPr>
            <a:r>
              <a:t>OPERATING PROFIT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2377440" cy="676656"/>
          </a:xfrm>
          <a:prstGeom prst="rect">
            <a:avLst/>
          </a:prstGeom>
          <a:solidFill>
            <a:srgbClr val="FBF8F3"/>
          </a:solidFill>
          <a:ln w="12700">
            <a:solidFill>
              <a:srgbClr val="D9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12264"/>
            <a:ext cx="2057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1" i="0">
                <a:solidFill>
                  <a:srgbClr val="262220"/>
                </a:solidFill>
                <a:latin typeface="Arial"/>
              </a:defRPr>
            </a:pPr>
            <a:r>
              <a:t>Revenue − COGS − SG&amp;A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618488"/>
            <a:ext cx="28346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2F7D4F"/>
                </a:solidFill>
                <a:latin typeface="Arial"/>
              </a:defRPr>
            </a:pPr>
            <a:r>
              <a:t>ADD CHANGES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920240"/>
            <a:ext cx="1417320" cy="566928"/>
          </a:xfrm>
          <a:prstGeom prst="rect">
            <a:avLst/>
          </a:prstGeom>
          <a:solidFill>
            <a:srgbClr val="FBF8F3"/>
          </a:solidFill>
          <a:ln w="12700">
            <a:solidFill>
              <a:srgbClr val="2F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2075688"/>
            <a:ext cx="127101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30" b="1" i="0">
                <a:solidFill>
                  <a:srgbClr val="2F7D4F"/>
                </a:solidFill>
                <a:latin typeface="Arial"/>
              </a:defRPr>
            </a:pPr>
            <a:r>
              <a:t>Δ Deferred 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76088" y="1920240"/>
            <a:ext cx="1417320" cy="566928"/>
          </a:xfrm>
          <a:prstGeom prst="rect">
            <a:avLst/>
          </a:prstGeom>
          <a:solidFill>
            <a:srgbClr val="FBF8F3"/>
          </a:solidFill>
          <a:ln w="12700">
            <a:solidFill>
              <a:srgbClr val="2F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2075688"/>
            <a:ext cx="127101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30" b="1" i="0">
                <a:solidFill>
                  <a:srgbClr val="2F7D4F"/>
                </a:solidFill>
                <a:latin typeface="Arial"/>
              </a:defRPr>
            </a:pPr>
            <a:r>
              <a:t>Δ Accrued expenses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724912"/>
            <a:ext cx="1417320" cy="566928"/>
          </a:xfrm>
          <a:prstGeom prst="rect">
            <a:avLst/>
          </a:prstGeom>
          <a:solidFill>
            <a:srgbClr val="FBF8F3"/>
          </a:solidFill>
          <a:ln w="12700">
            <a:solidFill>
              <a:srgbClr val="2F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2880360"/>
            <a:ext cx="127101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30" b="1" i="0">
                <a:solidFill>
                  <a:srgbClr val="2F7D4F"/>
                </a:solidFill>
                <a:latin typeface="Arial"/>
              </a:defRPr>
            </a:pPr>
            <a:r>
              <a:t>Δ Accounts payable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618488"/>
            <a:ext cx="29260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9E2F50"/>
                </a:solidFill>
                <a:latin typeface="Arial"/>
              </a:defRPr>
            </a:pPr>
            <a:r>
              <a:t>SUBTRACT CHANGES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60" y="1920240"/>
            <a:ext cx="1417320" cy="566928"/>
          </a:xfrm>
          <a:prstGeom prst="rect">
            <a:avLst/>
          </a:prstGeom>
          <a:solidFill>
            <a:srgbClr val="FBF8F3"/>
          </a:solidFill>
          <a:ln w="12700">
            <a:solidFill>
              <a:srgbClr val="9E2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68312" y="2075688"/>
            <a:ext cx="127101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30" b="1" i="0">
                <a:solidFill>
                  <a:srgbClr val="9E2F50"/>
                </a:solidFill>
                <a:latin typeface="Arial"/>
              </a:defRPr>
            </a:pPr>
            <a:r>
              <a:t>Δ Prepaid expense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67928" y="1920240"/>
            <a:ext cx="1417320" cy="566928"/>
          </a:xfrm>
          <a:prstGeom prst="rect">
            <a:avLst/>
          </a:prstGeom>
          <a:solidFill>
            <a:srgbClr val="FBF8F3"/>
          </a:solidFill>
          <a:ln w="12700">
            <a:solidFill>
              <a:srgbClr val="9E2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2075688"/>
            <a:ext cx="127101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30" b="1" i="0">
                <a:solidFill>
                  <a:srgbClr val="9E2F50"/>
                </a:solidFill>
                <a:latin typeface="Arial"/>
              </a:defRPr>
            </a:pPr>
            <a:r>
              <a:t>Δ Inventory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60" y="2724912"/>
            <a:ext cx="1417320" cy="566928"/>
          </a:xfrm>
          <a:prstGeom prst="rect">
            <a:avLst/>
          </a:prstGeom>
          <a:solidFill>
            <a:srgbClr val="FBF8F3"/>
          </a:solidFill>
          <a:ln w="12700">
            <a:solidFill>
              <a:srgbClr val="9E2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68312" y="2880360"/>
            <a:ext cx="127101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30" b="1" i="0">
                <a:solidFill>
                  <a:srgbClr val="9E2F50"/>
                </a:solidFill>
                <a:latin typeface="Arial"/>
              </a:defRPr>
            </a:pPr>
            <a:r>
              <a:t>Δ Accounts receivable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59568" y="1618488"/>
            <a:ext cx="13258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B18B3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59568" y="1920240"/>
            <a:ext cx="1353312" cy="658368"/>
          </a:xfrm>
          <a:prstGeom prst="rect">
            <a:avLst/>
          </a:prstGeom>
          <a:solidFill>
            <a:srgbClr val="EAD7B0"/>
          </a:solidFill>
          <a:ln w="12700">
            <a:solidFill>
              <a:srgbClr val="B18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20" y="2103120"/>
            <a:ext cx="12070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700" b="1" i="0">
                <a:solidFill>
                  <a:srgbClr val="262220"/>
                </a:solidFill>
                <a:latin typeface="Georgia"/>
              </a:defRPr>
            </a:pPr>
            <a:r>
              <a:t>CBOP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59568" y="2871216"/>
            <a:ext cx="1353312" cy="804672"/>
          </a:xfrm>
          <a:prstGeom prst="rect">
            <a:avLst/>
          </a:prstGeom>
          <a:solidFill>
            <a:srgbClr val="F5E9D9"/>
          </a:solidFill>
          <a:ln w="12700">
            <a:solidFill>
              <a:srgbClr val="B18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3035808"/>
            <a:ext cx="120700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1" i="0">
                <a:solidFill>
                  <a:srgbClr val="262220"/>
                </a:solidFill>
                <a:latin typeface="Georgia"/>
              </a:defRPr>
            </a:pPr>
            <a:r>
              <a:t>CBOP /</a:t>
            </a:r>
          </a:p>
          <a:p>
            <a:pPr algn="ctr">
              <a:spcAft>
                <a:spcPts val="0"/>
              </a:spcAft>
              <a:defRPr sz="1200" b="1" i="0">
                <a:solidFill>
                  <a:srgbClr val="262220"/>
                </a:solidFill>
                <a:latin typeface="Georgia"/>
              </a:defRPr>
            </a:pPr>
            <a:r>
              <a:t>Market cap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3035808" y="2249424"/>
            <a:ext cx="7223760" cy="9144"/>
          </a:xfrm>
          <a:prstGeom prst="line">
            <a:avLst/>
          </a:prstGeom>
          <a:ln w="1270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613648" y="2441448"/>
            <a:ext cx="1645920" cy="320040"/>
          </a:xfrm>
          <a:prstGeom prst="line">
            <a:avLst/>
          </a:prstGeom>
          <a:ln w="16510">
            <a:solidFill>
              <a:srgbClr val="2F7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613648" y="2441448"/>
            <a:ext cx="1645920" cy="1088136"/>
          </a:xfrm>
          <a:prstGeom prst="line">
            <a:avLst/>
          </a:prstGeom>
          <a:ln w="16510">
            <a:solidFill>
              <a:srgbClr val="9E2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936224" y="2578608"/>
            <a:ext cx="0" cy="292608"/>
          </a:xfrm>
          <a:prstGeom prst="line">
            <a:avLst/>
          </a:prstGeom>
          <a:ln w="1397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1520" y="4151376"/>
            <a:ext cx="1069848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600" b="0" i="0">
                <a:solidFill>
                  <a:srgbClr val="262220"/>
                </a:solidFill>
                <a:latin typeface="Georgia"/>
              </a:defRPr>
            </a:pPr>
            <a:r>
              <a:t>CBOP adjusts operating profit for accrual changes; scaling by market capitalization compares that operating signal with equity value.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010912"/>
            <a:ext cx="10652760" cy="676656"/>
          </a:xfrm>
          <a:prstGeom prst="rect">
            <a:avLst/>
          </a:prstGeom>
          <a:solidFill>
            <a:srgbClr val="F5E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75504"/>
            <a:ext cx="10287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9E2F50"/>
                </a:solidFill>
                <a:latin typeface="Arial"/>
              </a:defRPr>
            </a:pPr>
            <a:r>
              <a:t>CBOP is accrual-adjusted operating profit, not literal cash 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274320"/>
            <a:ext cx="11311128" cy="0"/>
          </a:xfrm>
          <a:prstGeom prst="line">
            <a:avLst/>
          </a:prstGeom>
          <a:ln w="2540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338328"/>
            <a:ext cx="10881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B18B3F"/>
                </a:solidFill>
                <a:latin typeface="Arial"/>
              </a:defRPr>
            </a:pPr>
            <a:r>
              <a:t>DATA AND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900" b="1" i="0">
                <a:solidFill>
                  <a:srgbClr val="262220"/>
                </a:solidFill>
                <a:latin typeface="Georgia"/>
              </a:defRPr>
            </a:pPr>
            <a:r>
              <a:t>About 1,700 UK firms anchor a 24-year return test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2823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30" b="0" i="0">
                <a:solidFill>
                  <a:srgbClr val="625E59"/>
                </a:solidFill>
                <a:latin typeface="Arial"/>
              </a:defRPr>
            </a:pPr>
            <a:r>
              <a:t>Source: Duong (2025), Section 3.1, PDF p. 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25E59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64208"/>
            <a:ext cx="3474720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4400" b="1" i="0">
                <a:solidFill>
                  <a:srgbClr val="B18B3F"/>
                </a:solidFill>
                <a:latin typeface="Georgia"/>
              </a:defRPr>
            </a:pPr>
            <a:r>
              <a:t>≈1,700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50592"/>
            <a:ext cx="347472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262220"/>
                </a:solidFill>
                <a:latin typeface="Arial"/>
              </a:defRPr>
            </a:pPr>
            <a:r>
              <a:t>non-financial LSE firms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163824"/>
            <a:ext cx="10652760" cy="0"/>
          </a:xfrm>
          <a:prstGeom prst="line">
            <a:avLst/>
          </a:prstGeom>
          <a:ln w="1778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60120" y="2971800"/>
            <a:ext cx="164592" cy="384048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3429000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262220"/>
                </a:solidFill>
                <a:latin typeface="Georgia"/>
              </a:defRPr>
            </a:pPr>
            <a:r>
              <a:t>Jun 1995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3840480"/>
            <a:ext cx="24688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B18B3F"/>
                </a:solidFill>
                <a:latin typeface="Arial"/>
              </a:defRPr>
            </a:pPr>
            <a:r>
              <a:t>Accounting begins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4187952"/>
            <a:ext cx="256032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  <a:defRPr sz="1050" b="0" i="0">
                <a:solidFill>
                  <a:srgbClr val="625E59"/>
                </a:solidFill>
                <a:latin typeface="Arial"/>
              </a:defRPr>
            </a:pPr>
            <a:r>
              <a:t>Datastream fundamentals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971800"/>
            <a:ext cx="164592" cy="384048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15384" y="3429000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262220"/>
                </a:solidFill>
                <a:latin typeface="Georgia"/>
              </a:defRPr>
            </a:pPr>
            <a:r>
              <a:t>Jul 2000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5384" y="3840480"/>
            <a:ext cx="24688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B18B3F"/>
                </a:solidFill>
                <a:latin typeface="Arial"/>
              </a:defRPr>
            </a:pPr>
            <a:r>
              <a:t>Returns begin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5384" y="4187952"/>
            <a:ext cx="256032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  <a:defRPr sz="1050" b="0" i="0">
                <a:solidFill>
                  <a:srgbClr val="625E59"/>
                </a:solidFill>
                <a:latin typeface="Arial"/>
              </a:defRPr>
            </a:pPr>
            <a:r>
              <a:t>LSPD monthly returns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27264" y="2971800"/>
            <a:ext cx="164592" cy="384048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9248" y="3429000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262220"/>
                </a:solidFill>
                <a:latin typeface="Georgia"/>
              </a:defRPr>
            </a:pPr>
            <a:r>
              <a:t>Jun 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3840480"/>
            <a:ext cx="24688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B18B3F"/>
                </a:solidFill>
                <a:latin typeface="Arial"/>
              </a:defRPr>
            </a:pPr>
            <a:r>
              <a:t>Sample ends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4187952"/>
            <a:ext cx="256032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  <a:defRPr sz="1050" b="0" i="0">
                <a:solidFill>
                  <a:srgbClr val="625E59"/>
                </a:solidFill>
                <a:latin typeface="Arial"/>
              </a:defRPr>
            </a:pPr>
            <a:r>
              <a:t>288 monthly return observations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5010912"/>
            <a:ext cx="10698480" cy="0"/>
          </a:xfrm>
          <a:prstGeom prst="line">
            <a:avLst/>
          </a:prstGeom>
          <a:ln w="1016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5212080"/>
            <a:ext cx="640080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50" b="0" i="0">
                <a:solidFill>
                  <a:srgbClr val="262220"/>
                </a:solidFill>
                <a:latin typeface="Arial"/>
              </a:defRPr>
            </a:pPr>
            <a:r>
              <a:t>Excludes financial and foreign firms, missing accounting fields, and negative book equity.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166360"/>
            <a:ext cx="4023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  <a:defRPr sz="1050" b="0" i="0">
                <a:solidFill>
                  <a:srgbClr val="625E59"/>
                </a:solidFill>
                <a:latin typeface="Arial"/>
              </a:defRPr>
            </a:pPr>
            <a:r>
              <a:t>Delisted firms included where available. Restricted data; no replication claimed.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274320"/>
            <a:ext cx="11311128" cy="0"/>
          </a:xfrm>
          <a:prstGeom prst="line">
            <a:avLst/>
          </a:prstGeom>
          <a:ln w="2540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338328"/>
            <a:ext cx="10881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B18B3F"/>
                </a:solidFill>
                <a:latin typeface="Arial"/>
              </a:defRPr>
            </a:pPr>
            <a:r>
              <a:t>PORTFOLIO FORMATION AND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600" b="1" i="0">
                <a:solidFill>
                  <a:srgbClr val="262220"/>
                </a:solidFill>
                <a:latin typeface="Georgia"/>
              </a:defRPr>
            </a:pPr>
            <a:r>
              <a:t>The design links prior-year accounting data to July–June returns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2823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30" b="0" i="0">
                <a:solidFill>
                  <a:srgbClr val="625E59"/>
                </a:solidFill>
                <a:latin typeface="Arial"/>
              </a:defRPr>
            </a:pPr>
            <a:r>
              <a:t>Source: Duong (2025), Sections 3.1–3.2, PDF pp. 4–5.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25E59"/>
                </a:solidFill>
                <a:latin typeface="Arial"/>
              </a:defRPr>
            </a:pPr>
            <a:r>
              <a:t>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80360"/>
            <a:ext cx="9509760" cy="0"/>
          </a:xfrm>
          <a:prstGeom prst="line">
            <a:avLst/>
          </a:prstGeom>
          <a:ln w="2540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024128" y="272491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28800"/>
            <a:ext cx="13258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100"/>
              </a:spcAft>
              <a:defRPr sz="1150" b="1" i="0">
                <a:solidFill>
                  <a:srgbClr val="262220"/>
                </a:solidFill>
                <a:latin typeface="Arial"/>
              </a:defRPr>
            </a:pPr>
            <a:r>
              <a:t>Fiscal year-end</a:t>
            </a:r>
          </a:p>
          <a:p>
            <a:pPr algn="ctr">
              <a:spcAft>
                <a:spcPts val="100"/>
              </a:spcAft>
              <a:defRPr sz="1150" b="1" i="0">
                <a:solidFill>
                  <a:srgbClr val="262220"/>
                </a:solidFill>
                <a:latin typeface="Arial"/>
              </a:defRPr>
            </a:pPr>
            <a:r>
              <a:t>t−1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90672" y="272491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9191" y="1828800"/>
            <a:ext cx="13258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100"/>
              </a:spcAft>
              <a:defRPr sz="1150" b="1" i="0">
                <a:solidFill>
                  <a:srgbClr val="262220"/>
                </a:solidFill>
                <a:latin typeface="Arial"/>
              </a:defRPr>
            </a:pPr>
            <a:r>
              <a:t>Data available</a:t>
            </a:r>
          </a:p>
          <a:p>
            <a:pPr algn="ctr">
              <a:spcAft>
                <a:spcPts val="100"/>
              </a:spcAft>
              <a:defRPr sz="1150" b="1" i="0">
                <a:solidFill>
                  <a:srgbClr val="262220"/>
                </a:solidFill>
                <a:latin typeface="Arial"/>
              </a:defRPr>
            </a:pPr>
            <a:r>
              <a:t>for formation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0368" y="272491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1828800"/>
            <a:ext cx="13258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100"/>
              </a:spcAft>
              <a:defRPr sz="1150" b="1" i="0">
                <a:solidFill>
                  <a:srgbClr val="262220"/>
                </a:solidFill>
                <a:latin typeface="Arial"/>
              </a:defRPr>
            </a:pPr>
            <a:r>
              <a:t>July sort</a:t>
            </a:r>
          </a:p>
          <a:p>
            <a:pPr algn="ctr">
              <a:spcAft>
                <a:spcPts val="100"/>
              </a:spcAft>
              <a:defRPr sz="1150" b="1" i="0">
                <a:solidFill>
                  <a:srgbClr val="262220"/>
                </a:solidFill>
                <a:latin typeface="Arial"/>
              </a:defRPr>
            </a:pPr>
            <a:r>
              <a:t>year 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72491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59" y="1828800"/>
            <a:ext cx="13258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100"/>
              </a:spcAft>
              <a:defRPr sz="1150" b="1" i="0">
                <a:solidFill>
                  <a:srgbClr val="262220"/>
                </a:solidFill>
                <a:latin typeface="Arial"/>
              </a:defRPr>
            </a:pPr>
            <a:r>
              <a:t>Monthly returns</a:t>
            </a:r>
          </a:p>
          <a:p>
            <a:pPr algn="ctr">
              <a:spcAft>
                <a:spcPts val="100"/>
              </a:spcAft>
              <a:defRPr sz="1150" b="1" i="0">
                <a:solidFill>
                  <a:srgbClr val="262220"/>
                </a:solidFill>
                <a:latin typeface="Arial"/>
              </a:defRPr>
            </a:pPr>
            <a:r>
              <a:t>July t → June t+1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74352" y="272491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1828800"/>
            <a:ext cx="13258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100"/>
              </a:spcAft>
              <a:defRPr sz="1150" b="1" i="0">
                <a:solidFill>
                  <a:srgbClr val="262220"/>
                </a:solidFill>
                <a:latin typeface="Arial"/>
              </a:defRPr>
            </a:pPr>
            <a:r>
              <a:t>Next annual</a:t>
            </a:r>
          </a:p>
          <a:p>
            <a:pPr algn="ctr">
              <a:spcAft>
                <a:spcPts val="100"/>
              </a:spcAft>
              <a:defRPr sz="1150" b="1" i="0">
                <a:solidFill>
                  <a:srgbClr val="262220"/>
                </a:solidFill>
                <a:latin typeface="Arial"/>
              </a:defRPr>
            </a:pPr>
            <a:r>
              <a:t>rebalance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62088" y="3255264"/>
            <a:ext cx="0" cy="539496"/>
          </a:xfrm>
          <a:prstGeom prst="line">
            <a:avLst/>
          </a:prstGeom>
          <a:ln w="12700">
            <a:solidFill>
              <a:srgbClr val="625E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925312" y="3840480"/>
            <a:ext cx="3273552" cy="548640"/>
          </a:xfrm>
          <a:prstGeom prst="rect">
            <a:avLst/>
          </a:prstGeom>
          <a:solidFill>
            <a:srgbClr val="F5E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62472" y="3977639"/>
            <a:ext cx="29992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150" b="1" i="0">
                <a:solidFill>
                  <a:srgbClr val="262220"/>
                </a:solidFill>
                <a:latin typeface="Arial"/>
              </a:defRPr>
            </a:pPr>
            <a:r>
              <a:t>Value-weighted monthly returns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848088" y="3035808"/>
            <a:ext cx="0" cy="1883664"/>
          </a:xfrm>
          <a:prstGeom prst="line">
            <a:avLst/>
          </a:prstGeom>
          <a:ln w="1905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376672" y="4919472"/>
            <a:ext cx="4471416" cy="0"/>
          </a:xfrm>
          <a:prstGeom prst="line">
            <a:avLst/>
          </a:prstGeom>
          <a:ln w="1905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376672" y="3090672"/>
            <a:ext cx="0" cy="1828800"/>
          </a:xfrm>
          <a:prstGeom prst="line">
            <a:avLst/>
          </a:prstGeom>
          <a:ln w="1905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1248" y="5184648"/>
            <a:ext cx="91440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50" b="0" i="0">
                <a:solidFill>
                  <a:srgbClr val="9E2F50"/>
                </a:solidFill>
                <a:latin typeface="Arial"/>
              </a:defRPr>
            </a:pPr>
            <a:r>
              <a:t>Signals are measured at the prior fiscal year-end. The paper’s sample description does not specify field-level publication lags.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274320"/>
            <a:ext cx="11311128" cy="0"/>
          </a:xfrm>
          <a:prstGeom prst="line">
            <a:avLst/>
          </a:prstGeom>
          <a:ln w="2540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338328"/>
            <a:ext cx="10881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B18B3F"/>
                </a:solidFill>
                <a:latin typeface="Arial"/>
              </a:defRPr>
            </a:pPr>
            <a:r>
              <a:t>EMPIRICAL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900" b="1" i="0">
                <a:solidFill>
                  <a:srgbClr val="262220"/>
                </a:solidFill>
                <a:latin typeface="Georgia"/>
              </a:defRPr>
            </a:pPr>
            <a:r>
              <a:t>Four tests answer four different questions about the signal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2823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30" b="0" i="0">
                <a:solidFill>
                  <a:srgbClr val="625E59"/>
                </a:solidFill>
                <a:latin typeface="Arial"/>
              </a:defRPr>
            </a:pPr>
            <a:r>
              <a:t>Source: Duong (2025), Sections 3.3–5, PDF pp. 5–18.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25E59"/>
                </a:solidFill>
                <a:latin typeface="Arial"/>
              </a:defRPr>
            </a:pPr>
            <a:r>
              <a:t>08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1883664"/>
            <a:ext cx="438912" cy="0"/>
          </a:xfrm>
          <a:prstGeom prst="line">
            <a:avLst/>
          </a:prstGeom>
          <a:ln w="31750">
            <a:solidFill>
              <a:srgbClr val="2E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020824"/>
            <a:ext cx="48006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1" i="0">
                <a:solidFill>
                  <a:srgbClr val="2E6E9E"/>
                </a:solidFill>
                <a:latin typeface="Arial"/>
              </a:defRPr>
            </a:pPr>
            <a:r>
              <a:t>RETURN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31720"/>
            <a:ext cx="489204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262220"/>
                </a:solidFill>
                <a:latin typeface="Georgia"/>
              </a:defRPr>
            </a:pPr>
            <a:r>
              <a:t>Portfolio sorts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724912"/>
            <a:ext cx="47548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50" b="1" i="0">
                <a:solidFill>
                  <a:srgbClr val="262220"/>
                </a:solidFill>
                <a:latin typeface="Arial"/>
              </a:defRPr>
            </a:pPr>
            <a:r>
              <a:t>Do returns move with CBOP/M?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081528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40" b="0" i="0">
                <a:solidFill>
                  <a:srgbClr val="625E59"/>
                </a:solidFill>
                <a:latin typeface="Arial"/>
              </a:defRPr>
            </a:pPr>
            <a:r>
              <a:t>Cross-sectional ordering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17920" y="1883664"/>
            <a:ext cx="438911" cy="0"/>
          </a:xfrm>
          <a:prstGeom prst="line">
            <a:avLst/>
          </a:prstGeom>
          <a:ln w="3175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7920" y="2020824"/>
            <a:ext cx="48006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1" i="0">
                <a:solidFill>
                  <a:srgbClr val="B18B3F"/>
                </a:solidFill>
                <a:latin typeface="Arial"/>
              </a:defRPr>
            </a:pPr>
            <a:r>
              <a:t>RISK ADJUSTMENT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31720"/>
            <a:ext cx="489204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262220"/>
                </a:solidFill>
                <a:latin typeface="Georgia"/>
              </a:defRPr>
            </a:pPr>
            <a:r>
              <a:t>Time-series alpha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24912"/>
            <a:ext cx="47548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50" b="1" i="0">
                <a:solidFill>
                  <a:srgbClr val="262220"/>
                </a:solidFill>
                <a:latin typeface="Arial"/>
              </a:defRPr>
            </a:pPr>
            <a:r>
              <a:t>Does the spread survive tested factors?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081528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40" b="0" i="0">
                <a:solidFill>
                  <a:srgbClr val="625E59"/>
                </a:solidFill>
                <a:latin typeface="Arial"/>
              </a:defRPr>
            </a:pPr>
            <a:r>
              <a:t>Alpha relative to specified models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3941063"/>
            <a:ext cx="438912" cy="0"/>
          </a:xfrm>
          <a:prstGeom prst="line">
            <a:avLst/>
          </a:prstGeom>
          <a:ln w="31750">
            <a:solidFill>
              <a:srgbClr val="2F7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4078224"/>
            <a:ext cx="48006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1" i="0">
                <a:solidFill>
                  <a:srgbClr val="2F7D4F"/>
                </a:solidFill>
                <a:latin typeface="Arial"/>
              </a:defRPr>
            </a:pPr>
            <a:r>
              <a:t>INCREMENTAL PRICING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389120"/>
            <a:ext cx="489204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262220"/>
                </a:solidFill>
                <a:latin typeface="Georgia"/>
              </a:defRPr>
            </a:pPr>
            <a:r>
              <a:t>Spanning + Fama–MacBeth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782312"/>
            <a:ext cx="47548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50" b="1" i="0">
                <a:solidFill>
                  <a:srgbClr val="262220"/>
                </a:solidFill>
                <a:latin typeface="Arial"/>
              </a:defRPr>
            </a:pPr>
            <a:r>
              <a:t>Does NVF add information beyond HML?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138927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40" b="0" i="0">
                <a:solidFill>
                  <a:srgbClr val="625E59"/>
                </a:solidFill>
                <a:latin typeface="Arial"/>
              </a:defRPr>
            </a:pPr>
            <a:r>
              <a:t>Factor alpha and cross-sectional premium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17920" y="3941063"/>
            <a:ext cx="438911" cy="0"/>
          </a:xfrm>
          <a:prstGeom prst="line">
            <a:avLst/>
          </a:prstGeom>
          <a:ln w="31750">
            <a:solidFill>
              <a:srgbClr val="9E2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7920" y="4078224"/>
            <a:ext cx="48006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1" i="0">
                <a:solidFill>
                  <a:srgbClr val="9E2F50"/>
                </a:solidFill>
                <a:latin typeface="Arial"/>
              </a:defRPr>
            </a:pPr>
            <a:r>
              <a:t>JOINT MODEL 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89120"/>
            <a:ext cx="489204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262220"/>
                </a:solidFill>
                <a:latin typeface="Georgia"/>
              </a:defRPr>
            </a:pPr>
            <a:r>
              <a:t>GRS + size partitions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782312"/>
            <a:ext cx="47548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50" b="1" i="0">
                <a:solidFill>
                  <a:srgbClr val="262220"/>
                </a:solidFill>
                <a:latin typeface="Arial"/>
              </a:defRPr>
            </a:pPr>
            <a:r>
              <a:t>Do tested models price the assets jointly?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138927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40" b="0" i="0">
                <a:solidFill>
                  <a:srgbClr val="625E59"/>
                </a:solidFill>
                <a:latin typeface="Arial"/>
              </a:defRPr>
            </a:pPr>
            <a:r>
              <a:t>Fit on selected portfolios; not investability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33872" y="1828800"/>
            <a:ext cx="0" cy="3913632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6656" y="3538728"/>
            <a:ext cx="10799064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94944" y="5916168"/>
            <a:ext cx="107899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40" b="0" i="0">
                <a:solidFill>
                  <a:srgbClr val="625E59"/>
                </a:solidFill>
                <a:latin typeface="Arial"/>
              </a:defRPr>
            </a:pPr>
            <a:r>
              <a:t>Each test is limited to its sample, factors, and test assets.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274320"/>
            <a:ext cx="11311128" cy="0"/>
          </a:xfrm>
          <a:prstGeom prst="line">
            <a:avLst/>
          </a:prstGeom>
          <a:ln w="2540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338328"/>
            <a:ext cx="10881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B18B3F"/>
                </a:solidFill>
                <a:latin typeface="Arial"/>
              </a:defRPr>
            </a:pPr>
            <a:r>
              <a:t>CENTRAL RESULT · VALUE-WEIGHTED DECILES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600" b="1" i="0">
                <a:solidFill>
                  <a:srgbClr val="262220"/>
                </a:solidFill>
                <a:latin typeface="Georgia"/>
              </a:defRPr>
            </a:pPr>
            <a:r>
              <a:t>CBOP/M produces a broadly monotonic decile pattern and a 1.175% spread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2823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30" b="0" i="0">
                <a:solidFill>
                  <a:srgbClr val="625E59"/>
                </a:solidFill>
                <a:latin typeface="Arial"/>
              </a:defRPr>
            </a:pPr>
            <a:r>
              <a:t>Source: Duong (2025), Table 6, PDF p. 12.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25E59"/>
                </a:solidFill>
                <a:latin typeface="Arial"/>
              </a:defRPr>
            </a:pPr>
            <a:r>
              <a:t>09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4050791"/>
            <a:ext cx="7818120" cy="0"/>
          </a:xfrm>
          <a:prstGeom prst="line">
            <a:avLst/>
          </a:prstGeom>
          <a:ln w="15240">
            <a:solidFill>
              <a:srgbClr val="625E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" y="4801906"/>
            <a:ext cx="7818120" cy="0"/>
          </a:xfrm>
          <a:prstGeom prst="line">
            <a:avLst/>
          </a:prstGeom>
          <a:ln w="635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4632" y="4710466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780" b="0" i="0">
                <a:solidFill>
                  <a:srgbClr val="625E59"/>
                </a:solidFill>
                <a:latin typeface="Arial"/>
              </a:defRPr>
            </a:pPr>
            <a:r>
              <a:t>-0.5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4050791"/>
            <a:ext cx="7818120" cy="0"/>
          </a:xfrm>
          <a:prstGeom prst="line">
            <a:avLst/>
          </a:prstGeom>
          <a:ln w="635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4632" y="3959352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780" b="0" i="0">
                <a:solidFill>
                  <a:srgbClr val="625E59"/>
                </a:solidFill>
                <a:latin typeface="Arial"/>
              </a:defRPr>
            </a:pPr>
            <a:r>
              <a:t>0.0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3038420"/>
            <a:ext cx="7818120" cy="0"/>
          </a:xfrm>
          <a:prstGeom prst="line">
            <a:avLst/>
          </a:prstGeom>
          <a:ln w="635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4632" y="2946980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780" b="0" i="0">
                <a:solidFill>
                  <a:srgbClr val="625E59"/>
                </a:solidFill>
                <a:latin typeface="Arial"/>
              </a:defRPr>
            </a:pPr>
            <a:r>
              <a:t>0.5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2868342"/>
            <a:ext cx="448056" cy="1182449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612310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60" b="1" i="0">
                <a:solidFill>
                  <a:srgbClr val="262220"/>
                </a:solidFill>
                <a:latin typeface="Arial"/>
              </a:defRPr>
            </a:pPr>
            <a:r>
              <a:t>+0.584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413248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50" b="1" i="0">
                <a:solidFill>
                  <a:srgbClr val="262220"/>
                </a:solidFill>
                <a:latin typeface="Arial"/>
              </a:defRPr>
            </a:pPr>
            <a:r>
              <a:t>D1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5648" y="3344156"/>
            <a:ext cx="448056" cy="706635"/>
          </a:xfrm>
          <a:prstGeom prst="rect">
            <a:avLst/>
          </a:prstGeom>
          <a:solidFill>
            <a:srgbClr val="2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18488" y="3088124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60" b="1" i="0">
                <a:solidFill>
                  <a:srgbClr val="262220"/>
                </a:solidFill>
                <a:latin typeface="Arial"/>
              </a:defRPr>
            </a:pPr>
            <a:r>
              <a:t>+0.349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5413248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50" b="1" i="0">
                <a:solidFill>
                  <a:srgbClr val="262220"/>
                </a:solidFill>
                <a:latin typeface="Arial"/>
              </a:defRPr>
            </a:pPr>
            <a:r>
              <a:t>D2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7168" y="3396800"/>
            <a:ext cx="448056" cy="653991"/>
          </a:xfrm>
          <a:prstGeom prst="rect">
            <a:avLst/>
          </a:prstGeom>
          <a:solidFill>
            <a:srgbClr val="2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0008" y="3140768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60" b="1" i="0">
                <a:solidFill>
                  <a:srgbClr val="262220"/>
                </a:solidFill>
                <a:latin typeface="Arial"/>
              </a:defRPr>
            </a:pPr>
            <a:r>
              <a:t>+0.323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5413248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50" b="1" i="0">
                <a:solidFill>
                  <a:srgbClr val="262220"/>
                </a:solidFill>
                <a:latin typeface="Arial"/>
              </a:defRPr>
            </a:pPr>
            <a:r>
              <a:t>D3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18688" y="3451468"/>
            <a:ext cx="448056" cy="599323"/>
          </a:xfrm>
          <a:prstGeom prst="rect">
            <a:avLst/>
          </a:prstGeom>
          <a:solidFill>
            <a:srgbClr val="2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81528" y="3195436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60" b="1" i="0">
                <a:solidFill>
                  <a:srgbClr val="262220"/>
                </a:solidFill>
                <a:latin typeface="Arial"/>
              </a:defRPr>
            </a:pPr>
            <a:r>
              <a:t>+0.296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7248" y="5413248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50" b="1" i="0">
                <a:solidFill>
                  <a:srgbClr val="262220"/>
                </a:solidFill>
                <a:latin typeface="Arial"/>
              </a:defRPr>
            </a:pPr>
            <a:r>
              <a:t>D4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50208" y="3591175"/>
            <a:ext cx="448056" cy="459616"/>
          </a:xfrm>
          <a:prstGeom prst="rect">
            <a:avLst/>
          </a:prstGeom>
          <a:solidFill>
            <a:srgbClr val="2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3048" y="3335143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60" b="1" i="0">
                <a:solidFill>
                  <a:srgbClr val="262220"/>
                </a:solidFill>
                <a:latin typeface="Arial"/>
              </a:defRPr>
            </a:pPr>
            <a:r>
              <a:t>+0.227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8768" y="5413248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50" b="1" i="0">
                <a:solidFill>
                  <a:srgbClr val="262220"/>
                </a:solidFill>
                <a:latin typeface="Arial"/>
              </a:defRPr>
            </a:pPr>
            <a:r>
              <a:t>D5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1728" y="3613447"/>
            <a:ext cx="448056" cy="437344"/>
          </a:xfrm>
          <a:prstGeom prst="rect">
            <a:avLst/>
          </a:prstGeom>
          <a:solidFill>
            <a:srgbClr val="2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44568" y="3357415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60" b="1" i="0">
                <a:solidFill>
                  <a:srgbClr val="262220"/>
                </a:solidFill>
                <a:latin typeface="Arial"/>
              </a:defRPr>
            </a:pPr>
            <a:r>
              <a:t>+0.216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0288" y="5413248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50" b="1" i="0">
                <a:solidFill>
                  <a:srgbClr val="262220"/>
                </a:solidFill>
                <a:latin typeface="Arial"/>
              </a:defRPr>
            </a:pPr>
            <a:r>
              <a:t>D6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13248" y="4050791"/>
            <a:ext cx="448056" cy="12017"/>
          </a:xfrm>
          <a:prstGeom prst="rect">
            <a:avLst/>
          </a:prstGeom>
          <a:solidFill>
            <a:srgbClr val="62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76088" y="4081097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60" b="1" i="0">
                <a:solidFill>
                  <a:srgbClr val="262220"/>
                </a:solidFill>
                <a:latin typeface="Arial"/>
              </a:defRPr>
            </a:pPr>
            <a:r>
              <a:t>-0.008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21808" y="5413248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50" b="1" i="0">
                <a:solidFill>
                  <a:srgbClr val="262220"/>
                </a:solidFill>
                <a:latin typeface="Arial"/>
              </a:defRPr>
            </a:pPr>
            <a:r>
              <a:t>D7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44768" y="4050791"/>
            <a:ext cx="448056" cy="811203"/>
          </a:xfrm>
          <a:prstGeom prst="rect">
            <a:avLst/>
          </a:prstGeom>
          <a:solidFill>
            <a:srgbClr val="9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07608" y="4880283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60" b="1" i="0">
                <a:solidFill>
                  <a:srgbClr val="262220"/>
                </a:solidFill>
                <a:latin typeface="Arial"/>
              </a:defRPr>
            </a:pPr>
            <a:r>
              <a:t>-0.540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53328" y="5413248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50" b="1" i="0">
                <a:solidFill>
                  <a:srgbClr val="262220"/>
                </a:solidFill>
                <a:latin typeface="Arial"/>
              </a:defRPr>
            </a:pPr>
            <a:r>
              <a:t>D8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76288" y="4050791"/>
            <a:ext cx="448056" cy="856270"/>
          </a:xfrm>
          <a:prstGeom prst="rect">
            <a:avLst/>
          </a:prstGeom>
          <a:solidFill>
            <a:srgbClr val="9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9128" y="4925350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60" b="1" i="0">
                <a:solidFill>
                  <a:srgbClr val="262220"/>
                </a:solidFill>
                <a:latin typeface="Arial"/>
              </a:defRPr>
            </a:pPr>
            <a:r>
              <a:t>-0.570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84848" y="5413248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50" b="1" i="0">
                <a:solidFill>
                  <a:srgbClr val="262220"/>
                </a:solidFill>
                <a:latin typeface="Arial"/>
              </a:defRPr>
            </a:pPr>
            <a:r>
              <a:t>D9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07808" y="4050791"/>
            <a:ext cx="448056" cy="889319"/>
          </a:xfrm>
          <a:prstGeom prst="rect">
            <a:avLst/>
          </a:prstGeom>
          <a:solidFill>
            <a:srgbClr val="9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70648" y="4958399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60" b="1" i="0">
                <a:solidFill>
                  <a:srgbClr val="262220"/>
                </a:solidFill>
                <a:latin typeface="Arial"/>
              </a:defRPr>
            </a:pPr>
            <a:r>
              <a:t>-0.592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16368" y="5413248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50" b="1" i="0">
                <a:solidFill>
                  <a:srgbClr val="262220"/>
                </a:solidFill>
                <a:latin typeface="Arial"/>
              </a:defRPr>
            </a:pPr>
            <a:r>
              <a:t>D10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" y="5751576"/>
            <a:ext cx="219456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 i="0">
                <a:solidFill>
                  <a:srgbClr val="B18B3F"/>
                </a:solidFill>
                <a:latin typeface="Arial"/>
              </a:defRPr>
            </a:pPr>
            <a:r>
              <a:t>D1 = HIGHEST CBOP/M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16168" y="5751576"/>
            <a:ext cx="242316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 i="0">
                <a:solidFill>
                  <a:srgbClr val="9E2F50"/>
                </a:solidFill>
                <a:latin typeface="Arial"/>
              </a:defRPr>
            </a:pPr>
            <a:r>
              <a:t>D10 = LOWEST CBOP/M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851392" y="1856231"/>
            <a:ext cx="0" cy="3904489"/>
          </a:xfrm>
          <a:prstGeom prst="line">
            <a:avLst/>
          </a:prstGeom>
          <a:ln w="1270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162288" y="2011680"/>
            <a:ext cx="233172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3600" b="1" i="0">
                <a:solidFill>
                  <a:srgbClr val="B18B3F"/>
                </a:solidFill>
                <a:latin typeface="Georgia"/>
              </a:defRPr>
            </a:pPr>
            <a:r>
              <a:t>1.175%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9720" y="2990088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262220"/>
                </a:solidFill>
                <a:latin typeface="Arial"/>
              </a:defRPr>
            </a:pPr>
            <a:r>
              <a:t>per month · H − 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3429000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625E59"/>
                </a:solidFill>
                <a:latin typeface="Arial"/>
              </a:defRPr>
            </a:pPr>
            <a:r>
              <a:t>t = 3.615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189720" y="3959352"/>
            <a:ext cx="2057400" cy="0"/>
          </a:xfrm>
          <a:prstGeom prst="line">
            <a:avLst/>
          </a:prstGeom>
          <a:ln w="1905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189720" y="4160520"/>
            <a:ext cx="2148840" cy="10241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200"/>
              </a:spcAft>
              <a:defRPr sz="1200" b="0" i="0">
                <a:solidFill>
                  <a:srgbClr val="262220"/>
                </a:solidFill>
                <a:latin typeface="Georgia"/>
              </a:defRPr>
            </a:pPr>
            <a:r>
              <a:t>Both tails contribute: +0.584% high; −0.592% 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274320"/>
            <a:ext cx="11311128" cy="0"/>
          </a:xfrm>
          <a:prstGeom prst="line">
            <a:avLst/>
          </a:prstGeom>
          <a:ln w="2540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338328"/>
            <a:ext cx="10881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B18B3F"/>
                </a:solidFill>
                <a:latin typeface="Arial"/>
              </a:defRPr>
            </a:pPr>
            <a:r>
              <a:t>RISK-ADJUSTED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900" b="1" i="0">
                <a:solidFill>
                  <a:srgbClr val="262220"/>
                </a:solidFill>
                <a:latin typeface="Georgia"/>
              </a:defRPr>
            </a:pPr>
            <a:r>
              <a:t>The spread remains positive across five factor models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2823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30" b="0" i="0">
                <a:solidFill>
                  <a:srgbClr val="625E59"/>
                </a:solidFill>
                <a:latin typeface="Arial"/>
              </a:defRPr>
            </a:pPr>
            <a:r>
              <a:t>Source: Duong (2025), Table 7, PDF p. 13.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25E59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49039" y="1828800"/>
            <a:ext cx="0" cy="3685032"/>
          </a:xfrm>
          <a:prstGeom prst="line">
            <a:avLst/>
          </a:prstGeom>
          <a:ln w="15240">
            <a:solidFill>
              <a:srgbClr val="625E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749039" y="1828800"/>
            <a:ext cx="0" cy="3685032"/>
          </a:xfrm>
          <a:prstGeom prst="line">
            <a:avLst/>
          </a:prstGeom>
          <a:ln w="762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47871" y="5586984"/>
            <a:ext cx="457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00" b="0" i="0">
                <a:solidFill>
                  <a:srgbClr val="625E59"/>
                </a:solidFill>
                <a:latin typeface="Arial"/>
              </a:defRPr>
            </a:pPr>
            <a:r>
              <a:t>0.00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53297" y="1828800"/>
            <a:ext cx="0" cy="3685032"/>
          </a:xfrm>
          <a:prstGeom prst="line">
            <a:avLst/>
          </a:prstGeom>
          <a:ln w="762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952129" y="5586984"/>
            <a:ext cx="457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00" b="0" i="0">
                <a:solidFill>
                  <a:srgbClr val="625E59"/>
                </a:solidFill>
                <a:latin typeface="Arial"/>
              </a:defRPr>
            </a:pPr>
            <a:r>
              <a:t>0.25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57554" y="1828800"/>
            <a:ext cx="0" cy="3685032"/>
          </a:xfrm>
          <a:prstGeom prst="line">
            <a:avLst/>
          </a:prstGeom>
          <a:ln w="762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56386" y="5586984"/>
            <a:ext cx="457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00" b="0" i="0">
                <a:solidFill>
                  <a:srgbClr val="625E59"/>
                </a:solidFill>
                <a:latin typeface="Arial"/>
              </a:defRPr>
            </a:pPr>
            <a:r>
              <a:t>0.50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61811" y="1828800"/>
            <a:ext cx="0" cy="3685032"/>
          </a:xfrm>
          <a:prstGeom prst="line">
            <a:avLst/>
          </a:prstGeom>
          <a:ln w="762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60643" y="5586984"/>
            <a:ext cx="457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00" b="0" i="0">
                <a:solidFill>
                  <a:srgbClr val="625E59"/>
                </a:solidFill>
                <a:latin typeface="Arial"/>
              </a:defRPr>
            </a:pPr>
            <a:r>
              <a:t>0.75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66068" y="1828800"/>
            <a:ext cx="0" cy="3685032"/>
          </a:xfrm>
          <a:prstGeom prst="line">
            <a:avLst/>
          </a:prstGeom>
          <a:ln w="762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64900" y="5586984"/>
            <a:ext cx="457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00" b="0" i="0">
                <a:solidFill>
                  <a:srgbClr val="625E59"/>
                </a:solidFill>
                <a:latin typeface="Arial"/>
              </a:defRPr>
            </a:pPr>
            <a:r>
              <a:t>1.00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975104"/>
            <a:ext cx="2926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262220"/>
                </a:solidFill>
                <a:latin typeface="Arial"/>
              </a:defRPr>
            </a:pPr>
            <a:r>
              <a:t>CAPM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49039" y="2157984"/>
            <a:ext cx="5150816" cy="0"/>
          </a:xfrm>
          <a:prstGeom prst="line">
            <a:avLst/>
          </a:prstGeom>
          <a:ln w="2794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835847" y="2084832"/>
            <a:ext cx="137160" cy="137160"/>
          </a:xfrm>
          <a:prstGeom prst="roundRect">
            <a:avLst>
              <a:gd name="adj" fmla="val 8000"/>
            </a:avLst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46159" y="197510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 i="0">
                <a:solidFill>
                  <a:srgbClr val="262220"/>
                </a:solidFill>
                <a:latin typeface="Arial"/>
              </a:defRPr>
            </a:pPr>
            <a:r>
              <a:t>0.917%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1975104"/>
            <a:ext cx="960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40" b="0" i="0">
                <a:solidFill>
                  <a:srgbClr val="625E59"/>
                </a:solidFill>
                <a:latin typeface="Arial"/>
              </a:defRPr>
            </a:pPr>
            <a:r>
              <a:t>t = 4.012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2660904"/>
            <a:ext cx="2926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262220"/>
                </a:solidFill>
                <a:latin typeface="Arial"/>
              </a:defRPr>
            </a:pPr>
            <a:r>
              <a:t>Fama–French 3-factor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49039" y="2843784"/>
            <a:ext cx="4869964" cy="0"/>
          </a:xfrm>
          <a:prstGeom prst="line">
            <a:avLst/>
          </a:prstGeom>
          <a:ln w="2794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554995" y="2770632"/>
            <a:ext cx="137160" cy="137160"/>
          </a:xfrm>
          <a:prstGeom prst="roundRect">
            <a:avLst>
              <a:gd name="adj" fmla="val 8000"/>
            </a:avLst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65307" y="266090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 i="0">
                <a:solidFill>
                  <a:srgbClr val="262220"/>
                </a:solidFill>
                <a:latin typeface="Arial"/>
              </a:defRPr>
            </a:pPr>
            <a:r>
              <a:t>0.867%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660904"/>
            <a:ext cx="960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40" b="0" i="0">
                <a:solidFill>
                  <a:srgbClr val="625E59"/>
                </a:solidFill>
                <a:latin typeface="Arial"/>
              </a:defRPr>
            </a:pPr>
            <a:r>
              <a:t>t = 3.587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346704"/>
            <a:ext cx="2926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262220"/>
                </a:solidFill>
                <a:latin typeface="Arial"/>
              </a:defRPr>
            </a:pPr>
            <a:r>
              <a:t>Fama–French 5-factor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749039" y="3529584"/>
            <a:ext cx="4021793" cy="0"/>
          </a:xfrm>
          <a:prstGeom prst="line">
            <a:avLst/>
          </a:prstGeom>
          <a:ln w="2794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706824" y="3456432"/>
            <a:ext cx="137160" cy="137160"/>
          </a:xfrm>
          <a:prstGeom prst="roundRect">
            <a:avLst>
              <a:gd name="adj" fmla="val 8000"/>
            </a:avLst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17136" y="334670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 i="0">
                <a:solidFill>
                  <a:srgbClr val="262220"/>
                </a:solidFill>
                <a:latin typeface="Arial"/>
              </a:defRPr>
            </a:pPr>
            <a:r>
              <a:t>0.716%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3346704"/>
            <a:ext cx="960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40" b="0" i="0">
                <a:solidFill>
                  <a:srgbClr val="625E59"/>
                </a:solidFill>
                <a:latin typeface="Arial"/>
              </a:defRPr>
            </a:pPr>
            <a:r>
              <a:t>t = 3.119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032504"/>
            <a:ext cx="2926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262220"/>
                </a:solidFill>
                <a:latin typeface="Arial"/>
              </a:defRPr>
            </a:pPr>
            <a:r>
              <a:t>Fama–French 6-factor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749039" y="4215383"/>
            <a:ext cx="3403920" cy="0"/>
          </a:xfrm>
          <a:prstGeom prst="line">
            <a:avLst/>
          </a:prstGeom>
          <a:ln w="2794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088951" y="4142231"/>
            <a:ext cx="137160" cy="137160"/>
          </a:xfrm>
          <a:prstGeom prst="roundRect">
            <a:avLst>
              <a:gd name="adj" fmla="val 8000"/>
            </a:avLst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99263" y="403250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 i="0">
                <a:solidFill>
                  <a:srgbClr val="262220"/>
                </a:solidFill>
                <a:latin typeface="Arial"/>
              </a:defRPr>
            </a:pPr>
            <a:r>
              <a:t>0.606%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4032504"/>
            <a:ext cx="960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40" b="0" i="0">
                <a:solidFill>
                  <a:srgbClr val="625E59"/>
                </a:solidFill>
                <a:latin typeface="Arial"/>
              </a:defRPr>
            </a:pPr>
            <a:r>
              <a:t>t = 2.733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4718304"/>
            <a:ext cx="2926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262220"/>
                </a:solidFill>
                <a:latin typeface="Arial"/>
              </a:defRPr>
            </a:pPr>
            <a:r>
              <a:t>Fletcher et al. (2024) 5-factor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749039" y="4901183"/>
            <a:ext cx="2988260" cy="0"/>
          </a:xfrm>
          <a:prstGeom prst="line">
            <a:avLst/>
          </a:prstGeom>
          <a:ln w="2794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673291" y="4828031"/>
            <a:ext cx="137160" cy="137160"/>
          </a:xfrm>
          <a:prstGeom prst="roundRect">
            <a:avLst>
              <a:gd name="adj" fmla="val 8000"/>
            </a:avLst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83603" y="471830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 i="0">
                <a:solidFill>
                  <a:srgbClr val="262220"/>
                </a:solidFill>
                <a:latin typeface="Arial"/>
              </a:defRPr>
            </a:pPr>
            <a:r>
              <a:t>0.532%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4718304"/>
            <a:ext cx="960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40" b="0" i="0">
                <a:solidFill>
                  <a:srgbClr val="625E59"/>
                </a:solidFill>
                <a:latin typeface="Arial"/>
              </a:defRPr>
            </a:pPr>
            <a:r>
              <a:t>t = 2.459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934456"/>
            <a:ext cx="91440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262220"/>
                </a:solidFill>
                <a:latin typeface="Arial"/>
              </a:defRPr>
            </a:pPr>
            <a:r>
              <a:t>ALPHA DECLINES WITH BROADER CONTROLS BUT REMAINS POSITIVE IN EVERY REPORTED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274320"/>
            <a:ext cx="11311128" cy="0"/>
          </a:xfrm>
          <a:prstGeom prst="line">
            <a:avLst/>
          </a:prstGeom>
          <a:ln w="2540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338328"/>
            <a:ext cx="10881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B18B3F"/>
                </a:solidFill>
                <a:latin typeface="Arial"/>
              </a:defRPr>
            </a:pPr>
            <a:r>
              <a:t>FACTOR RELEVANCE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900" b="1" i="0">
                <a:solidFill>
                  <a:srgbClr val="262220"/>
                </a:solidFill>
                <a:latin typeface="Georgia"/>
              </a:defRPr>
            </a:pPr>
            <a:r>
              <a:t>NVF overlaps with HML but retains distinct pricing information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2823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30" b="0" i="0">
                <a:solidFill>
                  <a:srgbClr val="625E59"/>
                </a:solidFill>
                <a:latin typeface="Arial"/>
              </a:defRPr>
            </a:pPr>
            <a:r>
              <a:t>Source: Duong (2025), Tables 2, 9 and 10, PDF pp. 7, 15–16.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25E59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219456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2E6E9E"/>
                </a:solidFill>
                <a:latin typeface="Arial"/>
              </a:defRPr>
            </a:pPr>
            <a:r>
              <a:t>FACTOR OVERLAP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240280"/>
            <a:ext cx="2148840" cy="2148840"/>
          </a:xfrm>
          <a:prstGeom prst="ellipse">
            <a:avLst/>
          </a:prstGeom>
          <a:noFill/>
          <a:ln w="25400">
            <a:solidFill>
              <a:srgbClr val="2E6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2148840" cy="2148840"/>
          </a:xfrm>
          <a:prstGeom prst="ellipse">
            <a:avLst/>
          </a:prstGeom>
          <a:noFill/>
          <a:ln w="25400">
            <a:solidFill>
              <a:srgbClr val="B18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62656"/>
            <a:ext cx="10515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700" b="1" i="0">
                <a:solidFill>
                  <a:srgbClr val="2E6E9E"/>
                </a:solidFill>
                <a:latin typeface="Georgia"/>
              </a:defRPr>
            </a:pPr>
            <a:r>
              <a:t>HML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1216" y="2962656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700" b="1" i="0">
                <a:solidFill>
                  <a:srgbClr val="B18B3F"/>
                </a:solidFill>
                <a:latin typeface="Georgia"/>
              </a:defRPr>
            </a:pPr>
            <a:r>
              <a:t>NVF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44752" y="4608576"/>
            <a:ext cx="1920240" cy="640080"/>
          </a:xfrm>
          <a:prstGeom prst="rect">
            <a:avLst/>
          </a:prstGeom>
          <a:solidFill>
            <a:srgbClr val="F5E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4782312"/>
            <a:ext cx="170078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262220"/>
                </a:solidFill>
                <a:latin typeface="Arial"/>
              </a:defRPr>
            </a:pPr>
            <a:r>
              <a:t>corr = 0.461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90288" y="1819656"/>
            <a:ext cx="0" cy="3803904"/>
          </a:xfrm>
          <a:prstGeom prst="line">
            <a:avLst/>
          </a:prstGeom>
          <a:ln w="1143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83480" y="1801368"/>
            <a:ext cx="2743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625E59"/>
                </a:solidFill>
                <a:latin typeface="Arial"/>
              </a:defRPr>
            </a:pPr>
            <a:r>
              <a:t>SPANNING ALPHA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4336" y="2221992"/>
            <a:ext cx="2743200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900" b="1" i="0">
                <a:solidFill>
                  <a:srgbClr val="B18B3F"/>
                </a:solidFill>
                <a:latin typeface="Georgia"/>
              </a:defRPr>
            </a:pPr>
            <a:r>
              <a:t>0.358%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2944368"/>
            <a:ext cx="256032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 i="0">
                <a:solidFill>
                  <a:srgbClr val="625E59"/>
                </a:solidFill>
                <a:latin typeface="Arial"/>
              </a:defRPr>
            </a:pPr>
            <a:r>
              <a:t>per month · t = 2.344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3401568"/>
            <a:ext cx="27432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  <a:defRPr sz="1100" b="0" i="0">
                <a:solidFill>
                  <a:srgbClr val="262220"/>
                </a:solidFill>
                <a:latin typeface="Arial"/>
              </a:defRPr>
            </a:pPr>
            <a:r>
              <a:t>Existing factors do not fully span NVF in this test.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074152" y="1819656"/>
            <a:ext cx="0" cy="3803904"/>
          </a:xfrm>
          <a:prstGeom prst="line">
            <a:avLst/>
          </a:prstGeom>
          <a:ln w="1143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30768" y="1801368"/>
            <a:ext cx="29260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B18B3F"/>
                </a:solidFill>
                <a:latin typeface="Arial"/>
              </a:defRPr>
            </a:pPr>
            <a:r>
              <a:t>CROSS-SECTIONAL PRICE OF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2221992"/>
            <a:ext cx="2743200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500" b="1" i="0">
                <a:solidFill>
                  <a:srgbClr val="B18B3F"/>
                </a:solidFill>
                <a:latin typeface="Georgia"/>
              </a:defRPr>
            </a:pPr>
            <a:r>
              <a:t>λNVF = 0.466%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944368"/>
            <a:ext cx="251460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 i="0">
                <a:solidFill>
                  <a:srgbClr val="625E59"/>
                </a:solidFill>
                <a:latin typeface="Arial"/>
              </a:defRPr>
            </a:pPr>
            <a:r>
              <a:t>per month · t = 4.323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49056" y="3675887"/>
            <a:ext cx="2798064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58200" y="3867912"/>
            <a:ext cx="27432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 i="0">
                <a:solidFill>
                  <a:srgbClr val="2E6E9E"/>
                </a:solidFill>
                <a:latin typeface="Arial"/>
              </a:defRPr>
            </a:pPr>
            <a:r>
              <a:t>Joint model: λHML = 0.113%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215384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80" b="0" i="0">
                <a:solidFill>
                  <a:srgbClr val="625E59"/>
                </a:solidFill>
                <a:latin typeface="Arial"/>
              </a:defRPr>
            </a:pPr>
            <a:r>
              <a:t>t = 1.576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736592"/>
            <a:ext cx="2743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 i="0">
                <a:solidFill>
                  <a:srgbClr val="262220"/>
                </a:solidFill>
                <a:latin typeface="Arial"/>
              </a:defRPr>
            </a:pPr>
            <a:r>
              <a:t>Evidence is incremental within the paper’s tests.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274320"/>
            <a:ext cx="11311128" cy="0"/>
          </a:xfrm>
          <a:prstGeom prst="line">
            <a:avLst/>
          </a:prstGeom>
          <a:ln w="2540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338328"/>
            <a:ext cx="10881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B18B3F"/>
                </a:solidFill>
                <a:latin typeface="Arial"/>
              </a:defRPr>
            </a:pPr>
            <a:r>
              <a:t>CONSTRUCTIVE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600" b="1" i="0">
                <a:solidFill>
                  <a:srgbClr val="262220"/>
                </a:solidFill>
                <a:latin typeface="Georgia"/>
              </a:defRPr>
            </a:pPr>
            <a:r>
              <a:t>The evidence supports better measurement, not yet net investability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2823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30" b="0" i="0">
                <a:solidFill>
                  <a:srgbClr val="625E59"/>
                </a:solidFill>
                <a:latin typeface="Arial"/>
              </a:defRPr>
            </a:pPr>
            <a:r>
              <a:t>Source: Duong (2025), Sections 3–6; Table 11, PDF pp. 4–18; external context in notes/ledger.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25E59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35295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B18B3F"/>
                </a:solidFill>
                <a:latin typeface="Arial"/>
              </a:defRPr>
            </a:pPr>
            <a:r>
              <a:t>Evidence in paper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2011680"/>
            <a:ext cx="3529584" cy="0"/>
          </a:xfrm>
          <a:prstGeom prst="line">
            <a:avLst/>
          </a:prstGeom>
          <a:ln w="1524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52544" y="1664208"/>
            <a:ext cx="34015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B18B3F"/>
                </a:solidFill>
                <a:latin typeface="Arial"/>
              </a:defRPr>
            </a:pPr>
            <a:r>
              <a:t>Missing test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52544" y="2011680"/>
            <a:ext cx="3401568" cy="0"/>
          </a:xfrm>
          <a:prstGeom prst="line">
            <a:avLst/>
          </a:prstGeom>
          <a:ln w="1524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982712" y="1664208"/>
            <a:ext cx="3520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B18B3F"/>
                </a:solidFill>
                <a:latin typeface="Arial"/>
              </a:defRPr>
            </a:pPr>
            <a:r>
              <a:t>Why it matters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82712" y="2011680"/>
            <a:ext cx="3520440" cy="0"/>
          </a:xfrm>
          <a:prstGeom prst="line">
            <a:avLst/>
          </a:prstGeom>
          <a:ln w="1524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2212848"/>
            <a:ext cx="3529584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20" b="1" i="0">
                <a:solidFill>
                  <a:srgbClr val="262220"/>
                </a:solidFill>
                <a:latin typeface="Arial"/>
              </a:defRPr>
            </a:pPr>
            <a:r>
              <a:t>Gross spread and factor alphas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4" y="2212848"/>
            <a:ext cx="3401568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20" b="0" i="0">
                <a:solidFill>
                  <a:srgbClr val="625E59"/>
                </a:solidFill>
                <a:latin typeface="Arial"/>
              </a:defRPr>
            </a:pPr>
            <a:r>
              <a:t>Turnover, spreads, market impact, borrow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2" y="2212848"/>
            <a:ext cx="35204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20" b="0" i="0">
                <a:solidFill>
                  <a:srgbClr val="625E59"/>
                </a:solidFill>
                <a:latin typeface="Arial"/>
              </a:defRPr>
            </a:pPr>
            <a:r>
              <a:t>Gross return may not survive implementation.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" y="2889503"/>
            <a:ext cx="10908792" cy="0"/>
          </a:xfrm>
          <a:prstGeom prst="line">
            <a:avLst/>
          </a:prstGeom>
          <a:ln w="6985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2999232"/>
            <a:ext cx="3529584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20" b="1" i="0">
                <a:solidFill>
                  <a:srgbClr val="262220"/>
                </a:solidFill>
                <a:latin typeface="Arial"/>
              </a:defRPr>
            </a:pPr>
            <a:r>
              <a:t>UK sample ends June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2544" y="2999232"/>
            <a:ext cx="3401568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20" b="0" i="0">
                <a:solidFill>
                  <a:srgbClr val="625E59"/>
                </a:solidFill>
                <a:latin typeface="Arial"/>
              </a:defRPr>
            </a:pPr>
            <a:r>
              <a:t>Holdout or rolling real-time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2999232"/>
            <a:ext cx="35204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20" b="0" i="0">
                <a:solidFill>
                  <a:srgbClr val="625E59"/>
                </a:solidFill>
                <a:latin typeface="Arial"/>
              </a:defRPr>
            </a:pPr>
            <a:r>
              <a:t>Tests whether discovery persists out of sample.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" y="3675887"/>
            <a:ext cx="10908792" cy="0"/>
          </a:xfrm>
          <a:prstGeom prst="line">
            <a:avLst/>
          </a:prstGeom>
          <a:ln w="6985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" y="3785615"/>
            <a:ext cx="3529584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20" b="1" i="0">
                <a:solidFill>
                  <a:srgbClr val="262220"/>
                </a:solidFill>
                <a:latin typeface="Arial"/>
              </a:defRPr>
            </a:pPr>
            <a:r>
              <a:t>Size tercile sorts are positive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544" y="3785615"/>
            <a:ext cx="3401568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20" b="0" i="0">
                <a:solidFill>
                  <a:srgbClr val="625E59"/>
                </a:solidFill>
                <a:latin typeface="Arial"/>
              </a:defRPr>
            </a:pPr>
            <a:r>
              <a:t>Liquidity, microcap, capacity screens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2712" y="3785615"/>
            <a:ext cx="35204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20" b="0" i="0">
                <a:solidFill>
                  <a:srgbClr val="625E59"/>
                </a:solidFill>
                <a:latin typeface="Arial"/>
              </a:defRPr>
            </a:pPr>
            <a:r>
              <a:t>Size alone does not establish scalable trading.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4360" y="4462272"/>
            <a:ext cx="10908792" cy="0"/>
          </a:xfrm>
          <a:prstGeom prst="line">
            <a:avLst/>
          </a:prstGeom>
          <a:ln w="6985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4360" y="4572000"/>
            <a:ext cx="3529584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20" b="1" i="0">
                <a:solidFill>
                  <a:srgbClr val="262220"/>
                </a:solidFill>
                <a:latin typeface="Arial"/>
              </a:defRPr>
            </a:pPr>
            <a:r>
              <a:t>One CBOP/M definition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2544" y="4572000"/>
            <a:ext cx="3401568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20" b="0" i="0">
                <a:solidFill>
                  <a:srgbClr val="625E59"/>
                </a:solidFill>
                <a:latin typeface="Arial"/>
              </a:defRPr>
            </a:pPr>
            <a:r>
              <a:t>Industry-neutral and intangible alternatives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2712" y="4572000"/>
            <a:ext cx="3520440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20" b="0" i="0">
                <a:solidFill>
                  <a:srgbClr val="625E59"/>
                </a:solidFill>
                <a:latin typeface="Arial"/>
              </a:defRPr>
            </a:pPr>
            <a:r>
              <a:t>Checks whether the signal is robust to accounting structure.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274320"/>
            <a:ext cx="11311128" cy="0"/>
          </a:xfrm>
          <a:prstGeom prst="line">
            <a:avLst/>
          </a:prstGeom>
          <a:ln w="2540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338328"/>
            <a:ext cx="10881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B18B3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600" b="1" i="0">
                <a:solidFill>
                  <a:srgbClr val="262220"/>
                </a:solidFill>
                <a:latin typeface="Georgia"/>
              </a:defRPr>
            </a:pPr>
            <a:r>
              <a:t>CBOP/M improves the UK value signal; net performance remains unknown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2823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30" b="0" i="0">
                <a:solidFill>
                  <a:srgbClr val="625E59"/>
                </a:solidFill>
                <a:latin typeface="Arial"/>
              </a:defRPr>
            </a:pPr>
            <a:r>
              <a:t>Source: Duong (2025), Tables 3–12; conclusion, PDF pp. 8–18.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25E59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755648"/>
            <a:ext cx="5577840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3400" b="1" i="0">
                <a:solidFill>
                  <a:srgbClr val="B18B3F"/>
                </a:solidFill>
                <a:latin typeface="Georgia"/>
              </a:defRPr>
            </a:pPr>
            <a:r>
              <a:t>Measurement matters.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61488"/>
            <a:ext cx="79095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100" b="0" i="0">
                <a:solidFill>
                  <a:srgbClr val="262220"/>
                </a:solidFill>
                <a:latin typeface="Georgia"/>
              </a:defRPr>
            </a:pPr>
            <a:r>
              <a:t>CBOP/M produces a stronger UK value signal than B/M in the paper’s sample.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4672" y="3767328"/>
            <a:ext cx="4498848" cy="0"/>
          </a:xfrm>
          <a:prstGeom prst="line">
            <a:avLst/>
          </a:prstGeom>
          <a:ln w="1524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4672" y="4059936"/>
            <a:ext cx="7635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600" b="0" i="0">
                <a:solidFill>
                  <a:srgbClr val="625E59"/>
                </a:solidFill>
                <a:latin typeface="Arial"/>
              </a:defRPr>
            </a:pPr>
            <a:r>
              <a:t>The next test is whether the return survives realistic implementation and new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2832" y="2084831"/>
            <a:ext cx="2212848" cy="1828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700" b="1" i="0">
                <a:solidFill>
                  <a:srgbClr val="262220"/>
                </a:solidFill>
                <a:latin typeface="Georgia"/>
              </a:defRPr>
            </a:pPr>
            <a:r>
              <a:t>A stronger</a:t>
            </a:r>
          </a:p>
          <a:p>
            <a:pPr algn="ctr">
              <a:spcAft>
                <a:spcPts val="500"/>
              </a:spcAft>
              <a:defRPr sz="1700" b="1" i="0">
                <a:solidFill>
                  <a:srgbClr val="262220"/>
                </a:solidFill>
                <a:latin typeface="Georgia"/>
              </a:defRPr>
            </a:pPr>
            <a:r>
              <a:t>signal is not yet</a:t>
            </a:r>
          </a:p>
          <a:p>
            <a:pPr algn="ctr">
              <a:spcAft>
                <a:spcPts val="500"/>
              </a:spcAft>
              <a:defRPr sz="1700" b="1" i="0">
                <a:solidFill>
                  <a:srgbClr val="262220"/>
                </a:solidFill>
                <a:latin typeface="Georgia"/>
              </a:defRPr>
            </a:pPr>
            <a:r>
              <a:t>a net return.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274320"/>
            <a:ext cx="11311128" cy="0"/>
          </a:xfrm>
          <a:prstGeom prst="line">
            <a:avLst/>
          </a:prstGeom>
          <a:ln w="2540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338328"/>
            <a:ext cx="10881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B18B3F"/>
                </a:solidFill>
                <a:latin typeface="Arial"/>
              </a:defRPr>
            </a:pPr>
            <a:r>
              <a:t>APPENDIX A1 · CONSTRUCT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500" b="1" i="0">
                <a:solidFill>
                  <a:srgbClr val="262220"/>
                </a:solidFill>
                <a:latin typeface="Georgia"/>
              </a:defRPr>
            </a:pPr>
            <a:r>
              <a:t>Exact CBOP/M equation and variable definitions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2823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30" b="0" i="0">
                <a:solidFill>
                  <a:srgbClr val="625E59"/>
                </a:solidFill>
                <a:latin typeface="Arial"/>
              </a:defRPr>
            </a:pPr>
            <a:r>
              <a:t>Source: Duong (2025), Section 3.2, PDF p. 5; Ball et al. (2016).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25E59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655064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262220"/>
                </a:solidFill>
                <a:latin typeface="Georgia"/>
              </a:defRPr>
            </a:pPr>
            <a:r>
              <a:t>OP = Revenue − Cost of goods sold − Selling, general and administrative expenses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2267712"/>
            <a:ext cx="5257800" cy="1828800"/>
          </a:xfrm>
          <a:prstGeom prst="rect">
            <a:avLst/>
          </a:prstGeom>
          <a:solidFill>
            <a:srgbClr val="FBF8F3"/>
          </a:solidFill>
          <a:ln w="12700">
            <a:solidFill>
              <a:srgbClr val="D9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6634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2F7D4F"/>
                </a:solidFill>
                <a:latin typeface="Arial"/>
              </a:defRPr>
            </a:pPr>
            <a:r>
              <a:t>ADD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16352"/>
            <a:ext cx="461772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800"/>
              </a:spcAft>
              <a:defRPr sz="1400" b="1" i="0">
                <a:solidFill>
                  <a:srgbClr val="2F7D4F"/>
                </a:solidFill>
                <a:latin typeface="Arial"/>
              </a:defRPr>
            </a:pPr>
            <a:r>
              <a:t>+ Δ Deferred revenue</a:t>
            </a:r>
          </a:p>
          <a:p>
            <a:pPr algn="l">
              <a:spcAft>
                <a:spcPts val="800"/>
              </a:spcAft>
              <a:defRPr sz="1400" b="1" i="0">
                <a:solidFill>
                  <a:srgbClr val="2F7D4F"/>
                </a:solidFill>
                <a:latin typeface="Arial"/>
              </a:defRPr>
            </a:pPr>
            <a:r>
              <a:t>+ Δ Accrued expenses</a:t>
            </a:r>
          </a:p>
          <a:p>
            <a:pPr algn="l">
              <a:spcAft>
                <a:spcPts val="800"/>
              </a:spcAft>
              <a:defRPr sz="1400" b="1" i="0">
                <a:solidFill>
                  <a:srgbClr val="2F7D4F"/>
                </a:solidFill>
                <a:latin typeface="Arial"/>
              </a:defRPr>
            </a:pPr>
            <a:r>
              <a:t>+ Δ Accounts payable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267712"/>
            <a:ext cx="5257800" cy="1828800"/>
          </a:xfrm>
          <a:prstGeom prst="rect">
            <a:avLst/>
          </a:prstGeom>
          <a:solidFill>
            <a:srgbClr val="FBF8F3"/>
          </a:solidFill>
          <a:ln w="12700">
            <a:solidFill>
              <a:srgbClr val="D9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468880"/>
            <a:ext cx="45720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9E2F50"/>
                </a:solidFill>
                <a:latin typeface="Arial"/>
              </a:defRPr>
            </a:pPr>
            <a:r>
              <a:t>SUBTRACT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816352"/>
            <a:ext cx="461772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800"/>
              </a:spcAft>
              <a:defRPr sz="1400" b="1" i="0">
                <a:solidFill>
                  <a:srgbClr val="9E2F50"/>
                </a:solidFill>
                <a:latin typeface="Arial"/>
              </a:defRPr>
            </a:pPr>
            <a:r>
              <a:t>− Δ Prepaid expense</a:t>
            </a:r>
          </a:p>
          <a:p>
            <a:pPr algn="l">
              <a:spcAft>
                <a:spcPts val="800"/>
              </a:spcAft>
              <a:defRPr sz="1400" b="1" i="0">
                <a:solidFill>
                  <a:srgbClr val="9E2F50"/>
                </a:solidFill>
                <a:latin typeface="Arial"/>
              </a:defRPr>
            </a:pPr>
            <a:r>
              <a:t>− Δ Inventory</a:t>
            </a:r>
          </a:p>
          <a:p>
            <a:pPr algn="l">
              <a:spcAft>
                <a:spcPts val="800"/>
              </a:spcAft>
              <a:defRPr sz="1400" b="1" i="0">
                <a:solidFill>
                  <a:srgbClr val="9E2F50"/>
                </a:solidFill>
                <a:latin typeface="Arial"/>
              </a:defRPr>
            </a:pPr>
            <a:r>
              <a:t>− Δ Accounts receivable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10128" y="4151376"/>
            <a:ext cx="0" cy="512064"/>
          </a:xfrm>
          <a:prstGeom prst="line">
            <a:avLst/>
          </a:prstGeom>
          <a:ln w="1651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96528" y="4151376"/>
            <a:ext cx="0" cy="512064"/>
          </a:xfrm>
          <a:prstGeom prst="line">
            <a:avLst/>
          </a:prstGeom>
          <a:ln w="1651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160520" y="4681728"/>
            <a:ext cx="3794760" cy="612648"/>
          </a:xfrm>
          <a:prstGeom prst="rect">
            <a:avLst/>
          </a:prstGeom>
          <a:solidFill>
            <a:srgbClr val="EAD7B0"/>
          </a:solidFill>
          <a:ln w="12700">
            <a:solidFill>
              <a:srgbClr val="B18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4855464"/>
            <a:ext cx="3520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1" i="0">
                <a:solidFill>
                  <a:srgbClr val="262220"/>
                </a:solidFill>
                <a:latin typeface="Arial"/>
              </a:defRPr>
            </a:pPr>
            <a:r>
              <a:t>CBOP = OP + additions − subtractions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577840"/>
            <a:ext cx="1060704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60" b="0" i="0">
                <a:solidFill>
                  <a:srgbClr val="625E59"/>
                </a:solidFill>
                <a:latin typeface="Arial"/>
              </a:defRPr>
            </a:pPr>
            <a:r>
              <a:t>CBOP/M = CBOP ÷ market capitalization. This is an accrual-adjusted profit measure, not pure cash flow.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274320"/>
            <a:ext cx="11311128" cy="0"/>
          </a:xfrm>
          <a:prstGeom prst="line">
            <a:avLst/>
          </a:prstGeom>
          <a:ln w="2540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338328"/>
            <a:ext cx="10881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B18B3F"/>
                </a:solidFill>
                <a:latin typeface="Arial"/>
              </a:defRPr>
            </a:pPr>
            <a:r>
              <a:t>APPENDIX A2 · DESIGN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500" b="1" i="0">
                <a:solidFill>
                  <a:srgbClr val="262220"/>
                </a:solidFill>
                <a:latin typeface="Georgia"/>
              </a:defRPr>
            </a:pPr>
            <a:r>
              <a:t>Portfolio and factor construction at a glance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2823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30" b="0" i="0">
                <a:solidFill>
                  <a:srgbClr val="625E59"/>
                </a:solidFill>
                <a:latin typeface="Arial"/>
              </a:defRPr>
            </a:pPr>
            <a:r>
              <a:t>Source: Duong (2025), Sections 3.1–3.3, PDF pp. 4–6.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25E59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737360"/>
            <a:ext cx="1874519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60" b="1" i="0">
                <a:solidFill>
                  <a:srgbClr val="B18B3F"/>
                </a:solidFill>
                <a:latin typeface="Arial"/>
              </a:defRPr>
            </a:pPr>
            <a:r>
              <a:t>Universe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7168" y="1847088"/>
            <a:ext cx="256032" cy="0"/>
          </a:xfrm>
          <a:prstGeom prst="line">
            <a:avLst/>
          </a:prstGeom>
          <a:ln w="1651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07792" y="1737360"/>
            <a:ext cx="8183879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50" b="0" i="0">
                <a:solidFill>
                  <a:srgbClr val="262220"/>
                </a:solidFill>
                <a:latin typeface="Arial"/>
              </a:defRPr>
            </a:pPr>
            <a:r>
              <a:t>Non-financial UK LSE stocks; ~1,700; delisted where available.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231136"/>
            <a:ext cx="10671048" cy="0"/>
          </a:xfrm>
          <a:prstGeom prst="line">
            <a:avLst/>
          </a:prstGeom>
          <a:ln w="6985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2368296"/>
            <a:ext cx="1874519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60" b="1" i="0">
                <a:solidFill>
                  <a:srgbClr val="B18B3F"/>
                </a:solidFill>
                <a:latin typeface="Arial"/>
              </a:defRPr>
            </a:pPr>
            <a:r>
              <a:t>Signal timing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87168" y="2478024"/>
            <a:ext cx="256032" cy="0"/>
          </a:xfrm>
          <a:prstGeom prst="line">
            <a:avLst/>
          </a:prstGeom>
          <a:ln w="1651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07792" y="2368296"/>
            <a:ext cx="8183879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50" b="0" i="0">
                <a:solidFill>
                  <a:srgbClr val="262220"/>
                </a:solidFill>
                <a:latin typeface="Arial"/>
              </a:defRPr>
            </a:pPr>
            <a:r>
              <a:t>Prior fiscal-year-end B/M or CBOP/M; annual July formation.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2862072"/>
            <a:ext cx="10671048" cy="0"/>
          </a:xfrm>
          <a:prstGeom prst="line">
            <a:avLst/>
          </a:prstGeom>
          <a:ln w="6985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2999232"/>
            <a:ext cx="1874519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60" b="1" i="0">
                <a:solidFill>
                  <a:srgbClr val="B18B3F"/>
                </a:solidFill>
                <a:latin typeface="Arial"/>
              </a:defRPr>
            </a:pPr>
            <a:r>
              <a:t>Portfolio sort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87168" y="3108960"/>
            <a:ext cx="256032" cy="0"/>
          </a:xfrm>
          <a:prstGeom prst="line">
            <a:avLst/>
          </a:prstGeom>
          <a:ln w="1651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907792" y="2999232"/>
            <a:ext cx="8183879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50" b="0" i="0">
                <a:solidFill>
                  <a:srgbClr val="262220"/>
                </a:solidFill>
                <a:latin typeface="Arial"/>
              </a:defRPr>
            </a:pPr>
            <a:r>
              <a:t>Ten deciles; value-weighted returns for following 12 months.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3493008"/>
            <a:ext cx="10671048" cy="0"/>
          </a:xfrm>
          <a:prstGeom prst="line">
            <a:avLst/>
          </a:prstGeom>
          <a:ln w="6985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3630168"/>
            <a:ext cx="1874519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60" b="1" i="0">
                <a:solidFill>
                  <a:srgbClr val="B18B3F"/>
                </a:solidFill>
                <a:latin typeface="Arial"/>
              </a:defRPr>
            </a:pPr>
            <a:r>
              <a:t>Sample window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87168" y="3739896"/>
            <a:ext cx="256032" cy="0"/>
          </a:xfrm>
          <a:prstGeom prst="line">
            <a:avLst/>
          </a:prstGeom>
          <a:ln w="1651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907792" y="3630168"/>
            <a:ext cx="8183879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50" b="0" i="0">
                <a:solidFill>
                  <a:srgbClr val="262220"/>
                </a:solidFill>
                <a:latin typeface="Arial"/>
              </a:defRPr>
            </a:pPr>
            <a:r>
              <a:t>July 2000–June 2024; 288 monthly return observations.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4123944"/>
            <a:ext cx="10671048" cy="0"/>
          </a:xfrm>
          <a:prstGeom prst="line">
            <a:avLst/>
          </a:prstGeom>
          <a:ln w="6985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4261104"/>
            <a:ext cx="1874519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60" b="1" i="0">
                <a:solidFill>
                  <a:srgbClr val="B18B3F"/>
                </a:solidFill>
                <a:latin typeface="Arial"/>
              </a:defRPr>
            </a:pPr>
            <a:r>
              <a:t>NVF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87168" y="4370832"/>
            <a:ext cx="256032" cy="0"/>
          </a:xfrm>
          <a:prstGeom prst="line">
            <a:avLst/>
          </a:prstGeom>
          <a:ln w="1651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07792" y="4261104"/>
            <a:ext cx="8183879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50" b="0" i="0">
                <a:solidFill>
                  <a:srgbClr val="262220"/>
                </a:solidFill>
                <a:latin typeface="Arial"/>
              </a:defRPr>
            </a:pPr>
            <a:r>
              <a:t>½(BV + SV − BG − SG), double sort on size and CBOP/M.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" y="4754880"/>
            <a:ext cx="10671048" cy="0"/>
          </a:xfrm>
          <a:prstGeom prst="line">
            <a:avLst/>
          </a:prstGeom>
          <a:ln w="6985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4892040"/>
            <a:ext cx="1874519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60" b="1" i="0">
                <a:solidFill>
                  <a:srgbClr val="B18B3F"/>
                </a:solidFill>
                <a:latin typeface="Arial"/>
              </a:defRPr>
            </a:pPr>
            <a:r>
              <a:t>Benchmarks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487168" y="5001768"/>
            <a:ext cx="256032" cy="0"/>
          </a:xfrm>
          <a:prstGeom prst="line">
            <a:avLst/>
          </a:prstGeom>
          <a:ln w="1651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7792" y="4892040"/>
            <a:ext cx="8183879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50" b="0" i="0">
                <a:solidFill>
                  <a:srgbClr val="262220"/>
                </a:solidFill>
                <a:latin typeface="Arial"/>
              </a:defRPr>
            </a:pPr>
            <a:r>
              <a:t>CAPM, FF3/5/6 and Fletcher et al. (2024) 5-factor; HML-to-NVF GRS comparisons.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" y="5641848"/>
            <a:ext cx="10625328" cy="393192"/>
          </a:xfrm>
          <a:prstGeom prst="rect">
            <a:avLst/>
          </a:prstGeom>
          <a:solidFill>
            <a:srgbClr val="F5E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5724144"/>
            <a:ext cx="10287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9E2F50"/>
                </a:solidFill>
                <a:latin typeface="Arial"/>
              </a:defRPr>
            </a:pPr>
            <a:r>
              <a:t>Reporting-lag implementation should be clarified for point-in-time replication.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274320"/>
            <a:ext cx="11311128" cy="0"/>
          </a:xfrm>
          <a:prstGeom prst="line">
            <a:avLst/>
          </a:prstGeom>
          <a:ln w="2540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338328"/>
            <a:ext cx="10881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B18B3F"/>
                </a:solidFill>
                <a:latin typeface="Arial"/>
              </a:defRPr>
            </a:pPr>
            <a:r>
              <a:t>APPENDIX A3 · EMPIRICAL AUDIT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500" b="1" i="0">
                <a:solidFill>
                  <a:srgbClr val="262220"/>
                </a:solidFill>
                <a:latin typeface="Georgia"/>
              </a:defRPr>
            </a:pPr>
            <a:r>
              <a:t>Key estimates and exact source locations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2823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30" b="0" i="0">
                <a:solidFill>
                  <a:srgbClr val="625E59"/>
                </a:solidFill>
                <a:latin typeface="Arial"/>
              </a:defRPr>
            </a:pPr>
            <a:r>
              <a:t>Source: Duong (2025), table/figure and PDF page shown per 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25E59"/>
                </a:solidFill>
                <a:latin typeface="Arial"/>
              </a:defRPr>
            </a:pPr>
            <a: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0352" y="1591056"/>
          <a:ext cx="11137392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28"/>
                <a:gridCol w="2286000"/>
                <a:gridCol w="4754880"/>
                <a:gridCol w="2157984"/>
              </a:tblGrid>
              <a:tr h="5623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120" b="1">
                          <a:solidFill>
                            <a:srgbClr val="262220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64008" marR="54864" marT="32004" marB="3200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120" b="1">
                          <a:solidFill>
                            <a:srgbClr val="262220"/>
                          </a:solidFill>
                          <a:latin typeface="Arial"/>
                        </a:rPr>
                        <a:t>Estimate</a:t>
                      </a:r>
                    </a:p>
                  </a:txBody>
                  <a:tcPr marL="64008" marR="54864" marT="32004" marB="3200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120" b="1">
                          <a:solidFill>
                            <a:srgbClr val="262220"/>
                          </a:solidFill>
                          <a:latin typeface="Arial"/>
                        </a:rPr>
                        <a:t>Statistic / definition</a:t>
                      </a:r>
                    </a:p>
                  </a:txBody>
                  <a:tcPr marL="64008" marR="54864" marT="32004" marB="3200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120" b="1">
                          <a:solidFill>
                            <a:srgbClr val="262220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64008" marR="54864" marT="32004" marB="32004" anchor="ctr">
                    <a:solidFill>
                      <a:srgbClr val="EAD7B0"/>
                    </a:solidFill>
                  </a:tcPr>
                </a:tc>
              </a:tr>
              <a:tr h="5623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1">
                          <a:solidFill>
                            <a:srgbClr val="262220"/>
                          </a:solidFill>
                          <a:latin typeface="Arial"/>
                        </a:rPr>
                        <a:t>B/M H − L</a:t>
                      </a:r>
                    </a:p>
                  </a:txBody>
                  <a:tcPr marL="64008" marR="54864" marT="32004" marB="32004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0">
                          <a:solidFill>
                            <a:srgbClr val="262220"/>
                          </a:solidFill>
                          <a:latin typeface="Arial"/>
                        </a:rPr>
                        <a:t>+0.790% per month</a:t>
                      </a:r>
                    </a:p>
                  </a:txBody>
                  <a:tcPr marL="64008" marR="54864" marT="32004" marB="32004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0">
                          <a:solidFill>
                            <a:srgbClr val="262220"/>
                          </a:solidFill>
                          <a:latin typeface="Arial"/>
                        </a:rPr>
                        <a:t>t = 2.312</a:t>
                      </a:r>
                    </a:p>
                  </a:txBody>
                  <a:tcPr marL="64008" marR="54864" marT="32004" marB="32004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0">
                          <a:solidFill>
                            <a:srgbClr val="262220"/>
                          </a:solidFill>
                          <a:latin typeface="Arial"/>
                        </a:rPr>
                        <a:t>Table 3 · p. 8</a:t>
                      </a:r>
                    </a:p>
                  </a:txBody>
                  <a:tcPr marL="64008" marR="54864" marT="32004" marB="32004" anchor="ctr">
                    <a:solidFill>
                      <a:srgbClr val="FFF4E6"/>
                    </a:solidFill>
                  </a:tcPr>
                </a:tc>
              </a:tr>
              <a:tr h="5623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1">
                          <a:solidFill>
                            <a:srgbClr val="262220"/>
                          </a:solidFill>
                          <a:latin typeface="Arial"/>
                        </a:rPr>
                        <a:t>B/M 2006–24</a:t>
                      </a:r>
                    </a:p>
                  </a:txBody>
                  <a:tcPr marL="64008" marR="54864" marT="32004" marB="32004" anchor="ctr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0">
                          <a:solidFill>
                            <a:srgbClr val="262220"/>
                          </a:solidFill>
                          <a:latin typeface="Arial"/>
                        </a:rPr>
                        <a:t>+0.18% per month</a:t>
                      </a:r>
                    </a:p>
                  </a:txBody>
                  <a:tcPr marL="64008" marR="54864" marT="32004" marB="32004" anchor="ctr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0">
                          <a:solidFill>
                            <a:srgbClr val="262220"/>
                          </a:solidFill>
                          <a:latin typeface="Arial"/>
                        </a:rPr>
                        <a:t>Aggregate period; not Figure 1 subperiod</a:t>
                      </a:r>
                    </a:p>
                  </a:txBody>
                  <a:tcPr marL="64008" marR="54864" marT="32004" marB="32004" anchor="ctr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0">
                          <a:solidFill>
                            <a:srgbClr val="262220"/>
                          </a:solidFill>
                          <a:latin typeface="Arial"/>
                        </a:rPr>
                        <a:t>Abstract / Conclusion · pp. 1, 18</a:t>
                      </a:r>
                    </a:p>
                  </a:txBody>
                  <a:tcPr marL="64008" marR="54864" marT="32004" marB="32004" anchor="ctr">
                    <a:solidFill>
                      <a:srgbClr val="F5E9D9"/>
                    </a:solidFill>
                  </a:tcPr>
                </a:tc>
              </a:tr>
              <a:tr h="5623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1">
                          <a:solidFill>
                            <a:srgbClr val="262220"/>
                          </a:solidFill>
                          <a:latin typeface="Arial"/>
                        </a:rPr>
                        <a:t>CBOP/M H − L</a:t>
                      </a:r>
                    </a:p>
                  </a:txBody>
                  <a:tcPr marL="64008" marR="54864" marT="32004" marB="32004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0">
                          <a:solidFill>
                            <a:srgbClr val="262220"/>
                          </a:solidFill>
                          <a:latin typeface="Arial"/>
                        </a:rPr>
                        <a:t>+1.175% per month</a:t>
                      </a:r>
                    </a:p>
                  </a:txBody>
                  <a:tcPr marL="64008" marR="54864" marT="32004" marB="32004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0">
                          <a:solidFill>
                            <a:srgbClr val="262220"/>
                          </a:solidFill>
                          <a:latin typeface="Arial"/>
                        </a:rPr>
                        <a:t>t = 3.615; raw value-weighted</a:t>
                      </a:r>
                    </a:p>
                  </a:txBody>
                  <a:tcPr marL="64008" marR="54864" marT="32004" marB="32004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0">
                          <a:solidFill>
                            <a:srgbClr val="262220"/>
                          </a:solidFill>
                          <a:latin typeface="Arial"/>
                        </a:rPr>
                        <a:t>Table 6 · p. 12</a:t>
                      </a:r>
                    </a:p>
                  </a:txBody>
                  <a:tcPr marL="64008" marR="54864" marT="32004" marB="32004" anchor="ctr">
                    <a:solidFill>
                      <a:srgbClr val="FFF4E6"/>
                    </a:solidFill>
                  </a:tcPr>
                </a:tc>
              </a:tr>
              <a:tr h="5623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1">
                          <a:solidFill>
                            <a:srgbClr val="262220"/>
                          </a:solidFill>
                          <a:latin typeface="Arial"/>
                        </a:rPr>
                        <a:t>CBOP/M alphas</a:t>
                      </a:r>
                    </a:p>
                  </a:txBody>
                  <a:tcPr marL="64008" marR="54864" marT="32004" marB="32004" anchor="ctr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0">
                          <a:solidFill>
                            <a:srgbClr val="262220"/>
                          </a:solidFill>
                          <a:latin typeface="Arial"/>
                        </a:rPr>
                        <a:t>.917, .867, .716, .606, .532% per month</a:t>
                      </a:r>
                    </a:p>
                  </a:txBody>
                  <a:tcPr marL="64008" marR="54864" marT="32004" marB="32004" anchor="ctr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0">
                          <a:solidFill>
                            <a:srgbClr val="262220"/>
                          </a:solidFill>
                          <a:latin typeface="Arial"/>
                        </a:rPr>
                        <a:t>CAPM, FF3, FF5, FF6, Fletcher5; t = 4.012, 3.587, 3.119, 2.733, 2.459</a:t>
                      </a:r>
                    </a:p>
                  </a:txBody>
                  <a:tcPr marL="64008" marR="54864" marT="32004" marB="32004" anchor="ctr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0">
                          <a:solidFill>
                            <a:srgbClr val="262220"/>
                          </a:solidFill>
                          <a:latin typeface="Arial"/>
                        </a:rPr>
                        <a:t>Table 7 · p. 13</a:t>
                      </a:r>
                    </a:p>
                  </a:txBody>
                  <a:tcPr marL="64008" marR="54864" marT="32004" marB="32004" anchor="ctr">
                    <a:solidFill>
                      <a:srgbClr val="F5E9D9"/>
                    </a:solidFill>
                  </a:tcPr>
                </a:tc>
              </a:tr>
              <a:tr h="5623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1">
                          <a:solidFill>
                            <a:srgbClr val="262220"/>
                          </a:solidFill>
                          <a:latin typeface="Arial"/>
                        </a:rPr>
                        <a:t>NVF spanning</a:t>
                      </a:r>
                    </a:p>
                  </a:txBody>
                  <a:tcPr marL="64008" marR="54864" marT="32004" marB="32004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0">
                          <a:solidFill>
                            <a:srgbClr val="262220"/>
                          </a:solidFill>
                          <a:latin typeface="Arial"/>
                        </a:rPr>
                        <a:t>+.358% per month</a:t>
                      </a:r>
                    </a:p>
                  </a:txBody>
                  <a:tcPr marL="64008" marR="54864" marT="32004" marB="32004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0">
                          <a:solidFill>
                            <a:srgbClr val="262220"/>
                          </a:solidFill>
                          <a:latin typeface="Arial"/>
                        </a:rPr>
                        <a:t>t = 2.344</a:t>
                      </a:r>
                    </a:p>
                  </a:txBody>
                  <a:tcPr marL="64008" marR="54864" marT="32004" marB="32004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0">
                          <a:solidFill>
                            <a:srgbClr val="262220"/>
                          </a:solidFill>
                          <a:latin typeface="Arial"/>
                        </a:rPr>
                        <a:t>Table 9 · p. 15</a:t>
                      </a:r>
                    </a:p>
                  </a:txBody>
                  <a:tcPr marL="64008" marR="54864" marT="32004" marB="32004" anchor="ctr">
                    <a:solidFill>
                      <a:srgbClr val="FFF4E6"/>
                    </a:solidFill>
                  </a:tcPr>
                </a:tc>
              </a:tr>
              <a:tr h="5623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1">
                          <a:solidFill>
                            <a:srgbClr val="262220"/>
                          </a:solidFill>
                          <a:latin typeface="Arial"/>
                        </a:rPr>
                        <a:t>Fama–MacBeth</a:t>
                      </a:r>
                    </a:p>
                  </a:txBody>
                  <a:tcPr marL="64008" marR="54864" marT="32004" marB="32004" anchor="ctr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0">
                          <a:solidFill>
                            <a:srgbClr val="262220"/>
                          </a:solidFill>
                          <a:latin typeface="Arial"/>
                        </a:rPr>
                        <a:t>λNVF +.466%; λHML +.113% per month</a:t>
                      </a:r>
                    </a:p>
                  </a:txBody>
                  <a:tcPr marL="64008" marR="54864" marT="32004" marB="32004" anchor="ctr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0">
                          <a:solidFill>
                            <a:srgbClr val="262220"/>
                          </a:solidFill>
                          <a:latin typeface="Arial"/>
                        </a:rPr>
                        <a:t>t = 4.323; 1.576 (joint model)</a:t>
                      </a:r>
                    </a:p>
                  </a:txBody>
                  <a:tcPr marL="64008" marR="54864" marT="32004" marB="32004" anchor="ctr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0">
                          <a:solidFill>
                            <a:srgbClr val="262220"/>
                          </a:solidFill>
                          <a:latin typeface="Arial"/>
                        </a:rPr>
                        <a:t>Table 10 · p. 16</a:t>
                      </a:r>
                    </a:p>
                  </a:txBody>
                  <a:tcPr marL="64008" marR="54864" marT="32004" marB="32004" anchor="ctr">
                    <a:solidFill>
                      <a:srgbClr val="F5E9D9"/>
                    </a:solidFill>
                  </a:tcPr>
                </a:tc>
              </a:tr>
              <a:tr h="56235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1">
                          <a:solidFill>
                            <a:srgbClr val="262220"/>
                          </a:solidFill>
                          <a:latin typeface="Arial"/>
                        </a:rPr>
                        <a:t>GRS Fletcher5</a:t>
                      </a:r>
                    </a:p>
                  </a:txBody>
                  <a:tcPr marL="64008" marR="54864" marT="32004" marB="32004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0">
                          <a:solidFill>
                            <a:srgbClr val="262220"/>
                          </a:solidFill>
                          <a:latin typeface="Arial"/>
                        </a:rPr>
                        <a:t>p .232 → .620</a:t>
                      </a:r>
                    </a:p>
                  </a:txBody>
                  <a:tcPr marL="64008" marR="54864" marT="32004" marB="32004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0">
                          <a:solidFill>
                            <a:srgbClr val="262220"/>
                          </a:solidFill>
                          <a:latin typeface="Arial"/>
                        </a:rPr>
                        <a:t>Replacing HML with NVF; 25 test assets</a:t>
                      </a:r>
                    </a:p>
                  </a:txBody>
                  <a:tcPr marL="64008" marR="54864" marT="32004" marB="32004"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30" b="0">
                          <a:solidFill>
                            <a:srgbClr val="262220"/>
                          </a:solidFill>
                          <a:latin typeface="Arial"/>
                        </a:rPr>
                        <a:t>Table 12 · p. 18</a:t>
                      </a:r>
                    </a:p>
                  </a:txBody>
                  <a:tcPr marL="64008" marR="54864" marT="32004" marB="32004" anchor="ctr">
                    <a:solidFill>
                      <a:srgbClr val="FFF4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274320"/>
            <a:ext cx="11311128" cy="0"/>
          </a:xfrm>
          <a:prstGeom prst="line">
            <a:avLst/>
          </a:prstGeom>
          <a:ln w="2540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338328"/>
            <a:ext cx="10881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B18B3F"/>
                </a:solidFill>
                <a:latin typeface="Arial"/>
              </a:defRPr>
            </a:pPr>
            <a:r>
              <a:t>APPENDIX A4 · LITERATURE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500" b="1" i="0">
                <a:solidFill>
                  <a:srgbClr val="262220"/>
                </a:solidFill>
                <a:latin typeface="Georgia"/>
              </a:defRPr>
            </a:pPr>
            <a:r>
              <a:t>From conventional value to the UK CBOP/M test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2823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30" b="0" i="0">
                <a:solidFill>
                  <a:srgbClr val="625E59"/>
                </a:solidFill>
                <a:latin typeface="Arial"/>
              </a:defRPr>
            </a:pPr>
            <a:r>
              <a:t>Source: Duong (2025), Core references and selected extensions, full citations in source_ledger_QA_v2.md.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25E59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2240280" cy="960120"/>
          </a:xfrm>
          <a:prstGeom prst="rect">
            <a:avLst/>
          </a:prstGeom>
          <a:solidFill>
            <a:srgbClr val="FBF8F3"/>
          </a:solidFill>
          <a:ln w="12700">
            <a:solidFill>
              <a:srgbClr val="D9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38528"/>
            <a:ext cx="64008" cy="960120"/>
          </a:xfrm>
          <a:prstGeom prst="rect">
            <a:avLst/>
          </a:prstGeom>
          <a:solidFill>
            <a:srgbClr val="2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057400"/>
            <a:ext cx="198424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50" b="1" i="0">
                <a:solidFill>
                  <a:srgbClr val="262220"/>
                </a:solidFill>
                <a:latin typeface="Arial"/>
              </a:defRPr>
            </a:pPr>
            <a:r>
              <a:t>Fama &amp; French (1993)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404872"/>
            <a:ext cx="198424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  <a:defRPr sz="930" b="0" i="0">
                <a:solidFill>
                  <a:srgbClr val="625E59"/>
                </a:solidFill>
                <a:latin typeface="Arial"/>
              </a:defRPr>
            </a:pPr>
            <a:r>
              <a:t>HML benchmark; book-to-market.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01568"/>
            <a:ext cx="2240280" cy="960120"/>
          </a:xfrm>
          <a:prstGeom prst="rect">
            <a:avLst/>
          </a:prstGeom>
          <a:solidFill>
            <a:srgbClr val="FBF8F3"/>
          </a:solidFill>
          <a:ln w="12700">
            <a:solidFill>
              <a:srgbClr val="D9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401568"/>
            <a:ext cx="64008" cy="96012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520440"/>
            <a:ext cx="198424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50" b="1" i="0">
                <a:solidFill>
                  <a:srgbClr val="262220"/>
                </a:solidFill>
                <a:latin typeface="Arial"/>
              </a:defRPr>
            </a:pPr>
            <a:r>
              <a:t>Ball et al. (2016)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867912"/>
            <a:ext cx="198424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  <a:defRPr sz="930" b="0" i="0">
                <a:solidFill>
                  <a:srgbClr val="625E59"/>
                </a:solidFill>
                <a:latin typeface="Arial"/>
              </a:defRPr>
            </a:pPr>
            <a:r>
              <a:t>Cash-based operating profitability.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2633472"/>
            <a:ext cx="2240280" cy="1051560"/>
          </a:xfrm>
          <a:prstGeom prst="rect">
            <a:avLst/>
          </a:prstGeom>
          <a:solidFill>
            <a:srgbClr val="F5E9D9"/>
          </a:solidFill>
          <a:ln w="12700">
            <a:solidFill>
              <a:srgbClr val="D9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0" y="2633472"/>
            <a:ext cx="64008" cy="105156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03904" y="2752344"/>
            <a:ext cx="198424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262220"/>
                </a:solidFill>
                <a:latin typeface="Arial"/>
              </a:defRPr>
            </a:pPr>
            <a:r>
              <a:t>Wang (2024)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3099815"/>
            <a:ext cx="1984248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  <a:defRPr sz="950" b="0" i="0">
                <a:solidFill>
                  <a:srgbClr val="625E59"/>
                </a:solidFill>
                <a:latin typeface="Arial"/>
              </a:defRPr>
            </a:pPr>
            <a:r>
              <a:t>CBOP / price in US equities.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633472"/>
            <a:ext cx="2331720" cy="1051560"/>
          </a:xfrm>
          <a:prstGeom prst="rect">
            <a:avLst/>
          </a:prstGeom>
          <a:solidFill>
            <a:srgbClr val="EAD7B0"/>
          </a:solidFill>
          <a:ln w="12700">
            <a:solidFill>
              <a:srgbClr val="B18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2633472"/>
            <a:ext cx="64008" cy="1051560"/>
          </a:xfrm>
          <a:prstGeom prst="rect">
            <a:avLst/>
          </a:prstGeom>
          <a:solidFill>
            <a:srgbClr val="B18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752344"/>
            <a:ext cx="2075687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50" b="1" i="0">
                <a:solidFill>
                  <a:srgbClr val="262220"/>
                </a:solidFill>
                <a:latin typeface="Arial"/>
              </a:defRPr>
            </a:pPr>
            <a:r>
              <a:t>Duong (2025)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3099815"/>
            <a:ext cx="2075687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  <a:defRPr sz="950" b="0" i="0">
                <a:solidFill>
                  <a:srgbClr val="625E59"/>
                </a:solidFill>
                <a:latin typeface="Arial"/>
              </a:defRPr>
            </a:pPr>
            <a:r>
              <a:t>UK return and factor evidence.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9800" y="1965960"/>
            <a:ext cx="1737360" cy="914400"/>
          </a:xfrm>
          <a:prstGeom prst="rect">
            <a:avLst/>
          </a:prstGeom>
          <a:solidFill>
            <a:srgbClr val="FBF8F3"/>
          </a:solidFill>
          <a:ln w="12700">
            <a:solidFill>
              <a:srgbClr val="D9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29800" y="1965960"/>
            <a:ext cx="64008" cy="914400"/>
          </a:xfrm>
          <a:prstGeom prst="rect">
            <a:avLst/>
          </a:prstGeom>
          <a:solidFill>
            <a:srgbClr val="2E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76104" y="2084831"/>
            <a:ext cx="14813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 i="0">
                <a:solidFill>
                  <a:srgbClr val="262220"/>
                </a:solidFill>
                <a:latin typeface="Arial"/>
              </a:defRPr>
            </a:pPr>
            <a:r>
              <a:t>Intangibles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76104" y="2432304"/>
            <a:ext cx="1481328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  <a:defRPr sz="860" b="0" i="0">
                <a:solidFill>
                  <a:srgbClr val="625E59"/>
                </a:solidFill>
                <a:latin typeface="Arial"/>
              </a:defRPr>
            </a:pPr>
            <a:r>
              <a:t>Eisfeldt et al. (2022)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29800" y="3127248"/>
            <a:ext cx="1737360" cy="1005840"/>
          </a:xfrm>
          <a:prstGeom prst="rect">
            <a:avLst/>
          </a:prstGeom>
          <a:solidFill>
            <a:srgbClr val="FBF8F3"/>
          </a:solidFill>
          <a:ln w="12700">
            <a:solidFill>
              <a:srgbClr val="D9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29800" y="3127248"/>
            <a:ext cx="64008" cy="1005840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76104" y="3246120"/>
            <a:ext cx="14813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 i="0">
                <a:solidFill>
                  <a:srgbClr val="262220"/>
                </a:solidFill>
                <a:latin typeface="Arial"/>
              </a:defRPr>
            </a:pPr>
            <a:r>
              <a:t>Replication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76104" y="3593591"/>
            <a:ext cx="1481328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  <a:defRPr sz="830" b="0" i="0">
                <a:solidFill>
                  <a:srgbClr val="625E59"/>
                </a:solidFill>
                <a:latin typeface="Arial"/>
              </a:defRPr>
            </a:pPr>
            <a:r>
              <a:t>Jensen et al. (2023); 93-country evidence.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29800" y="4389120"/>
            <a:ext cx="1737360" cy="914400"/>
          </a:xfrm>
          <a:prstGeom prst="rect">
            <a:avLst/>
          </a:prstGeom>
          <a:solidFill>
            <a:srgbClr val="FBF8F3"/>
          </a:solidFill>
          <a:ln w="12700">
            <a:solidFill>
              <a:srgbClr val="D9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29800" y="4389120"/>
            <a:ext cx="64008" cy="914400"/>
          </a:xfrm>
          <a:prstGeom prst="rect">
            <a:avLst/>
          </a:prstGeom>
          <a:solidFill>
            <a:srgbClr val="9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76104" y="4507992"/>
            <a:ext cx="14813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 i="0">
                <a:solidFill>
                  <a:srgbClr val="262220"/>
                </a:solidFill>
                <a:latin typeface="Arial"/>
              </a:defRPr>
            </a:pPr>
            <a:r>
              <a:t>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6104" y="4855464"/>
            <a:ext cx="1481328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  <a:defRPr sz="860" b="0" i="0">
                <a:solidFill>
                  <a:srgbClr val="625E59"/>
                </a:solidFill>
                <a:latin typeface="Arial"/>
              </a:defRPr>
            </a:pPr>
            <a:r>
              <a:t>FCA UK costs (2025).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880360" y="2377440"/>
            <a:ext cx="777240" cy="566928"/>
          </a:xfrm>
          <a:prstGeom prst="line">
            <a:avLst/>
          </a:prstGeom>
          <a:ln w="21590">
            <a:solidFill>
              <a:srgbClr val="2E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880360" y="3337560"/>
            <a:ext cx="777240" cy="502920"/>
          </a:xfrm>
          <a:prstGeom prst="line">
            <a:avLst/>
          </a:prstGeom>
          <a:ln w="2159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897880" y="3154680"/>
            <a:ext cx="777240" cy="0"/>
          </a:xfrm>
          <a:prstGeom prst="line">
            <a:avLst/>
          </a:prstGeom>
          <a:ln w="2159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9006840" y="2423160"/>
            <a:ext cx="822960" cy="685800"/>
          </a:xfrm>
          <a:prstGeom prst="line">
            <a:avLst/>
          </a:prstGeom>
          <a:ln w="21590">
            <a:solidFill>
              <a:srgbClr val="2E6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006840" y="3154680"/>
            <a:ext cx="822960" cy="457200"/>
          </a:xfrm>
          <a:prstGeom prst="line">
            <a:avLst/>
          </a:prstGeom>
          <a:ln w="21590">
            <a:solidFill>
              <a:srgbClr val="2F7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6840" y="3218688"/>
            <a:ext cx="822960" cy="1627632"/>
          </a:xfrm>
          <a:prstGeom prst="line">
            <a:avLst/>
          </a:prstGeom>
          <a:ln w="21590">
            <a:solidFill>
              <a:srgbClr val="9E2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274320"/>
            <a:ext cx="11311128" cy="0"/>
          </a:xfrm>
          <a:prstGeom prst="line">
            <a:avLst/>
          </a:prstGeom>
          <a:ln w="2540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338328"/>
            <a:ext cx="10881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B18B3F"/>
                </a:solidFill>
                <a:latin typeface="Arial"/>
              </a:defRPr>
            </a:pPr>
            <a:r>
              <a:t>APPENDIX A5 · REVIEWER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500" b="1" i="0">
                <a:solidFill>
                  <a:srgbClr val="262220"/>
                </a:solidFill>
                <a:latin typeface="Georgia"/>
              </a:defRPr>
            </a:pPr>
            <a:r>
              <a:t>Completed checks and open robustness questions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2823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30" b="0" i="0">
                <a:solidFill>
                  <a:srgbClr val="625E59"/>
                </a:solidFill>
                <a:latin typeface="Arial"/>
              </a:defRPr>
            </a:pPr>
            <a:r>
              <a:t>Source: Duong (2025), Table 11 and study design, PDF pp. 4–18.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25E59"/>
                </a:solidFill>
                <a:latin typeface="Arial"/>
              </a:defRPr>
            </a:pPr>
            <a:r>
              <a:t>18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9904" y="1737360"/>
            <a:ext cx="0" cy="4142232"/>
          </a:xfrm>
          <a:prstGeom prst="line">
            <a:avLst/>
          </a:prstGeom>
          <a:ln w="1270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1719072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2F7D4F"/>
                </a:solidFill>
                <a:latin typeface="Arial"/>
              </a:defRPr>
            </a:pPr>
            <a:r>
              <a:t>COMPLETED IN THE 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19072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9E2F50"/>
                </a:solidFill>
                <a:latin typeface="Arial"/>
              </a:defRPr>
            </a:pPr>
            <a:r>
              <a:t>NOT TESTED / NEXT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57984"/>
            <a:ext cx="498348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262220"/>
                </a:solidFill>
                <a:latin typeface="Arial"/>
              </a:defRPr>
            </a:pPr>
            <a:r>
              <a:t>• Delisted firms included where available.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57984"/>
            <a:ext cx="488289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262220"/>
                </a:solidFill>
                <a:latin typeface="Arial"/>
              </a:defRPr>
            </a:pPr>
            <a:r>
              <a:t>• Point-in-time publication-lag audit by field.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2660904"/>
            <a:ext cx="4937760" cy="0"/>
          </a:xfrm>
          <a:prstGeom prst="line">
            <a:avLst/>
          </a:prstGeom>
          <a:ln w="5715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92240" y="2660904"/>
            <a:ext cx="4892040" cy="0"/>
          </a:xfrm>
          <a:prstGeom prst="line">
            <a:avLst/>
          </a:prstGeom>
          <a:ln w="5715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2852928"/>
            <a:ext cx="498348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262220"/>
                </a:solidFill>
                <a:latin typeface="Arial"/>
              </a:defRPr>
            </a:pPr>
            <a:r>
              <a:t>• B/M and CBOP/M sorted into value-weighted deciles.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52928"/>
            <a:ext cx="488289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262220"/>
                </a:solidFill>
                <a:latin typeface="Arial"/>
              </a:defRPr>
            </a:pPr>
            <a:r>
              <a:t>• Turnover, spread, impact, borrow and net returns.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3355848"/>
            <a:ext cx="4937760" cy="0"/>
          </a:xfrm>
          <a:prstGeom prst="line">
            <a:avLst/>
          </a:prstGeom>
          <a:ln w="5715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92240" y="3355848"/>
            <a:ext cx="4892040" cy="0"/>
          </a:xfrm>
          <a:prstGeom prst="line">
            <a:avLst/>
          </a:prstGeom>
          <a:ln w="5715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3547872"/>
            <a:ext cx="498348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262220"/>
                </a:solidFill>
                <a:latin typeface="Arial"/>
              </a:defRPr>
            </a:pPr>
            <a:r>
              <a:t>• Alphas under CAPM, FF and Fletcher benchmarks.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47872"/>
            <a:ext cx="488289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262220"/>
                </a:solidFill>
                <a:latin typeface="Arial"/>
              </a:defRPr>
            </a:pPr>
            <a:r>
              <a:t>• Industry-neutral and liquidity/capacity screens.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4050791"/>
            <a:ext cx="4937760" cy="0"/>
          </a:xfrm>
          <a:prstGeom prst="line">
            <a:avLst/>
          </a:prstGeom>
          <a:ln w="5715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92240" y="4050791"/>
            <a:ext cx="4892040" cy="0"/>
          </a:xfrm>
          <a:prstGeom prst="line">
            <a:avLst/>
          </a:prstGeom>
          <a:ln w="5715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4242816"/>
            <a:ext cx="498348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262220"/>
                </a:solidFill>
                <a:latin typeface="Arial"/>
              </a:defRPr>
            </a:pPr>
            <a:r>
              <a:t>• CBOP/M spreads within small, neutral and big terciles.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242816"/>
            <a:ext cx="488289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262220"/>
                </a:solidFill>
                <a:latin typeface="Arial"/>
              </a:defRPr>
            </a:pPr>
            <a:r>
              <a:t>• Alternative CBOP and intangible-adjusted definitions.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4745736"/>
            <a:ext cx="4937760" cy="0"/>
          </a:xfrm>
          <a:prstGeom prst="line">
            <a:avLst/>
          </a:prstGeom>
          <a:ln w="5715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492240" y="4745736"/>
            <a:ext cx="4892040" cy="0"/>
          </a:xfrm>
          <a:prstGeom prst="line">
            <a:avLst/>
          </a:prstGeom>
          <a:ln w="5715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" y="4937760"/>
            <a:ext cx="498348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262220"/>
                </a:solidFill>
                <a:latin typeface="Arial"/>
              </a:defRPr>
            </a:pPr>
            <a:r>
              <a:t>• Spanning, Fama–MacBeth and GRS comparisons.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937760"/>
            <a:ext cx="488289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262220"/>
                </a:solidFill>
                <a:latin typeface="Arial"/>
              </a:defRPr>
            </a:pPr>
            <a:r>
              <a:t>• Future holdout and independent-market evaluation.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274320"/>
            <a:ext cx="11311128" cy="0"/>
          </a:xfrm>
          <a:prstGeom prst="line">
            <a:avLst/>
          </a:prstGeom>
          <a:ln w="2540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338328"/>
            <a:ext cx="10881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B18B3F"/>
                </a:solidFill>
                <a:latin typeface="Arial"/>
              </a:defRPr>
            </a:pPr>
            <a:r>
              <a:t>APPENDIX A6 · MODEL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500" b="1" i="0">
                <a:solidFill>
                  <a:srgbClr val="262220"/>
                </a:solidFill>
                <a:latin typeface="Georgia"/>
              </a:defRPr>
            </a:pPr>
            <a:r>
              <a:t>Replacing HML with NVF raises GRS p-values in these test assets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2823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30" b="0" i="0">
                <a:solidFill>
                  <a:srgbClr val="625E59"/>
                </a:solidFill>
                <a:latin typeface="Arial"/>
              </a:defRPr>
            </a:pPr>
            <a:r>
              <a:t>Source: Duong (2025), Table 12; Section 5, PDF p. 18.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25E59"/>
                </a:solidFill>
                <a:latin typeface="Arial"/>
              </a:defRPr>
            </a:pPr>
            <a: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" y="1847088"/>
          <a:ext cx="9784080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48840"/>
                <a:gridCol w="1554480"/>
                <a:gridCol w="2148840"/>
                <a:gridCol w="1554480"/>
              </a:tblGrid>
              <a:tr h="47914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62220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62220"/>
                          </a:solidFill>
                          <a:latin typeface="Arial"/>
                        </a:rPr>
                        <a:t>HML version: GRS</a:t>
                      </a:r>
                    </a:p>
                  </a:txBody>
                  <a:tcPr anchor="ctr" marL="73152" marR="73152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62220"/>
                          </a:solidFill>
                          <a:latin typeface="Arial"/>
                        </a:rPr>
                        <a:t>HML version: p</a:t>
                      </a:r>
                    </a:p>
                  </a:txBody>
                  <a:tcPr anchor="ctr" marL="73152" marR="73152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62220"/>
                          </a:solidFill>
                          <a:latin typeface="Arial"/>
                        </a:rPr>
                        <a:t>NVF version: GRS</a:t>
                      </a:r>
                    </a:p>
                  </a:txBody>
                  <a:tcPr anchor="ctr" marL="73152" marR="73152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62220"/>
                          </a:solidFill>
                          <a:latin typeface="Arial"/>
                        </a:rPr>
                        <a:t>NVF version: p</a:t>
                      </a:r>
                    </a:p>
                  </a:txBody>
                  <a:tcPr anchor="ctr" marL="73152" marR="73152">
                    <a:solidFill>
                      <a:srgbClr val="EAD7B0"/>
                    </a:solidFill>
                  </a:tcPr>
                </a:tc>
              </a:tr>
              <a:tr h="47914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220"/>
                          </a:solidFill>
                          <a:latin typeface="Arial"/>
                        </a:rPr>
                        <a:t>FF3</a:t>
                      </a:r>
                    </a:p>
                  </a:txBody>
                  <a:tcPr anchor="ctr" marL="73152" marR="73152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1.934</a:t>
                      </a:r>
                    </a:p>
                  </a:txBody>
                  <a:tcPr anchor="ctr" marL="73152" marR="73152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.006</a:t>
                      </a:r>
                    </a:p>
                  </a:txBody>
                  <a:tcPr anchor="ctr" marL="73152" marR="73152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1.668</a:t>
                      </a:r>
                    </a:p>
                  </a:txBody>
                  <a:tcPr anchor="ctr" marL="73152" marR="73152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.027</a:t>
                      </a:r>
                    </a:p>
                  </a:txBody>
                  <a:tcPr anchor="ctr" marL="73152" marR="73152">
                    <a:solidFill>
                      <a:srgbClr val="FFF4E6"/>
                    </a:solidFill>
                  </a:tcPr>
                </a:tc>
              </a:tr>
              <a:tr h="47914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220"/>
                          </a:solidFill>
                          <a:latin typeface="Arial"/>
                        </a:rPr>
                        <a:t>FF5</a:t>
                      </a:r>
                    </a:p>
                  </a:txBody>
                  <a:tcPr anchor="ctr" marL="73152" marR="73152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1.753</a:t>
                      </a:r>
                    </a:p>
                  </a:txBody>
                  <a:tcPr anchor="ctr" marL="73152" marR="73152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.017</a:t>
                      </a:r>
                    </a:p>
                  </a:txBody>
                  <a:tcPr anchor="ctr" marL="73152" marR="73152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1.362</a:t>
                      </a:r>
                    </a:p>
                  </a:txBody>
                  <a:tcPr anchor="ctr" marL="73152" marR="73152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.122</a:t>
                      </a:r>
                    </a:p>
                  </a:txBody>
                  <a:tcPr anchor="ctr" marL="73152" marR="73152">
                    <a:solidFill>
                      <a:srgbClr val="F5E9D9"/>
                    </a:solidFill>
                  </a:tcPr>
                </a:tc>
              </a:tr>
              <a:tr h="47914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220"/>
                          </a:solidFill>
                          <a:latin typeface="Arial"/>
                        </a:rPr>
                        <a:t>FF6</a:t>
                      </a:r>
                    </a:p>
                  </a:txBody>
                  <a:tcPr anchor="ctr" marL="73152" marR="73152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1.424</a:t>
                      </a:r>
                    </a:p>
                  </a:txBody>
                  <a:tcPr anchor="ctr" marL="73152" marR="73152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.092</a:t>
                      </a:r>
                    </a:p>
                  </a:txBody>
                  <a:tcPr anchor="ctr" marL="73152" marR="73152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1.090</a:t>
                      </a:r>
                    </a:p>
                  </a:txBody>
                  <a:tcPr anchor="ctr" marL="73152" marR="73152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.354</a:t>
                      </a:r>
                    </a:p>
                  </a:txBody>
                  <a:tcPr anchor="ctr" marL="73152" marR="73152">
                    <a:solidFill>
                      <a:srgbClr val="FFF4E6"/>
                    </a:solidFill>
                  </a:tcPr>
                </a:tc>
              </a:tr>
              <a:tr h="4791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220"/>
                          </a:solidFill>
                          <a:latin typeface="Arial"/>
                        </a:rPr>
                        <a:t>Fletcher 5-factor</a:t>
                      </a:r>
                    </a:p>
                  </a:txBody>
                  <a:tcPr anchor="ctr" marL="73152" marR="73152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1.208</a:t>
                      </a:r>
                    </a:p>
                  </a:txBody>
                  <a:tcPr anchor="ctr" marL="73152" marR="73152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.232</a:t>
                      </a:r>
                    </a:p>
                  </a:txBody>
                  <a:tcPr anchor="ctr" marL="73152" marR="73152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.923</a:t>
                      </a:r>
                    </a:p>
                  </a:txBody>
                  <a:tcPr anchor="ctr" marL="73152" marR="73152">
                    <a:solidFill>
                      <a:srgbClr val="F5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220"/>
                          </a:solidFill>
                          <a:latin typeface="Arial"/>
                        </a:rPr>
                        <a:t>.620</a:t>
                      </a:r>
                    </a:p>
                  </a:txBody>
                  <a:tcPr anchor="ctr" marL="73152" marR="73152">
                    <a:solidFill>
                      <a:srgbClr val="F5E9D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49808" y="4572000"/>
            <a:ext cx="10561320" cy="841248"/>
          </a:xfrm>
          <a:prstGeom prst="rect">
            <a:avLst/>
          </a:prstGeom>
          <a:solidFill>
            <a:srgbClr val="F5E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754880"/>
            <a:ext cx="10195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262220"/>
                </a:solidFill>
                <a:latin typeface="Arial"/>
              </a:defRPr>
            </a:pPr>
            <a:r>
              <a:t>Higher p-values mean less evidence against the joint zero-alpha restriction for these 25 size–B/M portfolios. They do not prove universal model validity or economic superiority.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274320"/>
            <a:ext cx="11311128" cy="0"/>
          </a:xfrm>
          <a:prstGeom prst="line">
            <a:avLst/>
          </a:prstGeom>
          <a:ln w="2540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338328"/>
            <a:ext cx="10881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B18B3F"/>
                </a:solidFill>
                <a:latin typeface="Arial"/>
              </a:defRPr>
            </a:pPr>
            <a:r>
              <a:t>APPENDIX A7 · IMPLEMENTATION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300" b="1" i="0">
                <a:solidFill>
                  <a:srgbClr val="262220"/>
                </a:solidFill>
                <a:latin typeface="Georgia"/>
              </a:defRPr>
            </a:pPr>
            <a:r>
              <a:t>Net performance requires turnover and instrument-level execution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2823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30" b="0" i="0">
                <a:solidFill>
                  <a:srgbClr val="625E59"/>
                </a:solidFill>
                <a:latin typeface="Arial"/>
              </a:defRPr>
            </a:pPr>
            <a:r>
              <a:t>Source: Duong (2025), Conclusion, PDF p. 18; FCA execution-cost references in ledger.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25E59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10744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500" b="1" i="0">
                <a:solidFill>
                  <a:srgbClr val="262220"/>
                </a:solidFill>
                <a:latin typeface="Georgia"/>
              </a:defRPr>
            </a:pPr>
            <a:r>
              <a:t>Expected net return = gross return − turnover × trading cost − shorting/financing drag − other implementation costs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523744"/>
            <a:ext cx="10607040" cy="0"/>
          </a:xfrm>
          <a:prstGeom prst="line">
            <a:avLst/>
          </a:prstGeom>
          <a:ln w="1778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49808" y="3063240"/>
            <a:ext cx="1938528" cy="1207008"/>
          </a:xfrm>
          <a:prstGeom prst="rect">
            <a:avLst/>
          </a:prstGeom>
          <a:solidFill>
            <a:srgbClr val="FBF8F3"/>
          </a:solidFill>
          <a:ln w="12700">
            <a:solidFill>
              <a:srgbClr val="D9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273552"/>
            <a:ext cx="171907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1" i="0">
                <a:solidFill>
                  <a:srgbClr val="B18B3F"/>
                </a:solidFill>
                <a:latin typeface="Arial"/>
              </a:defRPr>
            </a:pPr>
            <a:r>
              <a:t>Turnover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685032"/>
            <a:ext cx="1682496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80" b="0" i="0">
                <a:solidFill>
                  <a:srgbClr val="262220"/>
                </a:solidFill>
                <a:latin typeface="Arial"/>
              </a:defRPr>
            </a:pPr>
            <a:r>
              <a:t>Annual portfolio buys and sells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79" y="3063240"/>
            <a:ext cx="1938528" cy="1207008"/>
          </a:xfrm>
          <a:prstGeom prst="rect">
            <a:avLst/>
          </a:prstGeom>
          <a:solidFill>
            <a:srgbClr val="FBF8F3"/>
          </a:solidFill>
          <a:ln w="12700">
            <a:solidFill>
              <a:srgbClr val="D9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3273552"/>
            <a:ext cx="171907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1" i="0">
                <a:solidFill>
                  <a:srgbClr val="B18B3F"/>
                </a:solidFill>
                <a:latin typeface="Arial"/>
              </a:defRPr>
            </a:pPr>
            <a:r>
              <a:t>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3685032"/>
            <a:ext cx="1682496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80" b="0" i="0">
                <a:solidFill>
                  <a:srgbClr val="262220"/>
                </a:solidFill>
                <a:latin typeface="Arial"/>
              </a:defRPr>
            </a:pPr>
            <a:r>
              <a:t>Bid–ask and market impact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2352" y="3063240"/>
            <a:ext cx="1938528" cy="1207008"/>
          </a:xfrm>
          <a:prstGeom prst="rect">
            <a:avLst/>
          </a:prstGeom>
          <a:solidFill>
            <a:srgbClr val="FBF8F3"/>
          </a:solidFill>
          <a:ln w="12700">
            <a:solidFill>
              <a:srgbClr val="D9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273552"/>
            <a:ext cx="171907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1" i="0">
                <a:solidFill>
                  <a:srgbClr val="B18B3F"/>
                </a:solidFill>
                <a:latin typeface="Arial"/>
              </a:defRPr>
            </a:pPr>
            <a:r>
              <a:t>Shorting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3685032"/>
            <a:ext cx="1682496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80" b="0" i="0">
                <a:solidFill>
                  <a:srgbClr val="262220"/>
                </a:solidFill>
                <a:latin typeface="Arial"/>
              </a:defRPr>
            </a:pPr>
            <a:r>
              <a:t>Availability and borrow 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78624" y="3063240"/>
            <a:ext cx="1938528" cy="1207008"/>
          </a:xfrm>
          <a:prstGeom prst="rect">
            <a:avLst/>
          </a:prstGeom>
          <a:solidFill>
            <a:srgbClr val="FBF8F3"/>
          </a:solidFill>
          <a:ln w="12700">
            <a:solidFill>
              <a:srgbClr val="D9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3273552"/>
            <a:ext cx="171907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1" i="0">
                <a:solidFill>
                  <a:srgbClr val="B18B3F"/>
                </a:solidFill>
                <a:latin typeface="Arial"/>
              </a:defRPr>
            </a:pPr>
            <a: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685032"/>
            <a:ext cx="1682496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80" b="0" i="0">
                <a:solidFill>
                  <a:srgbClr val="262220"/>
                </a:solidFill>
                <a:latin typeface="Arial"/>
              </a:defRPr>
            </a:pPr>
            <a:r>
              <a:t>Liquidity and capacity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54896" y="3063240"/>
            <a:ext cx="1938528" cy="1207008"/>
          </a:xfrm>
          <a:prstGeom prst="rect">
            <a:avLst/>
          </a:prstGeom>
          <a:solidFill>
            <a:srgbClr val="FBF8F3"/>
          </a:solidFill>
          <a:ln w="12700">
            <a:solidFill>
              <a:srgbClr val="D9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64624" y="3273552"/>
            <a:ext cx="1719072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1" i="0">
                <a:solidFill>
                  <a:srgbClr val="B18B3F"/>
                </a:solidFill>
                <a:latin typeface="Arial"/>
              </a:defRPr>
            </a:pPr>
            <a:r>
              <a:t>Mandate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3685032"/>
            <a:ext cx="1682496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80" b="0" i="0">
                <a:solidFill>
                  <a:srgbClr val="262220"/>
                </a:solidFill>
                <a:latin typeface="Arial"/>
              </a:defRPr>
            </a:pPr>
            <a:r>
              <a:t>Tax and investor constraints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800600"/>
            <a:ext cx="10607040" cy="731520"/>
          </a:xfrm>
          <a:prstGeom prst="rect">
            <a:avLst/>
          </a:prstGeom>
          <a:solidFill>
            <a:srgbClr val="F1E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010912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9E2F50"/>
                </a:solidFill>
                <a:latin typeface="Arial"/>
              </a:defRPr>
            </a:pPr>
            <a:r>
              <a:t>Framework only: Duong (2025) does not report a net-return estimate or the inputs needed to calculate one.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" y="274320"/>
            <a:ext cx="11311128" cy="0"/>
          </a:xfrm>
          <a:prstGeom prst="line">
            <a:avLst/>
          </a:prstGeom>
          <a:ln w="25400">
            <a:solidFill>
              <a:srgbClr val="B18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338328"/>
            <a:ext cx="10881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1" i="0">
                <a:solidFill>
                  <a:srgbClr val="B18B3F"/>
                </a:solidFill>
                <a:latin typeface="Arial"/>
              </a:defRPr>
            </a:pPr>
            <a:r>
              <a:t>APPENDIX A8 · Q&amp;A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500" b="1" i="0">
                <a:solidFill>
                  <a:srgbClr val="262220"/>
                </a:solidFill>
                <a:latin typeface="Georgia"/>
              </a:defRPr>
            </a:pPr>
            <a:r>
              <a:t>Route lecturer questions to the evidence and the right presenter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889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2823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30" b="0" i="0">
                <a:solidFill>
                  <a:srgbClr val="625E59"/>
                </a:solidFill>
                <a:latin typeface="Arial"/>
              </a:defRPr>
            </a:pPr>
            <a:r>
              <a:t>Source: Duong (2025), Prepared from focal paper and reviewer file, sources in reviewer_and_QA_v2.md.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25E59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755648"/>
            <a:ext cx="4800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262220"/>
                </a:solidFill>
                <a:latin typeface="Arial"/>
              </a:defRPr>
            </a:pPr>
            <a:r>
              <a:t>Construct / accruals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755648"/>
            <a:ext cx="2057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 i="0">
                <a:solidFill>
                  <a:srgbClr val="625E59"/>
                </a:solidFill>
                <a:latin typeface="Arial"/>
              </a:defRPr>
            </a:pPr>
            <a:r>
              <a:t>Speaker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1755648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 i="0">
                <a:solidFill>
                  <a:srgbClr val="B18B3F"/>
                </a:solidFill>
                <a:latin typeface="Arial"/>
              </a:defRPr>
            </a:pPr>
            <a:r>
              <a:t>A1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167128"/>
            <a:ext cx="10488168" cy="0"/>
          </a:xfrm>
          <a:prstGeom prst="line">
            <a:avLst/>
          </a:prstGeom>
          <a:ln w="635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2322576"/>
            <a:ext cx="4800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262220"/>
                </a:solidFill>
                <a:latin typeface="Arial"/>
              </a:defRPr>
            </a:pPr>
            <a:r>
              <a:t>Formation timing / factors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322576"/>
            <a:ext cx="2057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 i="0">
                <a:solidFill>
                  <a:srgbClr val="625E59"/>
                </a:solidFill>
                <a:latin typeface="Arial"/>
              </a:defRPr>
            </a:pPr>
            <a:r>
              <a:t>Speaker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32257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 i="0">
                <a:solidFill>
                  <a:srgbClr val="B18B3F"/>
                </a:solidFill>
                <a:latin typeface="Arial"/>
              </a:defRPr>
            </a:pPr>
            <a:r>
              <a:t>A2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2734056"/>
            <a:ext cx="10488168" cy="0"/>
          </a:xfrm>
          <a:prstGeom prst="line">
            <a:avLst/>
          </a:prstGeom>
          <a:ln w="635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2889504"/>
            <a:ext cx="4800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262220"/>
                </a:solidFill>
                <a:latin typeface="Arial"/>
              </a:defRPr>
            </a:pPr>
            <a:r>
              <a:t>Exact returns /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89504"/>
            <a:ext cx="2057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 i="0">
                <a:solidFill>
                  <a:srgbClr val="625E59"/>
                </a:solidFill>
                <a:latin typeface="Arial"/>
              </a:defRPr>
            </a:pPr>
            <a:r>
              <a:t>Speaker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889504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 i="0">
                <a:solidFill>
                  <a:srgbClr val="B18B3F"/>
                </a:solidFill>
                <a:latin typeface="Arial"/>
              </a:defRPr>
            </a:pPr>
            <a:r>
              <a:t>A3, A6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3300984"/>
            <a:ext cx="10488168" cy="0"/>
          </a:xfrm>
          <a:prstGeom prst="line">
            <a:avLst/>
          </a:prstGeom>
          <a:ln w="635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3456432"/>
            <a:ext cx="4800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262220"/>
                </a:solidFill>
                <a:latin typeface="Arial"/>
              </a:defRPr>
            </a:pPr>
            <a:r>
              <a:t>Literature /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456432"/>
            <a:ext cx="2057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 i="0">
                <a:solidFill>
                  <a:srgbClr val="625E59"/>
                </a:solidFill>
                <a:latin typeface="Arial"/>
              </a:defRPr>
            </a:pPr>
            <a:r>
              <a:t>Speaker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456432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 i="0">
                <a:solidFill>
                  <a:srgbClr val="B18B3F"/>
                </a:solidFill>
                <a:latin typeface="Arial"/>
              </a:defRPr>
            </a:pPr>
            <a:r>
              <a:t>A4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3867911"/>
            <a:ext cx="10488168" cy="0"/>
          </a:xfrm>
          <a:prstGeom prst="line">
            <a:avLst/>
          </a:prstGeom>
          <a:ln w="635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4023360"/>
            <a:ext cx="4800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262220"/>
                </a:solidFill>
                <a:latin typeface="Arial"/>
              </a:defRPr>
            </a:pPr>
            <a:r>
              <a:t>Robustness boundaries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4023360"/>
            <a:ext cx="2057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 i="0">
                <a:solidFill>
                  <a:srgbClr val="625E59"/>
                </a:solidFill>
                <a:latin typeface="Arial"/>
              </a:defRPr>
            </a:pPr>
            <a:r>
              <a:t>Speaker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023360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 i="0">
                <a:solidFill>
                  <a:srgbClr val="B18B3F"/>
                </a:solidFill>
                <a:latin typeface="Arial"/>
              </a:defRPr>
            </a:pPr>
            <a:r>
              <a:t>A5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" y="4434840"/>
            <a:ext cx="10488168" cy="0"/>
          </a:xfrm>
          <a:prstGeom prst="line">
            <a:avLst/>
          </a:prstGeom>
          <a:ln w="635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4590288"/>
            <a:ext cx="4800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262220"/>
                </a:solidFill>
                <a:latin typeface="Arial"/>
              </a:defRPr>
            </a:pPr>
            <a:r>
              <a:t>Costs / investability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590288"/>
            <a:ext cx="2057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 i="0">
                <a:solidFill>
                  <a:srgbClr val="625E59"/>
                </a:solidFill>
                <a:latin typeface="Arial"/>
              </a:defRPr>
            </a:pPr>
            <a:r>
              <a:t>Speaker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590288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 i="0">
                <a:solidFill>
                  <a:srgbClr val="B18B3F"/>
                </a:solidFill>
                <a:latin typeface="Arial"/>
              </a:defRPr>
            </a:pPr>
            <a:r>
              <a:t>A7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3232" y="5001768"/>
            <a:ext cx="10488168" cy="0"/>
          </a:xfrm>
          <a:prstGeom prst="line">
            <a:avLst/>
          </a:prstGeom>
          <a:ln w="6350">
            <a:solidFill>
              <a:srgbClr val="D9CC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3232" y="5157216"/>
            <a:ext cx="4800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262220"/>
                </a:solidFill>
                <a:latin typeface="Arial"/>
              </a:defRPr>
            </a:pPr>
            <a:r>
              <a:t>What should be tested next?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5157216"/>
            <a:ext cx="2057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 i="0">
                <a:solidFill>
                  <a:srgbClr val="625E59"/>
                </a:solidFill>
                <a:latin typeface="Arial"/>
              </a:defRPr>
            </a:pPr>
            <a:r>
              <a:t>Speaker 3, then 1/2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515721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 i="0">
                <a:solidFill>
                  <a:srgbClr val="B18B3F"/>
                </a:solidFill>
                <a:latin typeface="Arial"/>
              </a:defRPr>
            </a:pPr>
            <a:r>
              <a:t>A5–A7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Value Strategy in the UK Stock Market — V2</dc:title>
  <dc:subject>Portfolio Management academic presentation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