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300" r:id="rId4"/>
    <p:sldId id="301" r:id="rId5"/>
    <p:sldId id="257" r:id="rId6"/>
    <p:sldId id="280" r:id="rId7"/>
    <p:sldId id="299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9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454C44-5C00-40E9-A429-0A4EEBFFAB40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429BC5-B100-4B90-8DCD-B92EDF7383C5}">
      <dgm:prSet phldrT="[Text]"/>
      <dgm:spPr/>
      <dgm:t>
        <a:bodyPr/>
        <a:lstStyle/>
        <a:p>
          <a:r>
            <a:rPr lang="en-US" dirty="0"/>
            <a:t>International fixed income</a:t>
          </a:r>
        </a:p>
      </dgm:t>
    </dgm:pt>
    <dgm:pt modelId="{DFA8DFC2-5ABF-4663-8A43-14B0353C8E8C}" type="parTrans" cxnId="{0A4003D8-CE0E-44D0-8704-11123EDBC683}">
      <dgm:prSet/>
      <dgm:spPr/>
      <dgm:t>
        <a:bodyPr/>
        <a:lstStyle/>
        <a:p>
          <a:endParaRPr lang="en-US"/>
        </a:p>
      </dgm:t>
    </dgm:pt>
    <dgm:pt modelId="{EAF9BCE6-937B-41C1-AA43-B211943AB7B9}" type="sibTrans" cxnId="{0A4003D8-CE0E-44D0-8704-11123EDBC683}">
      <dgm:prSet/>
      <dgm:spPr/>
      <dgm:t>
        <a:bodyPr/>
        <a:lstStyle/>
        <a:p>
          <a:endParaRPr lang="en-US"/>
        </a:p>
      </dgm:t>
    </dgm:pt>
    <dgm:pt modelId="{AA319CB4-F4A1-48EA-B09B-A98149A7103B}">
      <dgm:prSet/>
      <dgm:spPr/>
      <dgm:t>
        <a:bodyPr/>
        <a:lstStyle/>
        <a:p>
          <a:r>
            <a:rPr lang="en-US" dirty="0"/>
            <a:t>Domestic common equity</a:t>
          </a:r>
        </a:p>
      </dgm:t>
    </dgm:pt>
    <dgm:pt modelId="{C0BE3522-6D5F-455B-8C82-819B064529AE}" type="parTrans" cxnId="{D849D5BF-7E42-4388-BD41-DA1F1AACD5DF}">
      <dgm:prSet/>
      <dgm:spPr/>
      <dgm:t>
        <a:bodyPr/>
        <a:lstStyle/>
        <a:p>
          <a:endParaRPr lang="en-US"/>
        </a:p>
      </dgm:t>
    </dgm:pt>
    <dgm:pt modelId="{7B46D495-17B8-48F2-B46C-D53AB2132625}" type="sibTrans" cxnId="{D849D5BF-7E42-4388-BD41-DA1F1AACD5DF}">
      <dgm:prSet/>
      <dgm:spPr/>
      <dgm:t>
        <a:bodyPr/>
        <a:lstStyle/>
        <a:p>
          <a:endParaRPr lang="en-US"/>
        </a:p>
      </dgm:t>
    </dgm:pt>
    <dgm:pt modelId="{817A522F-5A83-4879-8435-892B3AD4DC84}">
      <dgm:prSet/>
      <dgm:spPr/>
      <dgm:t>
        <a:bodyPr/>
        <a:lstStyle/>
        <a:p>
          <a:r>
            <a:rPr lang="en-US" dirty="0"/>
            <a:t>Domestic fixed income</a:t>
          </a:r>
        </a:p>
      </dgm:t>
    </dgm:pt>
    <dgm:pt modelId="{E222198B-47C7-4B9C-9749-9B0071C762C3}" type="parTrans" cxnId="{A3B63240-3B41-4FBE-9C2F-F2ED752C50BC}">
      <dgm:prSet/>
      <dgm:spPr/>
      <dgm:t>
        <a:bodyPr/>
        <a:lstStyle/>
        <a:p>
          <a:endParaRPr lang="en-US"/>
        </a:p>
      </dgm:t>
    </dgm:pt>
    <dgm:pt modelId="{DF7AFF04-18B0-41CE-89D6-33A196E1E080}" type="sibTrans" cxnId="{A3B63240-3B41-4FBE-9C2F-F2ED752C50BC}">
      <dgm:prSet/>
      <dgm:spPr/>
      <dgm:t>
        <a:bodyPr/>
        <a:lstStyle/>
        <a:p>
          <a:endParaRPr lang="en-US"/>
        </a:p>
      </dgm:t>
    </dgm:pt>
    <dgm:pt modelId="{99F3076A-BFA4-4AAD-BC35-BA81B8BF9F00}">
      <dgm:prSet/>
      <dgm:spPr/>
      <dgm:t>
        <a:bodyPr/>
        <a:lstStyle/>
        <a:p>
          <a:r>
            <a:rPr lang="en-US" dirty="0"/>
            <a:t>International common equity</a:t>
          </a:r>
        </a:p>
      </dgm:t>
    </dgm:pt>
    <dgm:pt modelId="{EFF014BD-DAD7-4439-8F19-80FB2472D046}" type="parTrans" cxnId="{558E59D4-70B2-4E0A-B5BC-53FADF13F71C}">
      <dgm:prSet/>
      <dgm:spPr/>
      <dgm:t>
        <a:bodyPr/>
        <a:lstStyle/>
        <a:p>
          <a:endParaRPr lang="en-US"/>
        </a:p>
      </dgm:t>
    </dgm:pt>
    <dgm:pt modelId="{4B6898AD-2EA6-42CD-A8F7-69041F5F2397}" type="sibTrans" cxnId="{558E59D4-70B2-4E0A-B5BC-53FADF13F71C}">
      <dgm:prSet/>
      <dgm:spPr/>
      <dgm:t>
        <a:bodyPr/>
        <a:lstStyle/>
        <a:p>
          <a:endParaRPr lang="en-US"/>
        </a:p>
      </dgm:t>
    </dgm:pt>
    <dgm:pt modelId="{DFA87FC9-AFF0-4077-B4F8-65C75083BC59}">
      <dgm:prSet/>
      <dgm:spPr/>
      <dgm:t>
        <a:bodyPr/>
        <a:lstStyle/>
        <a:p>
          <a:r>
            <a:rPr lang="en-US" dirty="0"/>
            <a:t>Cash and cash equivalents</a:t>
          </a:r>
        </a:p>
      </dgm:t>
    </dgm:pt>
    <dgm:pt modelId="{0E538DD2-759A-45C4-B3C5-70F46CCD3E92}" type="parTrans" cxnId="{B926F4EE-62BC-420F-8ACF-2D04ED16CC98}">
      <dgm:prSet/>
      <dgm:spPr/>
      <dgm:t>
        <a:bodyPr/>
        <a:lstStyle/>
        <a:p>
          <a:endParaRPr lang="en-US"/>
        </a:p>
      </dgm:t>
    </dgm:pt>
    <dgm:pt modelId="{B8C88865-3CA2-460C-90D9-681A43EA40F3}" type="sibTrans" cxnId="{B926F4EE-62BC-420F-8ACF-2D04ED16CC98}">
      <dgm:prSet/>
      <dgm:spPr/>
      <dgm:t>
        <a:bodyPr/>
        <a:lstStyle/>
        <a:p>
          <a:endParaRPr lang="en-US"/>
        </a:p>
      </dgm:t>
    </dgm:pt>
    <dgm:pt modelId="{B3C72889-1E97-4BF9-BA6F-840646AEEF34}">
      <dgm:prSet/>
      <dgm:spPr/>
      <dgm:t>
        <a:bodyPr/>
        <a:lstStyle/>
        <a:p>
          <a:endParaRPr lang="en-US" dirty="0"/>
        </a:p>
      </dgm:t>
    </dgm:pt>
    <dgm:pt modelId="{FD548A68-41DB-4903-B83C-A2F25C0A37CB}" type="parTrans" cxnId="{B2FD62EC-E369-44DF-A7AE-42818530AFA7}">
      <dgm:prSet/>
      <dgm:spPr/>
      <dgm:t>
        <a:bodyPr/>
        <a:lstStyle/>
        <a:p>
          <a:endParaRPr lang="en-US"/>
        </a:p>
      </dgm:t>
    </dgm:pt>
    <dgm:pt modelId="{219FD7F1-B0A0-48EF-8917-E2E34AF989C7}" type="sibTrans" cxnId="{B2FD62EC-E369-44DF-A7AE-42818530AFA7}">
      <dgm:prSet/>
      <dgm:spPr/>
      <dgm:t>
        <a:bodyPr/>
        <a:lstStyle/>
        <a:p>
          <a:endParaRPr lang="en-US"/>
        </a:p>
      </dgm:t>
    </dgm:pt>
    <dgm:pt modelId="{34654974-ACC7-4027-A840-0B2375EFF3AA}">
      <dgm:prSet/>
      <dgm:spPr/>
      <dgm:t>
        <a:bodyPr/>
        <a:lstStyle/>
        <a:p>
          <a:r>
            <a:rPr lang="en-US" dirty="0"/>
            <a:t>Real estate, private equity, </a:t>
          </a:r>
        </a:p>
      </dgm:t>
    </dgm:pt>
    <dgm:pt modelId="{DF34B923-C1BB-4C37-B605-1A41DD6E17F0}" type="parTrans" cxnId="{5871C15D-0C71-49CC-B32B-C60313BD2CC1}">
      <dgm:prSet/>
      <dgm:spPr/>
      <dgm:t>
        <a:bodyPr/>
        <a:lstStyle/>
        <a:p>
          <a:endParaRPr lang="en-US"/>
        </a:p>
      </dgm:t>
    </dgm:pt>
    <dgm:pt modelId="{606C9484-A619-4452-9775-8E50D1183F25}" type="sibTrans" cxnId="{5871C15D-0C71-49CC-B32B-C60313BD2CC1}">
      <dgm:prSet/>
      <dgm:spPr/>
      <dgm:t>
        <a:bodyPr/>
        <a:lstStyle/>
        <a:p>
          <a:endParaRPr lang="en-US"/>
        </a:p>
      </dgm:t>
    </dgm:pt>
    <dgm:pt modelId="{895281C6-E2FA-46C9-B01A-BD5473650D5E}">
      <dgm:prSet/>
      <dgm:spPr/>
      <dgm:t>
        <a:bodyPr/>
        <a:lstStyle/>
        <a:p>
          <a:r>
            <a:rPr lang="en-US" dirty="0"/>
            <a:t>Natural resources, commodities</a:t>
          </a:r>
        </a:p>
      </dgm:t>
    </dgm:pt>
    <dgm:pt modelId="{42F3E238-80BB-4C85-81ED-2E687800727D}" type="parTrans" cxnId="{F2096F78-4B60-4C37-A50D-B4A062472F33}">
      <dgm:prSet/>
      <dgm:spPr/>
      <dgm:t>
        <a:bodyPr/>
        <a:lstStyle/>
        <a:p>
          <a:endParaRPr lang="en-US"/>
        </a:p>
      </dgm:t>
    </dgm:pt>
    <dgm:pt modelId="{533E6805-6A33-49BB-98DB-C327A1D201D3}" type="sibTrans" cxnId="{F2096F78-4B60-4C37-A50D-B4A062472F33}">
      <dgm:prSet/>
      <dgm:spPr/>
      <dgm:t>
        <a:bodyPr/>
        <a:lstStyle/>
        <a:p>
          <a:endParaRPr lang="en-US"/>
        </a:p>
      </dgm:t>
    </dgm:pt>
    <dgm:pt modelId="{AEA9738C-D01A-4A21-BE9C-854721B9B21C}">
      <dgm:prSet/>
      <dgm:spPr/>
      <dgm:t>
        <a:bodyPr/>
        <a:lstStyle/>
        <a:p>
          <a:endParaRPr lang="en-US"/>
        </a:p>
      </dgm:t>
    </dgm:pt>
    <dgm:pt modelId="{395A9660-02C4-4621-9217-CC3352F9EC7C}" type="parTrans" cxnId="{333C6E59-DF28-473F-B922-EDD53B4A6F75}">
      <dgm:prSet/>
      <dgm:spPr/>
      <dgm:t>
        <a:bodyPr/>
        <a:lstStyle/>
        <a:p>
          <a:endParaRPr lang="en-US"/>
        </a:p>
      </dgm:t>
    </dgm:pt>
    <dgm:pt modelId="{EDA4FEE5-4186-421B-95F7-6E426CBF0571}" type="sibTrans" cxnId="{333C6E59-DF28-473F-B922-EDD53B4A6F75}">
      <dgm:prSet/>
      <dgm:spPr/>
      <dgm:t>
        <a:bodyPr/>
        <a:lstStyle/>
        <a:p>
          <a:endParaRPr lang="en-US"/>
        </a:p>
      </dgm:t>
    </dgm:pt>
    <dgm:pt modelId="{8BECD174-B93D-4C14-A661-9C1D0AF9F315}">
      <dgm:prSet/>
      <dgm:spPr/>
      <dgm:t>
        <a:bodyPr/>
        <a:lstStyle/>
        <a:p>
          <a:endParaRPr lang="en-US" dirty="0"/>
        </a:p>
      </dgm:t>
    </dgm:pt>
    <dgm:pt modelId="{079D46A9-6279-45C8-A20E-F4810078CA04}" type="parTrans" cxnId="{BADB8DF1-4D92-4E17-852E-8DDFABD292C2}">
      <dgm:prSet/>
      <dgm:spPr/>
      <dgm:t>
        <a:bodyPr/>
        <a:lstStyle/>
        <a:p>
          <a:endParaRPr lang="en-US"/>
        </a:p>
      </dgm:t>
    </dgm:pt>
    <dgm:pt modelId="{6635132C-116A-4D63-A861-C7F959AFB850}" type="sibTrans" cxnId="{BADB8DF1-4D92-4E17-852E-8DDFABD292C2}">
      <dgm:prSet/>
      <dgm:spPr/>
      <dgm:t>
        <a:bodyPr/>
        <a:lstStyle/>
        <a:p>
          <a:endParaRPr lang="en-US"/>
        </a:p>
      </dgm:t>
    </dgm:pt>
    <dgm:pt modelId="{6214D5F1-2E6F-4D04-ACC3-B05B94825E28}" type="pres">
      <dgm:prSet presAssocID="{98454C44-5C00-40E9-A429-0A4EEBFFAB40}" presName="Name0" presStyleCnt="0">
        <dgm:presLayoutVars>
          <dgm:chMax val="7"/>
          <dgm:chPref val="7"/>
          <dgm:dir/>
        </dgm:presLayoutVars>
      </dgm:prSet>
      <dgm:spPr/>
    </dgm:pt>
    <dgm:pt modelId="{4F6CC5DB-07DF-412E-83C1-9F63F76224C0}" type="pres">
      <dgm:prSet presAssocID="{98454C44-5C00-40E9-A429-0A4EEBFFAB40}" presName="Name1" presStyleCnt="0"/>
      <dgm:spPr/>
    </dgm:pt>
    <dgm:pt modelId="{FD2507B1-B8D2-49FC-957C-27C86EF6A4FB}" type="pres">
      <dgm:prSet presAssocID="{98454C44-5C00-40E9-A429-0A4EEBFFAB40}" presName="cycle" presStyleCnt="0"/>
      <dgm:spPr/>
    </dgm:pt>
    <dgm:pt modelId="{3462B3DF-A980-4278-8B3E-46083001EEB6}" type="pres">
      <dgm:prSet presAssocID="{98454C44-5C00-40E9-A429-0A4EEBFFAB40}" presName="srcNode" presStyleLbl="node1" presStyleIdx="0" presStyleCnt="7"/>
      <dgm:spPr/>
    </dgm:pt>
    <dgm:pt modelId="{7FC1BC27-B784-4E6C-81E4-508E1AC9F2B2}" type="pres">
      <dgm:prSet presAssocID="{98454C44-5C00-40E9-A429-0A4EEBFFAB40}" presName="conn" presStyleLbl="parChTrans1D2" presStyleIdx="0" presStyleCnt="1"/>
      <dgm:spPr/>
    </dgm:pt>
    <dgm:pt modelId="{1D85918E-B22B-4F20-9F61-6AF6FB7B1946}" type="pres">
      <dgm:prSet presAssocID="{98454C44-5C00-40E9-A429-0A4EEBFFAB40}" presName="extraNode" presStyleLbl="node1" presStyleIdx="0" presStyleCnt="7"/>
      <dgm:spPr/>
    </dgm:pt>
    <dgm:pt modelId="{16326EC7-6091-4CE2-AB2E-E66E425F6EE4}" type="pres">
      <dgm:prSet presAssocID="{98454C44-5C00-40E9-A429-0A4EEBFFAB40}" presName="dstNode" presStyleLbl="node1" presStyleIdx="0" presStyleCnt="7"/>
      <dgm:spPr/>
    </dgm:pt>
    <dgm:pt modelId="{C8FF8760-67AB-499D-8A28-3F3490C48628}" type="pres">
      <dgm:prSet presAssocID="{817A522F-5A83-4879-8435-892B3AD4DC84}" presName="text_1" presStyleLbl="node1" presStyleIdx="0" presStyleCnt="7">
        <dgm:presLayoutVars>
          <dgm:bulletEnabled val="1"/>
        </dgm:presLayoutVars>
      </dgm:prSet>
      <dgm:spPr/>
    </dgm:pt>
    <dgm:pt modelId="{8ED5742B-71B9-468B-B708-36E0C8706CF9}" type="pres">
      <dgm:prSet presAssocID="{817A522F-5A83-4879-8435-892B3AD4DC84}" presName="accent_1" presStyleCnt="0"/>
      <dgm:spPr/>
    </dgm:pt>
    <dgm:pt modelId="{1E7B307D-21CD-480A-ABD8-25CCA863EEF2}" type="pres">
      <dgm:prSet presAssocID="{817A522F-5A83-4879-8435-892B3AD4DC84}" presName="accentRepeatNode" presStyleLbl="solidFgAcc1" presStyleIdx="0" presStyleCnt="7"/>
      <dgm:spPr/>
    </dgm:pt>
    <dgm:pt modelId="{581F4D70-3BAF-4F4C-9B36-BC50DC437340}" type="pres">
      <dgm:prSet presAssocID="{AA319CB4-F4A1-48EA-B09B-A98149A7103B}" presName="text_2" presStyleLbl="node1" presStyleIdx="1" presStyleCnt="7">
        <dgm:presLayoutVars>
          <dgm:bulletEnabled val="1"/>
        </dgm:presLayoutVars>
      </dgm:prSet>
      <dgm:spPr/>
    </dgm:pt>
    <dgm:pt modelId="{0F92ADA4-D831-4F94-ACCB-54CFAD866E41}" type="pres">
      <dgm:prSet presAssocID="{AA319CB4-F4A1-48EA-B09B-A98149A7103B}" presName="accent_2" presStyleCnt="0"/>
      <dgm:spPr/>
    </dgm:pt>
    <dgm:pt modelId="{063D643C-78F4-4AA2-A7B8-8E7EE32B60E1}" type="pres">
      <dgm:prSet presAssocID="{AA319CB4-F4A1-48EA-B09B-A98149A7103B}" presName="accentRepeatNode" presStyleLbl="solidFgAcc1" presStyleIdx="1" presStyleCnt="7"/>
      <dgm:spPr/>
    </dgm:pt>
    <dgm:pt modelId="{2653DCA0-27E0-40D1-8881-F3D7E253CF4A}" type="pres">
      <dgm:prSet presAssocID="{99F3076A-BFA4-4AAD-BC35-BA81B8BF9F00}" presName="text_3" presStyleLbl="node1" presStyleIdx="2" presStyleCnt="7">
        <dgm:presLayoutVars>
          <dgm:bulletEnabled val="1"/>
        </dgm:presLayoutVars>
      </dgm:prSet>
      <dgm:spPr/>
    </dgm:pt>
    <dgm:pt modelId="{CFE56AAC-0B64-4E0D-9EA5-E27CA75E7A4D}" type="pres">
      <dgm:prSet presAssocID="{99F3076A-BFA4-4AAD-BC35-BA81B8BF9F00}" presName="accent_3" presStyleCnt="0"/>
      <dgm:spPr/>
    </dgm:pt>
    <dgm:pt modelId="{67572972-4C69-4CA8-BD39-0387821F8460}" type="pres">
      <dgm:prSet presAssocID="{99F3076A-BFA4-4AAD-BC35-BA81B8BF9F00}" presName="accentRepeatNode" presStyleLbl="solidFgAcc1" presStyleIdx="2" presStyleCnt="7"/>
      <dgm:spPr/>
    </dgm:pt>
    <dgm:pt modelId="{3EA6371C-D086-478E-B50F-BC8BC7A2AA39}" type="pres">
      <dgm:prSet presAssocID="{76429BC5-B100-4B90-8DCD-B92EDF7383C5}" presName="text_4" presStyleLbl="node1" presStyleIdx="3" presStyleCnt="7">
        <dgm:presLayoutVars>
          <dgm:bulletEnabled val="1"/>
        </dgm:presLayoutVars>
      </dgm:prSet>
      <dgm:spPr/>
    </dgm:pt>
    <dgm:pt modelId="{3F41E6AB-96BD-47D5-9437-03C5E9893247}" type="pres">
      <dgm:prSet presAssocID="{76429BC5-B100-4B90-8DCD-B92EDF7383C5}" presName="accent_4" presStyleCnt="0"/>
      <dgm:spPr/>
    </dgm:pt>
    <dgm:pt modelId="{20121328-D845-4090-AF8E-BBFB8D15CFE2}" type="pres">
      <dgm:prSet presAssocID="{76429BC5-B100-4B90-8DCD-B92EDF7383C5}" presName="accentRepeatNode" presStyleLbl="solidFgAcc1" presStyleIdx="3" presStyleCnt="7"/>
      <dgm:spPr/>
    </dgm:pt>
    <dgm:pt modelId="{7D35F949-112C-4489-AF91-6BB5B6D8C02E}" type="pres">
      <dgm:prSet presAssocID="{34654974-ACC7-4027-A840-0B2375EFF3AA}" presName="text_5" presStyleLbl="node1" presStyleIdx="4" presStyleCnt="7">
        <dgm:presLayoutVars>
          <dgm:bulletEnabled val="1"/>
        </dgm:presLayoutVars>
      </dgm:prSet>
      <dgm:spPr/>
    </dgm:pt>
    <dgm:pt modelId="{615DCB86-7C2B-4B52-B231-FED3D39CD636}" type="pres">
      <dgm:prSet presAssocID="{34654974-ACC7-4027-A840-0B2375EFF3AA}" presName="accent_5" presStyleCnt="0"/>
      <dgm:spPr/>
    </dgm:pt>
    <dgm:pt modelId="{E267D244-0026-41A7-AE58-97DDEA55EE95}" type="pres">
      <dgm:prSet presAssocID="{34654974-ACC7-4027-A840-0B2375EFF3AA}" presName="accentRepeatNode" presStyleLbl="solidFgAcc1" presStyleIdx="4" presStyleCnt="7"/>
      <dgm:spPr/>
    </dgm:pt>
    <dgm:pt modelId="{ED90AAC0-C528-4169-A75E-D148A308C2BA}" type="pres">
      <dgm:prSet presAssocID="{895281C6-E2FA-46C9-B01A-BD5473650D5E}" presName="text_6" presStyleLbl="node1" presStyleIdx="5" presStyleCnt="7">
        <dgm:presLayoutVars>
          <dgm:bulletEnabled val="1"/>
        </dgm:presLayoutVars>
      </dgm:prSet>
      <dgm:spPr/>
    </dgm:pt>
    <dgm:pt modelId="{F847E405-4F75-4356-8750-DF03206AAF7D}" type="pres">
      <dgm:prSet presAssocID="{895281C6-E2FA-46C9-B01A-BD5473650D5E}" presName="accent_6" presStyleCnt="0"/>
      <dgm:spPr/>
    </dgm:pt>
    <dgm:pt modelId="{08D2A774-9549-4CDF-BD74-EE093DCDB0A7}" type="pres">
      <dgm:prSet presAssocID="{895281C6-E2FA-46C9-B01A-BD5473650D5E}" presName="accentRepeatNode" presStyleLbl="solidFgAcc1" presStyleIdx="5" presStyleCnt="7"/>
      <dgm:spPr/>
    </dgm:pt>
    <dgm:pt modelId="{CDAD4233-BA7C-45B0-A9C4-BF2F4F2C7D95}" type="pres">
      <dgm:prSet presAssocID="{DFA87FC9-AFF0-4077-B4F8-65C75083BC59}" presName="text_7" presStyleLbl="node1" presStyleIdx="6" presStyleCnt="7">
        <dgm:presLayoutVars>
          <dgm:bulletEnabled val="1"/>
        </dgm:presLayoutVars>
      </dgm:prSet>
      <dgm:spPr/>
    </dgm:pt>
    <dgm:pt modelId="{41BBC6A4-D25E-4930-913F-6D6E29FD954B}" type="pres">
      <dgm:prSet presAssocID="{DFA87FC9-AFF0-4077-B4F8-65C75083BC59}" presName="accent_7" presStyleCnt="0"/>
      <dgm:spPr/>
    </dgm:pt>
    <dgm:pt modelId="{0DB9A315-D3DE-467C-9898-2508D0987BAB}" type="pres">
      <dgm:prSet presAssocID="{DFA87FC9-AFF0-4077-B4F8-65C75083BC59}" presName="accentRepeatNode" presStyleLbl="solidFgAcc1" presStyleIdx="6" presStyleCnt="7"/>
      <dgm:spPr/>
    </dgm:pt>
  </dgm:ptLst>
  <dgm:cxnLst>
    <dgm:cxn modelId="{7ECC5905-A910-46D5-A760-AE433179DF78}" type="presOf" srcId="{99F3076A-BFA4-4AAD-BC35-BA81B8BF9F00}" destId="{2653DCA0-27E0-40D1-8881-F3D7E253CF4A}" srcOrd="0" destOrd="0" presId="urn:microsoft.com/office/officeart/2008/layout/VerticalCurvedList"/>
    <dgm:cxn modelId="{0A38A20C-36FC-4990-A335-C06E4C7066CD}" type="presOf" srcId="{817A522F-5A83-4879-8435-892B3AD4DC84}" destId="{C8FF8760-67AB-499D-8A28-3F3490C48628}" srcOrd="0" destOrd="0" presId="urn:microsoft.com/office/officeart/2008/layout/VerticalCurvedList"/>
    <dgm:cxn modelId="{A21BE415-5432-4878-9D2E-598FB4930451}" type="presOf" srcId="{34654974-ACC7-4027-A840-0B2375EFF3AA}" destId="{7D35F949-112C-4489-AF91-6BB5B6D8C02E}" srcOrd="0" destOrd="0" presId="urn:microsoft.com/office/officeart/2008/layout/VerticalCurvedList"/>
    <dgm:cxn modelId="{0822DC19-BD6F-4DA6-A908-D43DC55A3BB3}" type="presOf" srcId="{895281C6-E2FA-46C9-B01A-BD5473650D5E}" destId="{ED90AAC0-C528-4169-A75E-D148A308C2BA}" srcOrd="0" destOrd="0" presId="urn:microsoft.com/office/officeart/2008/layout/VerticalCurvedList"/>
    <dgm:cxn modelId="{A3B63240-3B41-4FBE-9C2F-F2ED752C50BC}" srcId="{98454C44-5C00-40E9-A429-0A4EEBFFAB40}" destId="{817A522F-5A83-4879-8435-892B3AD4DC84}" srcOrd="0" destOrd="0" parTransId="{E222198B-47C7-4B9C-9749-9B0071C762C3}" sibTransId="{DF7AFF04-18B0-41CE-89D6-33A196E1E080}"/>
    <dgm:cxn modelId="{939FA35D-E876-45A3-928E-28EA60DB6A50}" type="presOf" srcId="{AA319CB4-F4A1-48EA-B09B-A98149A7103B}" destId="{581F4D70-3BAF-4F4C-9B36-BC50DC437340}" srcOrd="0" destOrd="0" presId="urn:microsoft.com/office/officeart/2008/layout/VerticalCurvedList"/>
    <dgm:cxn modelId="{5871C15D-0C71-49CC-B32B-C60313BD2CC1}" srcId="{98454C44-5C00-40E9-A429-0A4EEBFFAB40}" destId="{34654974-ACC7-4027-A840-0B2375EFF3AA}" srcOrd="4" destOrd="0" parTransId="{DF34B923-C1BB-4C37-B605-1A41DD6E17F0}" sibTransId="{606C9484-A619-4452-9775-8E50D1183F25}"/>
    <dgm:cxn modelId="{F2096F78-4B60-4C37-A50D-B4A062472F33}" srcId="{98454C44-5C00-40E9-A429-0A4EEBFFAB40}" destId="{895281C6-E2FA-46C9-B01A-BD5473650D5E}" srcOrd="5" destOrd="0" parTransId="{42F3E238-80BB-4C85-81ED-2E687800727D}" sibTransId="{533E6805-6A33-49BB-98DB-C327A1D201D3}"/>
    <dgm:cxn modelId="{333C6E59-DF28-473F-B922-EDD53B4A6F75}" srcId="{98454C44-5C00-40E9-A429-0A4EEBFFAB40}" destId="{AEA9738C-D01A-4A21-BE9C-854721B9B21C}" srcOrd="8" destOrd="0" parTransId="{395A9660-02C4-4621-9217-CC3352F9EC7C}" sibTransId="{EDA4FEE5-4186-421B-95F7-6E426CBF0571}"/>
    <dgm:cxn modelId="{419C6E5A-504D-482F-A1FB-EDCE9BAE6CAE}" type="presOf" srcId="{98454C44-5C00-40E9-A429-0A4EEBFFAB40}" destId="{6214D5F1-2E6F-4D04-ACC3-B05B94825E28}" srcOrd="0" destOrd="0" presId="urn:microsoft.com/office/officeart/2008/layout/VerticalCurvedList"/>
    <dgm:cxn modelId="{8023A580-CDBA-4F6A-BDFF-6B0DF23E2360}" type="presOf" srcId="{76429BC5-B100-4B90-8DCD-B92EDF7383C5}" destId="{3EA6371C-D086-478E-B50F-BC8BC7A2AA39}" srcOrd="0" destOrd="0" presId="urn:microsoft.com/office/officeart/2008/layout/VerticalCurvedList"/>
    <dgm:cxn modelId="{85EA6B9A-E518-4D65-935F-77A1E5841329}" type="presOf" srcId="{DFA87FC9-AFF0-4077-B4F8-65C75083BC59}" destId="{CDAD4233-BA7C-45B0-A9C4-BF2F4F2C7D95}" srcOrd="0" destOrd="0" presId="urn:microsoft.com/office/officeart/2008/layout/VerticalCurvedList"/>
    <dgm:cxn modelId="{D849D5BF-7E42-4388-BD41-DA1F1AACD5DF}" srcId="{98454C44-5C00-40E9-A429-0A4EEBFFAB40}" destId="{AA319CB4-F4A1-48EA-B09B-A98149A7103B}" srcOrd="1" destOrd="0" parTransId="{C0BE3522-6D5F-455B-8C82-819B064529AE}" sibTransId="{7B46D495-17B8-48F2-B46C-D53AB2132625}"/>
    <dgm:cxn modelId="{558E59D4-70B2-4E0A-B5BC-53FADF13F71C}" srcId="{98454C44-5C00-40E9-A429-0A4EEBFFAB40}" destId="{99F3076A-BFA4-4AAD-BC35-BA81B8BF9F00}" srcOrd="2" destOrd="0" parTransId="{EFF014BD-DAD7-4439-8F19-80FB2472D046}" sibTransId="{4B6898AD-2EA6-42CD-A8F7-69041F5F2397}"/>
    <dgm:cxn modelId="{0A4003D8-CE0E-44D0-8704-11123EDBC683}" srcId="{98454C44-5C00-40E9-A429-0A4EEBFFAB40}" destId="{76429BC5-B100-4B90-8DCD-B92EDF7383C5}" srcOrd="3" destOrd="0" parTransId="{DFA8DFC2-5ABF-4663-8A43-14B0353C8E8C}" sibTransId="{EAF9BCE6-937B-41C1-AA43-B211943AB7B9}"/>
    <dgm:cxn modelId="{96D1E6DA-7E1B-4A5A-BD8D-C484324DB9B1}" type="presOf" srcId="{DF7AFF04-18B0-41CE-89D6-33A196E1E080}" destId="{7FC1BC27-B784-4E6C-81E4-508E1AC9F2B2}" srcOrd="0" destOrd="0" presId="urn:microsoft.com/office/officeart/2008/layout/VerticalCurvedList"/>
    <dgm:cxn modelId="{B2FD62EC-E369-44DF-A7AE-42818530AFA7}" srcId="{98454C44-5C00-40E9-A429-0A4EEBFFAB40}" destId="{B3C72889-1E97-4BF9-BA6F-840646AEEF34}" srcOrd="9" destOrd="0" parTransId="{FD548A68-41DB-4903-B83C-A2F25C0A37CB}" sibTransId="{219FD7F1-B0A0-48EF-8917-E2E34AF989C7}"/>
    <dgm:cxn modelId="{B926F4EE-62BC-420F-8ACF-2D04ED16CC98}" srcId="{98454C44-5C00-40E9-A429-0A4EEBFFAB40}" destId="{DFA87FC9-AFF0-4077-B4F8-65C75083BC59}" srcOrd="6" destOrd="0" parTransId="{0E538DD2-759A-45C4-B3C5-70F46CCD3E92}" sibTransId="{B8C88865-3CA2-460C-90D9-681A43EA40F3}"/>
    <dgm:cxn modelId="{BADB8DF1-4D92-4E17-852E-8DDFABD292C2}" srcId="{98454C44-5C00-40E9-A429-0A4EEBFFAB40}" destId="{8BECD174-B93D-4C14-A661-9C1D0AF9F315}" srcOrd="7" destOrd="0" parTransId="{079D46A9-6279-45C8-A20E-F4810078CA04}" sibTransId="{6635132C-116A-4D63-A861-C7F959AFB850}"/>
    <dgm:cxn modelId="{FCD7CF53-B879-4789-AF03-5196FDBCAF3B}" type="presParOf" srcId="{6214D5F1-2E6F-4D04-ACC3-B05B94825E28}" destId="{4F6CC5DB-07DF-412E-83C1-9F63F76224C0}" srcOrd="0" destOrd="0" presId="urn:microsoft.com/office/officeart/2008/layout/VerticalCurvedList"/>
    <dgm:cxn modelId="{86A7A71B-CBFB-4555-97B5-CE57C5EEDF05}" type="presParOf" srcId="{4F6CC5DB-07DF-412E-83C1-9F63F76224C0}" destId="{FD2507B1-B8D2-49FC-957C-27C86EF6A4FB}" srcOrd="0" destOrd="0" presId="urn:microsoft.com/office/officeart/2008/layout/VerticalCurvedList"/>
    <dgm:cxn modelId="{E03FF3CA-355D-4BB7-9977-80D880B2E4B5}" type="presParOf" srcId="{FD2507B1-B8D2-49FC-957C-27C86EF6A4FB}" destId="{3462B3DF-A980-4278-8B3E-46083001EEB6}" srcOrd="0" destOrd="0" presId="urn:microsoft.com/office/officeart/2008/layout/VerticalCurvedList"/>
    <dgm:cxn modelId="{8DEFEBD6-722B-491D-9AB8-C5BFCA811998}" type="presParOf" srcId="{FD2507B1-B8D2-49FC-957C-27C86EF6A4FB}" destId="{7FC1BC27-B784-4E6C-81E4-508E1AC9F2B2}" srcOrd="1" destOrd="0" presId="urn:microsoft.com/office/officeart/2008/layout/VerticalCurvedList"/>
    <dgm:cxn modelId="{9312C492-A61C-458C-8A2E-898E80CCEDEB}" type="presParOf" srcId="{FD2507B1-B8D2-49FC-957C-27C86EF6A4FB}" destId="{1D85918E-B22B-4F20-9F61-6AF6FB7B1946}" srcOrd="2" destOrd="0" presId="urn:microsoft.com/office/officeart/2008/layout/VerticalCurvedList"/>
    <dgm:cxn modelId="{C481F763-00CD-4ACD-806A-07A8AAE8FA1C}" type="presParOf" srcId="{FD2507B1-B8D2-49FC-957C-27C86EF6A4FB}" destId="{16326EC7-6091-4CE2-AB2E-E66E425F6EE4}" srcOrd="3" destOrd="0" presId="urn:microsoft.com/office/officeart/2008/layout/VerticalCurvedList"/>
    <dgm:cxn modelId="{6B9CF1DE-3C03-41C5-B408-DEA28D797DB0}" type="presParOf" srcId="{4F6CC5DB-07DF-412E-83C1-9F63F76224C0}" destId="{C8FF8760-67AB-499D-8A28-3F3490C48628}" srcOrd="1" destOrd="0" presId="urn:microsoft.com/office/officeart/2008/layout/VerticalCurvedList"/>
    <dgm:cxn modelId="{C1B74DEB-3466-449A-8B67-DFD3A2F68533}" type="presParOf" srcId="{4F6CC5DB-07DF-412E-83C1-9F63F76224C0}" destId="{8ED5742B-71B9-468B-B708-36E0C8706CF9}" srcOrd="2" destOrd="0" presId="urn:microsoft.com/office/officeart/2008/layout/VerticalCurvedList"/>
    <dgm:cxn modelId="{5D21B79C-C517-460D-85E0-C73F0FF7EA97}" type="presParOf" srcId="{8ED5742B-71B9-468B-B708-36E0C8706CF9}" destId="{1E7B307D-21CD-480A-ABD8-25CCA863EEF2}" srcOrd="0" destOrd="0" presId="urn:microsoft.com/office/officeart/2008/layout/VerticalCurvedList"/>
    <dgm:cxn modelId="{6FACB34D-8FFE-47D6-A4B7-460C6F121ACF}" type="presParOf" srcId="{4F6CC5DB-07DF-412E-83C1-9F63F76224C0}" destId="{581F4D70-3BAF-4F4C-9B36-BC50DC437340}" srcOrd="3" destOrd="0" presId="urn:microsoft.com/office/officeart/2008/layout/VerticalCurvedList"/>
    <dgm:cxn modelId="{7DB54734-4E93-4463-91F9-E32282B9C358}" type="presParOf" srcId="{4F6CC5DB-07DF-412E-83C1-9F63F76224C0}" destId="{0F92ADA4-D831-4F94-ACCB-54CFAD866E41}" srcOrd="4" destOrd="0" presId="urn:microsoft.com/office/officeart/2008/layout/VerticalCurvedList"/>
    <dgm:cxn modelId="{6FAD41C8-0FC4-46E4-9FE0-51373C09D835}" type="presParOf" srcId="{0F92ADA4-D831-4F94-ACCB-54CFAD866E41}" destId="{063D643C-78F4-4AA2-A7B8-8E7EE32B60E1}" srcOrd="0" destOrd="0" presId="urn:microsoft.com/office/officeart/2008/layout/VerticalCurvedList"/>
    <dgm:cxn modelId="{53808B40-A108-4327-858D-3E3E9D394989}" type="presParOf" srcId="{4F6CC5DB-07DF-412E-83C1-9F63F76224C0}" destId="{2653DCA0-27E0-40D1-8881-F3D7E253CF4A}" srcOrd="5" destOrd="0" presId="urn:microsoft.com/office/officeart/2008/layout/VerticalCurvedList"/>
    <dgm:cxn modelId="{A567C6CE-419E-4646-863E-5ABF5145C851}" type="presParOf" srcId="{4F6CC5DB-07DF-412E-83C1-9F63F76224C0}" destId="{CFE56AAC-0B64-4E0D-9EA5-E27CA75E7A4D}" srcOrd="6" destOrd="0" presId="urn:microsoft.com/office/officeart/2008/layout/VerticalCurvedList"/>
    <dgm:cxn modelId="{4506967D-713F-4DB1-9917-4E062FAED946}" type="presParOf" srcId="{CFE56AAC-0B64-4E0D-9EA5-E27CA75E7A4D}" destId="{67572972-4C69-4CA8-BD39-0387821F8460}" srcOrd="0" destOrd="0" presId="urn:microsoft.com/office/officeart/2008/layout/VerticalCurvedList"/>
    <dgm:cxn modelId="{3303C928-A3D3-4FCD-94B6-42BA8EDF8BC3}" type="presParOf" srcId="{4F6CC5DB-07DF-412E-83C1-9F63F76224C0}" destId="{3EA6371C-D086-478E-B50F-BC8BC7A2AA39}" srcOrd="7" destOrd="0" presId="urn:microsoft.com/office/officeart/2008/layout/VerticalCurvedList"/>
    <dgm:cxn modelId="{078906A6-DB0E-4B07-97EF-01A54D9C7733}" type="presParOf" srcId="{4F6CC5DB-07DF-412E-83C1-9F63F76224C0}" destId="{3F41E6AB-96BD-47D5-9437-03C5E9893247}" srcOrd="8" destOrd="0" presId="urn:microsoft.com/office/officeart/2008/layout/VerticalCurvedList"/>
    <dgm:cxn modelId="{08EA1AE2-BDD3-43B3-9D89-6F72132D0CC0}" type="presParOf" srcId="{3F41E6AB-96BD-47D5-9437-03C5E9893247}" destId="{20121328-D845-4090-AF8E-BBFB8D15CFE2}" srcOrd="0" destOrd="0" presId="urn:microsoft.com/office/officeart/2008/layout/VerticalCurvedList"/>
    <dgm:cxn modelId="{33B3B48B-FCDD-4936-9599-FB69A7965AB6}" type="presParOf" srcId="{4F6CC5DB-07DF-412E-83C1-9F63F76224C0}" destId="{7D35F949-112C-4489-AF91-6BB5B6D8C02E}" srcOrd="9" destOrd="0" presId="urn:microsoft.com/office/officeart/2008/layout/VerticalCurvedList"/>
    <dgm:cxn modelId="{3FF8D628-711F-4A29-B98D-72FF020F1795}" type="presParOf" srcId="{4F6CC5DB-07DF-412E-83C1-9F63F76224C0}" destId="{615DCB86-7C2B-4B52-B231-FED3D39CD636}" srcOrd="10" destOrd="0" presId="urn:microsoft.com/office/officeart/2008/layout/VerticalCurvedList"/>
    <dgm:cxn modelId="{20169F31-74D6-4791-999A-7D1D22A3770A}" type="presParOf" srcId="{615DCB86-7C2B-4B52-B231-FED3D39CD636}" destId="{E267D244-0026-41A7-AE58-97DDEA55EE95}" srcOrd="0" destOrd="0" presId="urn:microsoft.com/office/officeart/2008/layout/VerticalCurvedList"/>
    <dgm:cxn modelId="{802E3314-10C0-4C28-82FB-90C14AF32332}" type="presParOf" srcId="{4F6CC5DB-07DF-412E-83C1-9F63F76224C0}" destId="{ED90AAC0-C528-4169-A75E-D148A308C2BA}" srcOrd="11" destOrd="0" presId="urn:microsoft.com/office/officeart/2008/layout/VerticalCurvedList"/>
    <dgm:cxn modelId="{B33BF84D-9D87-45E6-9111-35ED1236A83B}" type="presParOf" srcId="{4F6CC5DB-07DF-412E-83C1-9F63F76224C0}" destId="{F847E405-4F75-4356-8750-DF03206AAF7D}" srcOrd="12" destOrd="0" presId="urn:microsoft.com/office/officeart/2008/layout/VerticalCurvedList"/>
    <dgm:cxn modelId="{1F436A63-F6B8-47FC-9661-9FCF3424451C}" type="presParOf" srcId="{F847E405-4F75-4356-8750-DF03206AAF7D}" destId="{08D2A774-9549-4CDF-BD74-EE093DCDB0A7}" srcOrd="0" destOrd="0" presId="urn:microsoft.com/office/officeart/2008/layout/VerticalCurvedList"/>
    <dgm:cxn modelId="{1C5BFDE1-6790-4817-AF3A-00C12F35D09A}" type="presParOf" srcId="{4F6CC5DB-07DF-412E-83C1-9F63F76224C0}" destId="{CDAD4233-BA7C-45B0-A9C4-BF2F4F2C7D95}" srcOrd="13" destOrd="0" presId="urn:microsoft.com/office/officeart/2008/layout/VerticalCurvedList"/>
    <dgm:cxn modelId="{23068198-30D1-436D-AEE7-9C6402C269F3}" type="presParOf" srcId="{4F6CC5DB-07DF-412E-83C1-9F63F76224C0}" destId="{41BBC6A4-D25E-4930-913F-6D6E29FD954B}" srcOrd="14" destOrd="0" presId="urn:microsoft.com/office/officeart/2008/layout/VerticalCurvedList"/>
    <dgm:cxn modelId="{6C225A15-0338-4A79-8BD9-BADE1D8200B2}" type="presParOf" srcId="{41BBC6A4-D25E-4930-913F-6D6E29FD954B}" destId="{0DB9A315-D3DE-467C-9898-2508D0987BA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C1BC27-B784-4E6C-81E4-508E1AC9F2B2}">
      <dsp:nvSpPr>
        <dsp:cNvPr id="0" name=""/>
        <dsp:cNvSpPr/>
      </dsp:nvSpPr>
      <dsp:spPr>
        <a:xfrm>
          <a:off x="-6122738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FF8760-67AB-499D-8A28-3F3490C48628}">
      <dsp:nvSpPr>
        <dsp:cNvPr id="0" name=""/>
        <dsp:cNvSpPr/>
      </dsp:nvSpPr>
      <dsp:spPr>
        <a:xfrm>
          <a:off x="380119" y="246332"/>
          <a:ext cx="7675541" cy="492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88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Domestic fixed income</a:t>
          </a:r>
        </a:p>
      </dsp:txBody>
      <dsp:txXfrm>
        <a:off x="380119" y="246332"/>
        <a:ext cx="7675541" cy="492448"/>
      </dsp:txXfrm>
    </dsp:sp>
    <dsp:sp modelId="{1E7B307D-21CD-480A-ABD8-25CCA863EEF2}">
      <dsp:nvSpPr>
        <dsp:cNvPr id="0" name=""/>
        <dsp:cNvSpPr/>
      </dsp:nvSpPr>
      <dsp:spPr>
        <a:xfrm>
          <a:off x="72339" y="184776"/>
          <a:ext cx="615560" cy="6155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F4D70-3BAF-4F4C-9B36-BC50DC437340}">
      <dsp:nvSpPr>
        <dsp:cNvPr id="0" name=""/>
        <dsp:cNvSpPr/>
      </dsp:nvSpPr>
      <dsp:spPr>
        <a:xfrm>
          <a:off x="826075" y="985438"/>
          <a:ext cx="7229585" cy="492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88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Domestic common equity</a:t>
          </a:r>
        </a:p>
      </dsp:txBody>
      <dsp:txXfrm>
        <a:off x="826075" y="985438"/>
        <a:ext cx="7229585" cy="492448"/>
      </dsp:txXfrm>
    </dsp:sp>
    <dsp:sp modelId="{063D643C-78F4-4AA2-A7B8-8E7EE32B60E1}">
      <dsp:nvSpPr>
        <dsp:cNvPr id="0" name=""/>
        <dsp:cNvSpPr/>
      </dsp:nvSpPr>
      <dsp:spPr>
        <a:xfrm>
          <a:off x="518295" y="923882"/>
          <a:ext cx="615560" cy="6155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53DCA0-27E0-40D1-8881-F3D7E253CF4A}">
      <dsp:nvSpPr>
        <dsp:cNvPr id="0" name=""/>
        <dsp:cNvSpPr/>
      </dsp:nvSpPr>
      <dsp:spPr>
        <a:xfrm>
          <a:off x="1070457" y="1724003"/>
          <a:ext cx="6985203" cy="492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88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International common equity</a:t>
          </a:r>
        </a:p>
      </dsp:txBody>
      <dsp:txXfrm>
        <a:off x="1070457" y="1724003"/>
        <a:ext cx="6985203" cy="492448"/>
      </dsp:txXfrm>
    </dsp:sp>
    <dsp:sp modelId="{67572972-4C69-4CA8-BD39-0387821F8460}">
      <dsp:nvSpPr>
        <dsp:cNvPr id="0" name=""/>
        <dsp:cNvSpPr/>
      </dsp:nvSpPr>
      <dsp:spPr>
        <a:xfrm>
          <a:off x="762677" y="1662447"/>
          <a:ext cx="615560" cy="6155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A6371C-D086-478E-B50F-BC8BC7A2AA39}">
      <dsp:nvSpPr>
        <dsp:cNvPr id="0" name=""/>
        <dsp:cNvSpPr/>
      </dsp:nvSpPr>
      <dsp:spPr>
        <a:xfrm>
          <a:off x="1148486" y="2463109"/>
          <a:ext cx="6907174" cy="492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88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International fixed income</a:t>
          </a:r>
        </a:p>
      </dsp:txBody>
      <dsp:txXfrm>
        <a:off x="1148486" y="2463109"/>
        <a:ext cx="6907174" cy="492448"/>
      </dsp:txXfrm>
    </dsp:sp>
    <dsp:sp modelId="{20121328-D845-4090-AF8E-BBFB8D15CFE2}">
      <dsp:nvSpPr>
        <dsp:cNvPr id="0" name=""/>
        <dsp:cNvSpPr/>
      </dsp:nvSpPr>
      <dsp:spPr>
        <a:xfrm>
          <a:off x="840706" y="2401553"/>
          <a:ext cx="615560" cy="6155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35F949-112C-4489-AF91-6BB5B6D8C02E}">
      <dsp:nvSpPr>
        <dsp:cNvPr id="0" name=""/>
        <dsp:cNvSpPr/>
      </dsp:nvSpPr>
      <dsp:spPr>
        <a:xfrm>
          <a:off x="1070457" y="3202215"/>
          <a:ext cx="6985203" cy="492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88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Real estate, private equity, </a:t>
          </a:r>
        </a:p>
      </dsp:txBody>
      <dsp:txXfrm>
        <a:off x="1070457" y="3202215"/>
        <a:ext cx="6985203" cy="492448"/>
      </dsp:txXfrm>
    </dsp:sp>
    <dsp:sp modelId="{E267D244-0026-41A7-AE58-97DDEA55EE95}">
      <dsp:nvSpPr>
        <dsp:cNvPr id="0" name=""/>
        <dsp:cNvSpPr/>
      </dsp:nvSpPr>
      <dsp:spPr>
        <a:xfrm>
          <a:off x="762677" y="3140659"/>
          <a:ext cx="615560" cy="6155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90AAC0-C528-4169-A75E-D148A308C2BA}">
      <dsp:nvSpPr>
        <dsp:cNvPr id="0" name=""/>
        <dsp:cNvSpPr/>
      </dsp:nvSpPr>
      <dsp:spPr>
        <a:xfrm>
          <a:off x="826075" y="3940779"/>
          <a:ext cx="7229585" cy="492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88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Natural resources, commodities</a:t>
          </a:r>
        </a:p>
      </dsp:txBody>
      <dsp:txXfrm>
        <a:off x="826075" y="3940779"/>
        <a:ext cx="7229585" cy="492448"/>
      </dsp:txXfrm>
    </dsp:sp>
    <dsp:sp modelId="{08D2A774-9549-4CDF-BD74-EE093DCDB0A7}">
      <dsp:nvSpPr>
        <dsp:cNvPr id="0" name=""/>
        <dsp:cNvSpPr/>
      </dsp:nvSpPr>
      <dsp:spPr>
        <a:xfrm>
          <a:off x="518295" y="3879223"/>
          <a:ext cx="615560" cy="6155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AD4233-BA7C-45B0-A9C4-BF2F4F2C7D95}">
      <dsp:nvSpPr>
        <dsp:cNvPr id="0" name=""/>
        <dsp:cNvSpPr/>
      </dsp:nvSpPr>
      <dsp:spPr>
        <a:xfrm>
          <a:off x="380119" y="4679885"/>
          <a:ext cx="7675541" cy="4924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0881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Cash and cash equivalents</a:t>
          </a:r>
        </a:p>
      </dsp:txBody>
      <dsp:txXfrm>
        <a:off x="380119" y="4679885"/>
        <a:ext cx="7675541" cy="492448"/>
      </dsp:txXfrm>
    </dsp:sp>
    <dsp:sp modelId="{0DB9A315-D3DE-467C-9898-2508D0987BAB}">
      <dsp:nvSpPr>
        <dsp:cNvPr id="0" name=""/>
        <dsp:cNvSpPr/>
      </dsp:nvSpPr>
      <dsp:spPr>
        <a:xfrm>
          <a:off x="72339" y="4618329"/>
          <a:ext cx="615560" cy="6155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88F8-E674-4C79-A83B-1E36E5A6090C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D0FE-5DA0-43D8-8E83-85D5FAE58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67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88F8-E674-4C79-A83B-1E36E5A6090C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D0FE-5DA0-43D8-8E83-85D5FAE58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115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88F8-E674-4C79-A83B-1E36E5A6090C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D0FE-5DA0-43D8-8E83-85D5FAE58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83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88F8-E674-4C79-A83B-1E36E5A6090C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D0FE-5DA0-43D8-8E83-85D5FAE58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17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88F8-E674-4C79-A83B-1E36E5A6090C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D0FE-5DA0-43D8-8E83-85D5FAE58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93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88F8-E674-4C79-A83B-1E36E5A6090C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D0FE-5DA0-43D8-8E83-85D5FAE58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9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88F8-E674-4C79-A83B-1E36E5A6090C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D0FE-5DA0-43D8-8E83-85D5FAE58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705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88F8-E674-4C79-A83B-1E36E5A6090C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D0FE-5DA0-43D8-8E83-85D5FAE58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33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88F8-E674-4C79-A83B-1E36E5A6090C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D0FE-5DA0-43D8-8E83-85D5FAE58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18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88F8-E674-4C79-A83B-1E36E5A6090C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D0FE-5DA0-43D8-8E83-85D5FAE58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20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88F8-E674-4C79-A83B-1E36E5A6090C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D0FE-5DA0-43D8-8E83-85D5FAE58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70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088F8-E674-4C79-A83B-1E36E5A6090C}" type="datetimeFigureOut">
              <a:rPr lang="en-US" smtClean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4D0FE-5DA0-43D8-8E83-85D5FAE58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40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duonglq@neu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562190"/>
            <a:ext cx="10116064" cy="238760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2 ASSET ALLOCATION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Duong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duonglq@neu.edu.vn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0966973642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284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-181722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PORTFOLIO MANAGEMENT PROCESS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882DAB-23F6-7833-49B0-05882CDAA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582" y="834649"/>
            <a:ext cx="5982835" cy="602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27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D33B1-C7B6-8ACD-C262-835E2A19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CFA4-1F4A-55A2-37D3-9F480FC8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2354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PORTFOLIO MANAGEMENT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347A4-045A-DFA1-849A-1F23D09EC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108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policy statement specifies the types of risks the investor is willing to take and his or her investment goals and constraints. </a:t>
            </a:r>
          </a:p>
          <a:p>
            <a:pPr algn="just"/>
            <a:r>
              <a:rPr lang="en-US" dirty="0"/>
              <a:t>All investment decisions should be consistent with the policy statement to ensure that these decisions are appropriate for the investor.</a:t>
            </a:r>
          </a:p>
          <a:p>
            <a:pPr algn="just"/>
            <a:r>
              <a:rPr lang="en-US" dirty="0"/>
              <a:t>Because investor needs, goals, and constraints change over time, the policy statement must be periodically reviewed and updated</a:t>
            </a:r>
          </a:p>
        </p:txBody>
      </p:sp>
    </p:spTree>
    <p:extLst>
      <p:ext uri="{BB962C8B-B14F-4D97-AF65-F5344CB8AC3E}">
        <p14:creationId xmlns:p14="http://schemas.microsoft.com/office/powerpoint/2010/main" val="1566112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5B32-89E2-8DC9-70F1-3DB25BD24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88747-60E6-9F0A-0454-07A1740BC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2354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THE NEED FOR A POLICY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F23AE-B324-983B-D785-C2AE02B78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108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Understanding and Articulating Realistic Investor Goals. </a:t>
            </a:r>
          </a:p>
          <a:p>
            <a:pPr algn="just"/>
            <a:r>
              <a:rPr lang="en-US" dirty="0"/>
              <a:t>Standards for Evaluating Portfolio Performance.</a:t>
            </a:r>
          </a:p>
          <a:p>
            <a:pPr algn="just"/>
            <a:r>
              <a:rPr lang="en-US" dirty="0"/>
              <a:t>Protects the client against a portfolio manager’s inappropriate investments or unethical behavior</a:t>
            </a:r>
          </a:p>
        </p:txBody>
      </p:sp>
    </p:spTree>
    <p:extLst>
      <p:ext uri="{BB962C8B-B14F-4D97-AF65-F5344CB8AC3E}">
        <p14:creationId xmlns:p14="http://schemas.microsoft.com/office/powerpoint/2010/main" val="3155646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ASSET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Asset allocation is the process of deciding how to distribute an investor’s wealth among different countries and asset classes for investment purposes. The asset allocation decision involves the following points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What asset classes should be considered for investment?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What policy weights should be assigned to each eligible asset class?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What are the allowable allocation ranges based on policy weights?</a:t>
            </a:r>
          </a:p>
        </p:txBody>
      </p:sp>
    </p:spTree>
    <p:extLst>
      <p:ext uri="{BB962C8B-B14F-4D97-AF65-F5344CB8AC3E}">
        <p14:creationId xmlns:p14="http://schemas.microsoft.com/office/powerpoint/2010/main" val="58325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ASSET ALLOCATION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859" y="1837038"/>
            <a:ext cx="9112282" cy="328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483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72472-F194-8620-57D4-D5CA6EC3F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109C6-9240-141B-C420-353701CA6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7AF64-8DD9-9D55-774C-B9CF53BE0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24"/>
            <a:ext cx="10515600" cy="46694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/>
              <a:t>An asset class is comprised of securities that have similar characteristics, attributes, and risk/return relationships. A broad asset class, such as “bonds,” can be divided into smaller asset classes, such as treasury bonds, corporate bonds, and high-yield bonds</a:t>
            </a:r>
            <a:r>
              <a:rPr lang="en-US" sz="3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02748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524"/>
            <a:ext cx="10515600" cy="4669439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Assets within an asset class should be relatively homogeneous</a:t>
            </a:r>
            <a:r>
              <a:rPr lang="en-US" dirty="0"/>
              <a:t>. Assets within an asset class should have similar attributes</a:t>
            </a:r>
          </a:p>
          <a:p>
            <a:pPr algn="just"/>
            <a:r>
              <a:rPr lang="en-US" b="1" dirty="0"/>
              <a:t>Asset classes should be mutually exclusive</a:t>
            </a:r>
            <a:r>
              <a:rPr lang="en-US" dirty="0"/>
              <a:t>. Overlapping asset classes will reduce the effectiveness of strategic asset allocation in controlling risk and also introduce problems in developing asset-class return expectations.</a:t>
            </a:r>
          </a:p>
          <a:p>
            <a:pPr algn="just"/>
            <a:r>
              <a:rPr lang="en-US" b="1" dirty="0"/>
              <a:t>Asset classes should be diversifying</a:t>
            </a:r>
            <a:r>
              <a:rPr lang="en-US" dirty="0"/>
              <a:t>. For risk-control purposes, an included asset class should not have extremely high expected correlations with other asset classes or with a linear combination of the other asset classes. A pairwise correlation above 0.95 is undesirable</a:t>
            </a:r>
          </a:p>
        </p:txBody>
      </p:sp>
    </p:spTree>
    <p:extLst>
      <p:ext uri="{BB962C8B-B14F-4D97-AF65-F5344CB8AC3E}">
        <p14:creationId xmlns:p14="http://schemas.microsoft.com/office/powerpoint/2010/main" val="3343704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524"/>
            <a:ext cx="10515600" cy="4669439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The asset classes as a group should make up a preponderance of world investable wealth. </a:t>
            </a:r>
            <a:r>
              <a:rPr lang="en-US" dirty="0"/>
              <a:t>Including more markets expands the opportunities for applying active investment strategies, reducing market risks.</a:t>
            </a:r>
          </a:p>
          <a:p>
            <a:pPr algn="just"/>
            <a:r>
              <a:rPr lang="en-US" b="1" dirty="0"/>
              <a:t>The asset class should have the capacity to absorb a significant fraction of the investor’s portfolio without seriously affecting the portfolio’s liquidity</a:t>
            </a:r>
            <a:r>
              <a:rPr lang="en-US" dirty="0"/>
              <a:t>. Practically, most investors will want to be able to reset or rebalance to a strategic asset allocation without moving asset-class prices or incurring high transaction costs</a:t>
            </a:r>
          </a:p>
        </p:txBody>
      </p:sp>
    </p:spTree>
    <p:extLst>
      <p:ext uri="{BB962C8B-B14F-4D97-AF65-F5344CB8AC3E}">
        <p14:creationId xmlns:p14="http://schemas.microsoft.com/office/powerpoint/2010/main" val="2331711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865" y="11377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ASSET CLASSES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024336522"/>
              </p:ext>
            </p:extLst>
          </p:nvPr>
        </p:nvGraphicFramePr>
        <p:xfrm>
          <a:off x="1867243" y="110982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9535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AND RETURN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524"/>
            <a:ext cx="10515600" cy="46694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Return Objectives: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Provide an adequate retirement income (for an individual currently in the workforce).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Maintain a fund’s real purchasing power after distributions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Adequately fund liabilities (for insurance companies, banks,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Exceed the rate of inflation in the long term</a:t>
            </a:r>
          </a:p>
        </p:txBody>
      </p:sp>
    </p:spTree>
    <p:extLst>
      <p:ext uri="{BB962C8B-B14F-4D97-AF65-F5344CB8AC3E}">
        <p14:creationId xmlns:p14="http://schemas.microsoft.com/office/powerpoint/2010/main" val="863555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AND RETURN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524"/>
            <a:ext cx="10515600" cy="507450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Risk Objectives:</a:t>
            </a:r>
          </a:p>
          <a:p>
            <a:pPr marL="0" indent="0" algn="just">
              <a:buNone/>
            </a:pPr>
            <a:r>
              <a:rPr lang="en-US" dirty="0"/>
              <a:t>To apply a quantitative approach to asset allocation, however, we must quantify an investor’s attitude to risk</a:t>
            </a:r>
          </a:p>
          <a:p>
            <a:pPr marL="0" indent="0" algn="just">
              <a:buNone/>
            </a:pPr>
            <a:r>
              <a:rPr lang="en-US" dirty="0"/>
              <a:t>The most precise way to do so is to measure the investor’s numerical risk aversion: R</a:t>
            </a:r>
            <a:r>
              <a:rPr lang="en-US" baseline="-25000" dirty="0"/>
              <a:t>A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Numerical risk aversion can be measured in an interview or questionnaire in which the investor expresses preferences among sets of choices involving risky and certain returns</a:t>
            </a:r>
          </a:p>
          <a:p>
            <a:pPr marL="0" indent="0" algn="just">
              <a:buNone/>
            </a:pPr>
            <a:r>
              <a:rPr lang="en-US" dirty="0"/>
              <a:t>An R</a:t>
            </a:r>
            <a:r>
              <a:rPr lang="en-US" baseline="-25000" dirty="0"/>
              <a:t>A</a:t>
            </a:r>
            <a:r>
              <a:rPr lang="en-US" dirty="0"/>
              <a:t> of 6 to 8 represents a high degree of risk aversion (a low risk tolerance), while an R</a:t>
            </a:r>
            <a:r>
              <a:rPr lang="en-US" baseline="-25000" dirty="0"/>
              <a:t>A</a:t>
            </a:r>
            <a:r>
              <a:rPr lang="en-US" dirty="0"/>
              <a:t> of 1 to 2 represents a relatively low degree of risk aversion (a high risk tolerance)</a:t>
            </a:r>
          </a:p>
        </p:txBody>
      </p:sp>
    </p:spTree>
    <p:extLst>
      <p:ext uri="{BB962C8B-B14F-4D97-AF65-F5344CB8AC3E}">
        <p14:creationId xmlns:p14="http://schemas.microsoft.com/office/powerpoint/2010/main" val="867258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AND RETURN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524"/>
            <a:ext cx="10515600" cy="507450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Risk Objectives: Investor’s expected utility</a:t>
            </a:r>
          </a:p>
          <a:p>
            <a:pPr marL="0" indent="0" algn="ctr">
              <a:buNone/>
            </a:pPr>
            <a:r>
              <a:rPr lang="en-US" dirty="0"/>
              <a:t>U</a:t>
            </a:r>
            <a:r>
              <a:rPr lang="en-US" baseline="-25000" dirty="0"/>
              <a:t>P</a:t>
            </a:r>
            <a:r>
              <a:rPr lang="en-US" dirty="0"/>
              <a:t> = E(R</a:t>
            </a:r>
            <a:r>
              <a:rPr lang="en-US" baseline="-25000" dirty="0"/>
              <a:t>P</a:t>
            </a:r>
            <a:r>
              <a:rPr lang="en-US" dirty="0"/>
              <a:t>) – 0.005 R</a:t>
            </a:r>
            <a:r>
              <a:rPr lang="en-US" baseline="-25000" dirty="0"/>
              <a:t>A</a:t>
            </a:r>
            <a:r>
              <a:rPr lang="el-GR" dirty="0"/>
              <a:t>σ</a:t>
            </a:r>
            <a:r>
              <a:rPr lang="en-US" baseline="30000" dirty="0"/>
              <a:t>2</a:t>
            </a:r>
            <a:r>
              <a:rPr lang="en-US" baseline="-25000" dirty="0"/>
              <a:t>p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Where:</a:t>
            </a:r>
          </a:p>
          <a:p>
            <a:pPr marL="0" indent="0" algn="just">
              <a:buNone/>
            </a:pPr>
            <a:r>
              <a:rPr lang="en-US" dirty="0"/>
              <a:t>U</a:t>
            </a:r>
            <a:r>
              <a:rPr lang="en-US" baseline="-25000" dirty="0"/>
              <a:t>m</a:t>
            </a:r>
            <a:r>
              <a:rPr lang="en-US" dirty="0"/>
              <a:t>: the investor’s expected utility for portfolio P</a:t>
            </a:r>
          </a:p>
          <a:p>
            <a:pPr marL="0" indent="0" algn="just">
              <a:buNone/>
            </a:pPr>
            <a:r>
              <a:rPr lang="en-US" dirty="0">
                <a:solidFill>
                  <a:prstClr val="black"/>
                </a:solidFill>
              </a:rPr>
              <a:t>E(R</a:t>
            </a:r>
            <a:r>
              <a:rPr lang="en-US" baseline="-25000" dirty="0">
                <a:solidFill>
                  <a:prstClr val="black"/>
                </a:solidFill>
              </a:rPr>
              <a:t>P</a:t>
            </a:r>
            <a:r>
              <a:rPr lang="en-US" dirty="0">
                <a:solidFill>
                  <a:prstClr val="black"/>
                </a:solidFill>
              </a:rPr>
              <a:t>): expected return for portfolio P</a:t>
            </a:r>
          </a:p>
          <a:p>
            <a:pPr marL="0" indent="0" algn="just">
              <a:buNone/>
            </a:pPr>
            <a:r>
              <a:rPr lang="en-US" dirty="0"/>
              <a:t>R</a:t>
            </a:r>
            <a:r>
              <a:rPr lang="en-US" baseline="-25000" dirty="0"/>
              <a:t>A</a:t>
            </a:r>
            <a:r>
              <a:rPr lang="en-US" dirty="0"/>
              <a:t>: the investor’s risk aversion</a:t>
            </a:r>
          </a:p>
          <a:p>
            <a:pPr marL="0" indent="0" algn="just">
              <a:buNone/>
            </a:pPr>
            <a:r>
              <a:rPr lang="el-GR" dirty="0">
                <a:solidFill>
                  <a:prstClr val="black"/>
                </a:solidFill>
              </a:rPr>
              <a:t>σ</a:t>
            </a:r>
            <a:r>
              <a:rPr lang="en-US" baseline="30000" dirty="0">
                <a:solidFill>
                  <a:prstClr val="black"/>
                </a:solidFill>
              </a:rPr>
              <a:t>2</a:t>
            </a:r>
            <a:r>
              <a:rPr lang="en-US" baseline="-25000" dirty="0">
                <a:solidFill>
                  <a:prstClr val="black"/>
                </a:solidFill>
              </a:rPr>
              <a:t>p</a:t>
            </a:r>
            <a:r>
              <a:rPr lang="en-US" dirty="0">
                <a:solidFill>
                  <a:prstClr val="black"/>
                </a:solidFill>
              </a:rPr>
              <a:t>: variance of return for portfolio P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661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AND RETURN OBJECTIVES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781" y="1440410"/>
            <a:ext cx="8866438" cy="31944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EADA41-EAD0-F92B-9F7B-D934EDBEDB31}"/>
                  </a:ext>
                </a:extLst>
              </p:cNvPr>
              <p:cNvSpPr txBox="1"/>
              <p:nvPr/>
            </p:nvSpPr>
            <p:spPr>
              <a:xfrm>
                <a:off x="1662781" y="4643854"/>
                <a:ext cx="93053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Robert’s risk aversion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5. Recommend an asset allocation for him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EADA41-EAD0-F92B-9F7B-D934EDBED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781" y="4643854"/>
                <a:ext cx="9305365" cy="461665"/>
              </a:xfrm>
              <a:prstGeom prst="rect">
                <a:avLst/>
              </a:prstGeom>
              <a:blipFill>
                <a:blip r:embed="rId3"/>
                <a:stretch>
                  <a:fillRect l="-104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548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AND RETURN OBJECTIVES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7524"/>
                <a:ext cx="10515600" cy="507450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dirty="0"/>
                  <a:t>Risk Objectives: Shortfall risk: the risk that a portfolio’s value will fall below some minimum acceptable level during a stated time horizon.</a:t>
                </a:r>
              </a:p>
              <a:p>
                <a:pPr marL="0" indent="0" algn="just">
                  <a:buNone/>
                </a:pPr>
                <a:r>
                  <a:rPr lang="en-US" dirty="0"/>
                  <a:t>The safety-first ratio (SF ratio):</a:t>
                </a:r>
              </a:p>
              <a:p>
                <a:pPr marL="0" indent="0" algn="ctr">
                  <a:buNone/>
                </a:pPr>
                <a:r>
                  <a:rPr lang="en-US" dirty="0" err="1"/>
                  <a:t>SFRatio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:pPr marL="0" indent="0" algn="just">
                  <a:buNone/>
                </a:pPr>
                <a:r>
                  <a:rPr lang="en-US" dirty="0"/>
                  <a:t>R</a:t>
                </a:r>
                <a:r>
                  <a:rPr lang="en-US" baseline="-25000" dirty="0"/>
                  <a:t>L</a:t>
                </a:r>
                <a:r>
                  <a:rPr lang="en-US" dirty="0"/>
                  <a:t>: is threshold level that the investor insists on meeting or exceeding</a:t>
                </a:r>
              </a:p>
              <a:p>
                <a:pPr marL="0" indent="0" algn="just">
                  <a:buNone/>
                </a:pPr>
                <a:r>
                  <a:rPr lang="en-US" dirty="0"/>
                  <a:t>If R</a:t>
                </a:r>
                <a:r>
                  <a:rPr lang="en-US" baseline="-25000" dirty="0"/>
                  <a:t>L  </a:t>
                </a:r>
                <a:r>
                  <a:rPr lang="en-US" dirty="0"/>
                  <a:t>equals to the riskless rate, it is the Sharpe ratio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7524"/>
                <a:ext cx="10515600" cy="5074508"/>
              </a:xfrm>
              <a:blipFill>
                <a:blip r:embed="rId2"/>
                <a:stretch>
                  <a:fillRect l="-1217" t="-192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682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AND RETURN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524"/>
            <a:ext cx="10515600" cy="507450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An investment adviser is counseling Peter, a client who recently inherited $1,200,000 and has above-average risk tolerance (R</a:t>
            </a:r>
            <a:r>
              <a:rPr lang="en-US" baseline="-25000" dirty="0"/>
              <a:t>A</a:t>
            </a:r>
            <a:r>
              <a:rPr lang="en-US" dirty="0"/>
              <a:t> = 2). He expects to liquidate $60,000 of the portfolio in 12 months, however, to make the down payment on a house. If that need arises, he states that it is important for him to be able to take out the $60,000 without invading the initial capital of $1,200,000.</a:t>
            </a:r>
          </a:p>
          <a:p>
            <a:pPr marL="0" indent="0" algn="just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874564"/>
              </p:ext>
            </p:extLst>
          </p:nvPr>
        </p:nvGraphicFramePr>
        <p:xfrm>
          <a:off x="1760151" y="4105417"/>
          <a:ext cx="90561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8710">
                  <a:extLst>
                    <a:ext uri="{9D8B030D-6E8A-4147-A177-3AD203B41FA5}">
                      <a16:colId xmlns:a16="http://schemas.microsoft.com/office/drawing/2014/main" val="4258611344"/>
                    </a:ext>
                  </a:extLst>
                </a:gridCol>
                <a:gridCol w="3018710">
                  <a:extLst>
                    <a:ext uri="{9D8B030D-6E8A-4147-A177-3AD203B41FA5}">
                      <a16:colId xmlns:a16="http://schemas.microsoft.com/office/drawing/2014/main" val="3255685068"/>
                    </a:ext>
                  </a:extLst>
                </a:gridCol>
                <a:gridCol w="3018710">
                  <a:extLst>
                    <a:ext uri="{9D8B030D-6E8A-4147-A177-3AD203B41FA5}">
                      <a16:colId xmlns:a16="http://schemas.microsoft.com/office/drawing/2014/main" val="1735325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</a:t>
                      </a:r>
                      <a:r>
                        <a:rPr lang="en-US" baseline="0" dirty="0"/>
                        <a:t> return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 Deviation of Return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07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62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521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011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6904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AND RETURN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524"/>
            <a:ext cx="10515600" cy="5074508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US" dirty="0"/>
              <a:t>Based on the investor’s expected utility, which portfolio should he prefer?</a:t>
            </a:r>
          </a:p>
          <a:p>
            <a:pPr marL="514350" indent="-514350" algn="just">
              <a:buAutoNum type="arabicPeriod"/>
            </a:pPr>
            <a:r>
              <a:rPr lang="en-US" dirty="0"/>
              <a:t>According to the safety-first criterion, which of the three portfolio is the best?</a:t>
            </a:r>
          </a:p>
          <a:p>
            <a:pPr marL="514350" indent="-514350" algn="just">
              <a:buAutoNum type="arabicPeriod"/>
            </a:pPr>
            <a:r>
              <a:rPr lang="en-US" dirty="0"/>
              <a:t>Recommend a strategic asset allocation for Peter.</a:t>
            </a:r>
          </a:p>
        </p:txBody>
      </p:sp>
    </p:spTree>
    <p:extLst>
      <p:ext uri="{BB962C8B-B14F-4D97-AF65-F5344CB8AC3E}">
        <p14:creationId xmlns:p14="http://schemas.microsoft.com/office/powerpoint/2010/main" val="407547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895</Words>
  <Application>Microsoft Office PowerPoint</Application>
  <PresentationFormat>Widescreen</PresentationFormat>
  <Paragraphs>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CHAPTER 2 ASSET ALLOCATION</vt:lpstr>
      <vt:lpstr>PORTFOLIO MANAGEMENT PROCESS</vt:lpstr>
      <vt:lpstr>PORTFOLIO MANAGEMENT PROCESS</vt:lpstr>
      <vt:lpstr>THE NEED FOR A POLICY STATEMENT</vt:lpstr>
      <vt:lpstr>ASSET ALLOCATION</vt:lpstr>
      <vt:lpstr>ASSET ALLOCATION</vt:lpstr>
      <vt:lpstr>ASSET CLASSES</vt:lpstr>
      <vt:lpstr>ASSET CLASSES</vt:lpstr>
      <vt:lpstr>ASSET CLASSES</vt:lpstr>
      <vt:lpstr>ASSET CLASSES</vt:lpstr>
      <vt:lpstr>RISK AND RETURN OBJECTIVES</vt:lpstr>
      <vt:lpstr>RISK AND RETURN OBJECTIVES</vt:lpstr>
      <vt:lpstr>RISK AND RETURN OBJECTIVES</vt:lpstr>
      <vt:lpstr>RISK AND RETURN OBJECTIVES</vt:lpstr>
      <vt:lpstr>RISK AND RETURN OBJECTIVES</vt:lpstr>
      <vt:lpstr>RISK AND RETURN OBJECTIVES</vt:lpstr>
      <vt:lpstr>RISK AND RETURN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HLC_2021</dc:creator>
  <cp:lastModifiedBy>Le Quy. Duong</cp:lastModifiedBy>
  <cp:revision>71</cp:revision>
  <dcterms:created xsi:type="dcterms:W3CDTF">2024-08-05T08:48:59Z</dcterms:created>
  <dcterms:modified xsi:type="dcterms:W3CDTF">2026-07-31T07:43:17Z</dcterms:modified>
</cp:coreProperties>
</file>