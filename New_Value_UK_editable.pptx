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CAN CASH-BASED OPERATING PROFITABILITY REVIVE THE VALUE SIGNAL?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62220"/>
                </a:solidFill>
                <a:latin typeface="Georgia"/>
              </a:defRPr>
            </a:pPr>
            <a:r>
              <a:t>A New Value Strategy in the UK Stock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62220"/>
                </a:solidFill>
                <a:latin typeface="Arial"/>
              </a:defRPr>
            </a:pPr>
            <a:r>
              <a:t>Le Quy Duong  ·  Journal of Economic Studies</a:t>
            </a:r>
          </a:p>
          <a:p>
            <a:pPr>
              <a:spcAft>
                <a:spcPts val="900"/>
              </a:spcAft>
              <a:defRPr sz="2100" b="0">
                <a:solidFill>
                  <a:srgbClr val="262220"/>
                </a:solidFill>
                <a:latin typeface="Arial"/>
              </a:defRPr>
            </a:pPr>
            <a:r>
              <a:t>Portfolio Management  |  Presenter 1 · Presenter 2 · Presenter 3</a:t>
            </a:r>
          </a:p>
          <a:p>
            <a:pPr>
              <a:spcAft>
                <a:spcPts val="900"/>
              </a:spcAft>
              <a:defRPr sz="2100" b="0">
                <a:solidFill>
                  <a:srgbClr val="262220"/>
                </a:solidFill>
                <a:latin typeface="Arial"/>
              </a:defRPr>
            </a:pPr>
            <a:r>
              <a:t>Presentation date: [Insert date]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Paper: Duong (2025), DOI 10.1108/JES-03-2025-0190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THE ANSWER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paper argues that value survived, but book-to-market weakened as a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01  UK B/M value weakened after 2006: +0.18% per month (2006–2024).</a:t>
            </a:r>
          </a:p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02  CBOP/M delivers +1.175% per month, high minus low, with t = 3.615.</a:t>
            </a:r>
          </a:p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03  NVF adds pricing information beyond HML; implementation after costs remains untested.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Abstract; Tables 3, 6, 9–12; PDF pp. 1, 8, 12, 15–18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Average B/M returns hide a post-2006 collapse and an unstable short leg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EXH-01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B/M long–short: +0.79% monthly over 2000–2024, but the 2000–05 average is +3.08%, 2006–10 is −0.54%, and 2006–24 is only +0.18%. The low-B/M short leg supplies most full-period gains.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 3, Figure 1, Section 4.1; PDF pp. 8,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CONTRIBUTION &amp;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UK study tests whether Wang’s cash-based value signal travels across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DGM-01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Fama–French (1993): HML as a benchmark value factor.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Ball et al. (2016): cash-based operating profitability adjusts operating profit for accruals.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Wang (2024): CBOP/price value strategy in US stocks.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Duong (2025): UK application, new factor tests, size robustness, and GRS model comparison. The core construct is inherited, not invented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Fama &amp; French (1993), doi:10.1016/0304-405X(93)90023-5; Ball et al. (2016), doi:10.1016/j.jfineco.2016.03.002; Wang (2024), doi:10.1093/rapstu/raad014; Duong (2025), Sections 2, 4–5; PDF pp. 3–18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CBOP/M links cash-based operating profitability to the price investors 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DGM-02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Start with operating profit. Adjust for working-capital accrual changes to estimate cash-based operating profitability. Divide by market capitalization to compare the operating signal with market price.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CBOP = OP + ΔDeferred revenue + ΔAccrued expenses + ΔAccounts payable − ΔPrepaid expense − ΔInventory − ΔAccounts receivable.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CBOP/M = CBOP ÷ market capitalization. This is an accrual-adjusted profit measure, not pure cash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 3.2; Ball et al. (2016), doi:10.1016/j.jfineco.2016.03.002; PDF p.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SAMPLE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A broad UK universe includes delisted firms, while the return test begins in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Accounting universe: June 1995–June 2024. Returns: July 2000–June 2024 (288 months). LSPD returns and Datastream accounting data. About 1,700 non-financial LSE firms; foreign and financial firms, missing required accounting data, and negative book equity excluded. Delisted firms included where available. Data are proprietary/restricted; no replication claimed.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 3.1; PDF p.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PORTFOLIO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Annual accounting signals become twelve-month value-weighted portfolios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DGM-03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At each July formation: identify eligible firms → use previous fiscal-year-end B/M or CBOP/M and market capitalization → rank into deciles → hold value-weighted portfolios for the next 12 months → calculate monthly returns → compare high versus low. Paper reports 288 monthly return observations. Exact accounting publication-lag protocol is not separately specified in the sample description; discuss as a replication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Sections 3.1–3.2; PDF pp. 4–5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TEST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Four evidence layers test returns, incremental pricing,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DGM-04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SORT RETURNS: Is the cross-sectional return pattern ordered?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TIME-SERIES ALPHAS: Do benchmark factors absorb the high-minus-low return?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SPANNING + FAMA–MACBETH: Does NVF add information and carry a cross-sectional premium?</a:t>
            </a:r>
          </a:p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GRS + SIZE SORTS: Does replacing HML improve joint pricing of 25 test portfolios, and does the pattern survive size partitions? A higher GRS p-value means less evidence against the tested model on these assets; it is not proof of economic superiority.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Sections 3.3–5; Gibbons, Ross &amp; Shanken (1989), doi:10.2307/1913625; PDF pp. 5–18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B/M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Traditional value is positive on average, yet structurally fragile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EXH-02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2000–2024: +0.790% monthly high-minus-low (t = 2.312). High-B/M leg: +0.150%; low-B/M leg: −0.640% (t = −1.670). Subperiods range from +3.08% (2000–05) to −0.54% (2006–10); 2006–24: +0.18%. The paper reports that most full-period gains come from shorting the low-B/M decile.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 3, Figure 1, Section 4.1; PDF pp. 8,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CENTRAL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62220"/>
                </a:solidFill>
                <a:latin typeface="Georgia"/>
              </a:defRPr>
            </a:pPr>
            <a:r>
              <a:t>CBOP/M produces an ordered return spread across deciles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EXH-03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High CBOP/M: +0.584% monthly. Low CBOP/M: −0.592%. High minus low: +1.175% monthly (t = 3.615). Returns decrease across the sorted deciles; the paper describes the pattern as monotone. Both sides contribute. The paper’s Table 6 values are raw value-weighted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 6; PDF p.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RISK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CBOP/M premium remains positive after standard factor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EXH-04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High-minus-low monthly alpha ranges from +0.917% (CAPM) to +0.532% (Fletcher et al. 2024 five-factor model). The FF 3-, 5-, and 6-factor alphas are +0.867%, +0.716%, and +0.606%. These are model-adjusted intercepts, not a demonstrated net trading return or proof of a risk-free arbitrage.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 7 and note; PDF p.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FACTOR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62220"/>
                </a:solidFill>
                <a:latin typeface="Georgia"/>
              </a:defRPr>
            </a:pPr>
            <a:r>
              <a:t>NVF adds information beyond HML in the paper’s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625E59"/>
                </a:solidFill>
                <a:latin typeface="Arial"/>
              </a:rPr>
              <a:t>EXH-05 / EXH-06</a:t>
            </a:r>
          </a:p>
          <a:p>
            <a:pPr algn="ctr"/>
            <a:r>
              <a:rPr sz="1700" b="1">
                <a:solidFill>
                  <a:srgbClr val="625E59"/>
                </a:solidFill>
                <a:latin typeface="Arial"/>
              </a:rPr>
              <a:t>EDITABLE EXHIBIT PLACEHOLDERS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NVF mean: +0.831% monthly; correlation with HML: 0.461. Spanning alpha: +0.358% (t = 2.344). Fama–MacBeth NVF premium: +0.466% monthly (t = 4.323) in the joint model; HML is +0.113% (t = 1.576), not significant at 5%. Replacing HML with NVF raises the Fletcher-model GRS p-value from 0.232 to 0.620. This is evidence of incremental explanatory power within the paper’s test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Tables 2, 9, 10, 12; PDF pp. 7, 15,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REVIEWER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evidence is strong statistically, but implementation remains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DONE: annual rebalancing; included delisted firms; positive CBOP/M results in all size terciles; alternative factor controls and GRS tests.</a:t>
            </a:r>
          </a:p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OPEN: realized turnover, bid–ask spreads, impact, borrow availability/costs, tax treatment, capacity, and independent post-publication holdout. The authors acknowledge transaction costs and taxes are not tested, while arguing annual rebalancing limits their effect.</a:t>
            </a:r>
          </a:p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NEXT TEST: point-in-time UK holdings with turnover, realistic long/short execution, stamp duty/tax scenarios, and liquidity/capacity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Sections 3–6, especially Table 11 and Conclusion; FCA (2021), Occasional Paper 60; DOI 10.1108/JES-03-2025-0190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paper reframes value as a measurement problem, not a frictionless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Established: CBOP/M and NVF show stronger UK return and factor-test evidence than B/M in this sample.</a:t>
            </a:r>
          </a:p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Uncertain: causal mechanism, net implementable returns, and performance after a genuine future holdout.</a:t>
            </a:r>
          </a:p>
          <a:p>
            <a:pPr>
              <a:spcAft>
                <a:spcPts val="900"/>
              </a:spcAft>
              <a:defRPr sz="1800" b="0">
                <a:solidFill>
                  <a:srgbClr val="262220"/>
                </a:solidFill>
                <a:latin typeface="Arial"/>
              </a:defRPr>
            </a:pPr>
            <a:r>
              <a:t>Next: point-in-time replication with transaction costs, shorting constraints, sector/liquidity controls, and out-of-sample evaluation. Value may persist when fundamentals are measured differently; this paper does not establish a costless trading rule.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Tables 3–12 and Conclusion; interpretation and proposed tests labeled by presenters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A1 · VARIABLE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CBOP is operating profit adjusted for working-capital accrual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CBOP = operating profit + Δ deferred revenue + Δ accrued expenses + Δ accounts payable − Δ prepaid expense − Δ inventory − Δ accounts receivable.</a:t>
            </a:r>
          </a:p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Operating profit = revenue − cost of goods sold − selling, general and administrative expenses.</a:t>
            </a:r>
          </a:p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CBOP/M = CBOP divided by market capitalization. Signals are from previous year-end and used at July formation. CBOP adjusts accrual components; it should not be called “pure cash flow.”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 3.2; PDF p. 5; Ball et al. (2016), DOI 10.1016/j.jfineco.2016.03.002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A2 ·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Portfolio and factor construction uses July rebalancing and value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Stocks sorted annually in July; decile portfolio returns measured monthly for subsequent 12 months. B/M uses previous fiscal-year-end book equity / market capitalization. CBOP/M uses prior-year CBOP / market capitalization. Factors use big/small splits based on median capitalization of largest 350; 30/70 characteristic breakpoints; NVF = ½(BV+SV−BG−SG). Return test July 2000–June 2024, 288 observations. Factor systems include FF 3/5/6, momentum, behavioral FIN, and Fletcher et al. (2024) five-factor benchmark.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Sections 3.1–3.3; PDF pp. 4–6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A3 · EVIDENCE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reported estimates support the argument, within the paper’s stated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Tables 2–3, 6–7, 9–10, 12, Figure 1; exact PDF pp. 7–18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17 / 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556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31720"/>
                <a:gridCol w="3886200"/>
                <a:gridCol w="3108960"/>
              </a:tblGrid>
              <a:tr h="62048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262220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3152" marR="73152" marT="36576" marB="36576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262220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73152" marR="73152" marT="36576" marB="36576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262220"/>
                          </a:solidFill>
                          <a:latin typeface="Arial"/>
                        </a:rPr>
                        <a:t>Interpretation</a:t>
                      </a:r>
                    </a:p>
                  </a:txBody>
                  <a:tcPr marL="73152" marR="73152" marT="36576" marB="36576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262220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solidFill>
                      <a:srgbClr val="EAD7B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B/M high–low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0.790% / mo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t=2.312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Full period; short leg is the larger contributor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Table 3 · PDF p.8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B/M after 2006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0.18% / mo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Weak post-2006 average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Abstract / Conclusion · pp.1,18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CBOP/M high–low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1.175% / mo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t=3.615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Positive raw value-weighted spread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Table 6 · p.12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CBOP/M alpha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0.917% CAPM;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0.532% Fletcher5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Positive under reported models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Table 7 · p.13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NVF spanning / FM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0.358%, t=2.344;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0.466%, t=4.323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Incremental factor evidence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Tables 9–10 · pp.15–16</a:t>
                      </a:r>
                    </a:p>
                  </a:txBody>
                  <a:tcPr marL="73152" marR="73152" marT="36576" marB="36576" anchor="ctr">
                    <a:solidFill>
                      <a:srgbClr val="FFF4E6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GRS Fletcher5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p: 0.232 → 0.620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HML → NVF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Less evidence against NVF variant on 25 test assets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Table 12 · p.18</a:t>
                      </a:r>
                    </a:p>
                  </a:txBody>
                  <a:tcPr marL="73152" marR="73152" marT="36576" marB="36576" anchor="ctr">
                    <a:solidFill>
                      <a:srgbClr val="F5E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A4 · LITERATURE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The closest lineage is a transfer and extension of an existing US construct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691640"/>
            <a:ext cx="6903720" cy="4480560"/>
          </a:xfrm>
          <a:prstGeom prst="rect">
            <a:avLst/>
          </a:prstGeom>
          <a:solidFill>
            <a:srgbClr val="FFF4E6"/>
          </a:solidFill>
          <a:ln w="13970">
            <a:solidFill>
              <a:srgbClr val="B18B3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25E59"/>
                </a:solidFill>
                <a:latin typeface="Arial"/>
              </a:defRPr>
            </a:pPr>
            <a:r>
              <a:t>DGM-01</a:t>
            </a:r>
            <a:br/>
            <a:r>
              <a:t>EDITABLE EXHIBIT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19072"/>
            <a:ext cx="4069080" cy="4343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80" b="0">
                <a:solidFill>
                  <a:srgbClr val="262220"/>
                </a:solidFill>
                <a:latin typeface="Arial"/>
              </a:defRPr>
            </a:pPr>
            <a:r>
              <a:t>Fama &amp; French (1993): HML benchmark. Ball et al. (2016): cash-based operating profitability. Wang (2024): CBOP/price US strategy. Duong (2025): UK sample, strategy performance and factor tests. Extensions: intangible-adjusted value (Eisfeldt &amp; Papanikolaou, 2021 working paper); factor model selection and out-of-sample evidence remain active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Fama &amp; French (1993), doi:10.1016/0304-405X(93)90023-5; Ball et al. (2016), doi:10.1016/j.jfineco.2016.03.002; Wang (2024), doi:10.1093/rapstu/raad014; Eisfeldt &amp; Papanikolaou (2021), NBER WP 28056; Feng et al. (2026), doi:10.1287/mnsc.2024.07804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A5 · COMPLETED VS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Size robustness is completed; trading frictions and independent validation remain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COMPLETED: 30 size × CBOP/M portfolios; adjusted H–L remains positive in Small, Neutral, Big groups (Tables 11); FF and Fletcher factor controls; spanning, Fama–MacBeth, GRS.</a:t>
            </a:r>
          </a:p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NEXT: industry-neutral portfolios; liquidity and capacity screens; borrow availability/costs; realized turnover and tax-aware trading; alternative CBOP definitions and intangible-capital controls; holdout after 2024 and cross-market replication.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Tables 7–12 and Conclusion; PDF pp. 13–18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A6 · IMPLEMENTATION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62220"/>
                </a:solidFill>
                <a:latin typeface="Georgia"/>
              </a:defRPr>
            </a:pPr>
            <a:r>
              <a:t>A net-return test needs turnover and instrument-level trading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Net premium = gross strategy return − turnover × one-way execution cost − shorting cost − taxes/levies. This is a framework, not an estimate. Required data: portfolio-level buys/sells; bid–ask spreads; market impact; borrow availability/fees; applicable tax treatment; long/short turnover and capacity. Duong notes costs/taxes are not addressed, although annual formation is cited as reducing cost exposure. UK execution-cost evidence is market- and venue-dependent; do not transplant old cost rates as current estimates.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Duong (2025), Conclusion, PDF p. 18; FCA (2021), https://www.fca.org.uk/publications/occasional-papers/occasional-paper-no-60-banning-dark-pools-venue-selection-and-investor-trading-costs; Su (2018), doi:10.1007/s11156-018-0749-y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1556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18B3F"/>
                </a:solidFill>
                <a:latin typeface="Arial"/>
              </a:defRPr>
            </a:pPr>
            <a:r>
              <a:t>APPENDIX A7 · Q&amp;A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6072"/>
            <a:ext cx="11155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62220"/>
                </a:solidFill>
                <a:latin typeface="Georgia"/>
              </a:defRPr>
            </a:pPr>
            <a:r>
              <a:t>Open the appendix that matches the lecturer’s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81360" cy="4434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1550" b="0">
                <a:solidFill>
                  <a:srgbClr val="262220"/>
                </a:solidFill>
                <a:latin typeface="Arial"/>
              </a:defRPr>
            </a:pPr>
            <a:r>
              <a:t>Construct / accrual adjustments → A1. Portfolio timing / factor definitions → A2. Exact estimates / table references → A3. Contribution / closest prior work → A4. Robustness and unresolved tests → A5. Trading-cost and implementability question → A6. Start with Speaker 3; hand off construct/method questions to Speaker 2 and contribution questions to Speaker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55080"/>
            <a:ext cx="11228832" cy="10972"/>
          </a:xfrm>
          <a:prstGeom prst="rect">
            <a:avLst/>
          </a:prstGeom>
          <a:solidFill>
            <a:srgbClr val="D9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409944"/>
            <a:ext cx="102412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Prepared from Duong (2025), Tables 1–12, Sections 2–6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9944"/>
            <a:ext cx="8229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25E59"/>
                </a:solidFill>
                <a:latin typeface="Arial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